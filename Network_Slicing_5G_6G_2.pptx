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28C0130-44D4-F83D-EB02-151774951F29}">
          <p14:sldIdLst>
            <p14:sldId id="256"/>
            <p14:sldId id="257"/>
            <p14:sldId id="258"/>
          </p14:sldIdLst>
        </p14:section>
        <p14:section name="Concepts" id="{4A7EDCEA-6873-B7CE-6BD8-F23F526658DC}">
          <p14:sldIdLst>
            <p14:sldId id="259"/>
            <p14:sldId id="260"/>
          </p14:sldIdLst>
        </p14:section>
        <p14:section name="5G &amp; 6G" id="{F96AAF7C-EA94-3CC7-7C9A-152D6879057E}">
          <p14:sldIdLst>
            <p14:sldId id="261"/>
            <p14:sldId id="262"/>
            <p14:sldId id="263"/>
            <p14:sldId id="264"/>
            <p14:sldId id="265"/>
          </p14:sldIdLst>
        </p14:section>
        <p14:section name="Impact" id="{B92BBCF1-6353-BD2A-CA77-0DD090ACC39B}">
          <p14:sldIdLst>
            <p14:sldId id="266"/>
            <p14:sldId id="267"/>
            <p14:sldId id="268"/>
          </p14:sldIdLst>
        </p14:section>
        <p14:section name="Wrap-up" id="{91AE85D0-4A51-8DA1-58DE-E2DA6B6B372E}">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9" d="100"/>
          <a:sy n="69" d="100"/>
        </p:scale>
        <p:origin x="54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radarChart>
        <c:radarStyle val="marker"/>
        <c:varyColors val="0"/>
        <c:ser>
          <c:idx val="0"/>
          <c:order val="0"/>
          <c:tx>
            <c:strRef>
              <c:f>Sheet1!$B$1</c:f>
              <c:strCache>
                <c:ptCount val="1"/>
                <c:pt idx="0">
                  <c:v>eMBB</c:v>
                </c:pt>
              </c:strCache>
            </c:strRef>
          </c:tx>
          <c:spPr>
            <a:ln w="38100" cap="flat">
              <a:solidFill>
                <a:srgbClr val="22D3EE"/>
              </a:solidFill>
              <a:prstDash val="solid"/>
              <a:round/>
            </a:ln>
            <a:effectLst/>
          </c:spPr>
          <c:marker>
            <c:symbol val="circle"/>
            <c:size val="6"/>
            <c:spPr>
              <a:solidFill>
                <a:srgbClr val="22D3EE"/>
              </a:solidFill>
              <a:ln w="9525" cap="flat">
                <a:solidFill>
                  <a:srgbClr val="22D3EE"/>
                </a:solidFill>
                <a:prstDash val="solid"/>
                <a:round/>
              </a:ln>
              <a:effectLst/>
            </c:spPr>
          </c:marker>
          <c:cat>
            <c:strRef>
              <c:f>Sheet1!$A$2:$A$5</c:f>
              <c:strCache>
                <c:ptCount val="4"/>
                <c:pt idx="0">
                  <c:v>Data rate</c:v>
                </c:pt>
                <c:pt idx="1">
                  <c:v>Low latency</c:v>
                </c:pt>
                <c:pt idx="2">
                  <c:v>Reliability</c:v>
                </c:pt>
                <c:pt idx="3">
                  <c:v>Device density</c:v>
                </c:pt>
              </c:strCache>
            </c:strRef>
          </c:cat>
          <c:val>
            <c:numRef>
              <c:f>Sheet1!$B$2:$B$5</c:f>
              <c:numCache>
                <c:formatCode>General</c:formatCode>
                <c:ptCount val="4"/>
                <c:pt idx="0">
                  <c:v>5</c:v>
                </c:pt>
                <c:pt idx="1">
                  <c:v>3</c:v>
                </c:pt>
                <c:pt idx="2">
                  <c:v>3</c:v>
                </c:pt>
                <c:pt idx="3">
                  <c:v>2</c:v>
                </c:pt>
              </c:numCache>
            </c:numRef>
          </c:val>
          <c:extLst>
            <c:ext xmlns:c16="http://schemas.microsoft.com/office/drawing/2014/chart" uri="{C3380CC4-5D6E-409C-BE32-E72D297353CC}">
              <c16:uniqueId val="{00000000-AE0D-4BEE-BFD5-F8BB2B1D169E}"/>
            </c:ext>
          </c:extLst>
        </c:ser>
        <c:ser>
          <c:idx val="1"/>
          <c:order val="1"/>
          <c:tx>
            <c:strRef>
              <c:f>Sheet1!$C$1</c:f>
              <c:strCache>
                <c:ptCount val="1"/>
                <c:pt idx="0">
                  <c:v>URLLC</c:v>
                </c:pt>
              </c:strCache>
            </c:strRef>
          </c:tx>
          <c:spPr>
            <a:ln w="38100" cap="flat">
              <a:solidFill>
                <a:srgbClr val="A78BFA"/>
              </a:solidFill>
              <a:prstDash val="solid"/>
              <a:round/>
            </a:ln>
            <a:effectLst/>
          </c:spPr>
          <c:marker>
            <c:symbol val="circle"/>
            <c:size val="6"/>
            <c:spPr>
              <a:solidFill>
                <a:srgbClr val="A78BFA"/>
              </a:solidFill>
              <a:ln w="9525" cap="flat">
                <a:solidFill>
                  <a:srgbClr val="A78BFA"/>
                </a:solidFill>
                <a:prstDash val="solid"/>
                <a:round/>
              </a:ln>
              <a:effectLst/>
            </c:spPr>
          </c:marker>
          <c:cat>
            <c:strRef>
              <c:f>Sheet1!$A$2:$A$5</c:f>
              <c:strCache>
                <c:ptCount val="4"/>
                <c:pt idx="0">
                  <c:v>Data rate</c:v>
                </c:pt>
                <c:pt idx="1">
                  <c:v>Low latency</c:v>
                </c:pt>
                <c:pt idx="2">
                  <c:v>Reliability</c:v>
                </c:pt>
                <c:pt idx="3">
                  <c:v>Device density</c:v>
                </c:pt>
              </c:strCache>
            </c:strRef>
          </c:cat>
          <c:val>
            <c:numRef>
              <c:f>Sheet1!$C$2:$C$5</c:f>
              <c:numCache>
                <c:formatCode>General</c:formatCode>
                <c:ptCount val="4"/>
                <c:pt idx="0">
                  <c:v>3</c:v>
                </c:pt>
                <c:pt idx="1">
                  <c:v>5</c:v>
                </c:pt>
                <c:pt idx="2">
                  <c:v>5</c:v>
                </c:pt>
                <c:pt idx="3">
                  <c:v>2</c:v>
                </c:pt>
              </c:numCache>
            </c:numRef>
          </c:val>
          <c:extLst>
            <c:ext xmlns:c16="http://schemas.microsoft.com/office/drawing/2014/chart" uri="{C3380CC4-5D6E-409C-BE32-E72D297353CC}">
              <c16:uniqueId val="{00000001-AE0D-4BEE-BFD5-F8BB2B1D169E}"/>
            </c:ext>
          </c:extLst>
        </c:ser>
        <c:ser>
          <c:idx val="2"/>
          <c:order val="2"/>
          <c:tx>
            <c:strRef>
              <c:f>Sheet1!$D$1</c:f>
              <c:strCache>
                <c:ptCount val="1"/>
                <c:pt idx="0">
                  <c:v>mMTC</c:v>
                </c:pt>
              </c:strCache>
            </c:strRef>
          </c:tx>
          <c:spPr>
            <a:ln w="38100" cap="flat">
              <a:solidFill>
                <a:srgbClr val="34D399"/>
              </a:solidFill>
              <a:prstDash val="solid"/>
              <a:round/>
            </a:ln>
            <a:effectLst/>
          </c:spPr>
          <c:marker>
            <c:symbol val="circle"/>
            <c:size val="6"/>
            <c:spPr>
              <a:solidFill>
                <a:srgbClr val="34D399"/>
              </a:solidFill>
              <a:ln w="9525" cap="flat">
                <a:solidFill>
                  <a:srgbClr val="34D399"/>
                </a:solidFill>
                <a:prstDash val="solid"/>
                <a:round/>
              </a:ln>
              <a:effectLst/>
            </c:spPr>
          </c:marker>
          <c:cat>
            <c:strRef>
              <c:f>Sheet1!$A$2:$A$5</c:f>
              <c:strCache>
                <c:ptCount val="4"/>
                <c:pt idx="0">
                  <c:v>Data rate</c:v>
                </c:pt>
                <c:pt idx="1">
                  <c:v>Low latency</c:v>
                </c:pt>
                <c:pt idx="2">
                  <c:v>Reliability</c:v>
                </c:pt>
                <c:pt idx="3">
                  <c:v>Device density</c:v>
                </c:pt>
              </c:strCache>
            </c:strRef>
          </c:cat>
          <c:val>
            <c:numRef>
              <c:f>Sheet1!$D$2:$D$5</c:f>
              <c:numCache>
                <c:formatCode>General</c:formatCode>
                <c:ptCount val="4"/>
                <c:pt idx="0">
                  <c:v>1</c:v>
                </c:pt>
                <c:pt idx="1">
                  <c:v>2</c:v>
                </c:pt>
                <c:pt idx="2">
                  <c:v>3</c:v>
                </c:pt>
                <c:pt idx="3">
                  <c:v>5</c:v>
                </c:pt>
              </c:numCache>
            </c:numRef>
          </c:val>
          <c:extLst>
            <c:ext xmlns:c16="http://schemas.microsoft.com/office/drawing/2014/chart" uri="{C3380CC4-5D6E-409C-BE32-E72D297353CC}">
              <c16:uniqueId val="{00000002-AE0D-4BEE-BFD5-F8BB2B1D169E}"/>
            </c:ext>
          </c:extLst>
        </c:ser>
        <c:dLbls>
          <c:showLegendKey val="0"/>
          <c:showVal val="0"/>
          <c:showCatName val="0"/>
          <c:showSerName val="0"/>
          <c:showPercent val="0"/>
          <c:showBubbleSize val="0"/>
        </c:dLbls>
        <c:axId val="2094734554"/>
        <c:axId val="2094734552"/>
      </c:radarChart>
      <c:catAx>
        <c:axId val="2094734554"/>
        <c:scaling>
          <c:orientation val="minMax"/>
        </c:scaling>
        <c:delete val="0"/>
        <c:axPos val="b"/>
        <c:majorGridlines>
          <c:spPr>
            <a:ln w="9525" cap="flat">
              <a:solidFill>
                <a:srgbClr val="2A4A78"/>
              </a:solidFill>
              <a:prstDash val="solid"/>
              <a:round/>
            </a:ln>
          </c:spPr>
        </c:majorGridlines>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FFFFFF"/>
                </a:solidFill>
                <a:latin typeface="+mn-lt"/>
              </a:defRPr>
            </a:pPr>
            <a:endParaRPr lang="en-US"/>
          </a:p>
        </c:txPr>
        <c:crossAx val="2094734552"/>
        <c:crosses val="autoZero"/>
        <c:auto val="1"/>
        <c:lblAlgn val="ctr"/>
        <c:lblOffset val="100"/>
        <c:noMultiLvlLbl val="1"/>
      </c:catAx>
      <c:valAx>
        <c:axId val="2094734552"/>
        <c:scaling>
          <c:orientation val="minMax"/>
          <c:max val="5"/>
          <c:min val="0"/>
        </c:scaling>
        <c:delete val="0"/>
        <c:axPos val="l"/>
        <c:majorGridlines>
          <c:spPr>
            <a:ln w="9525" cap="flat">
              <a:solidFill>
                <a:srgbClr val="2A4A7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8FB3D9"/>
                </a:solidFill>
                <a:latin typeface="+mn-lt"/>
              </a:defRPr>
            </a:pPr>
            <a:endParaRPr lang="en-US"/>
          </a:p>
        </c:txPr>
        <c:crossAx val="2094734554"/>
        <c:crosses val="autoZero"/>
        <c:crossBetween val="between"/>
        <c:majorUnit val="1"/>
      </c:valAx>
      <c:spPr>
        <a:noFill/>
        <a:ln>
          <a:noFill/>
        </a:ln>
        <a:effectLst/>
      </c:spPr>
    </c:plotArea>
    <c:legend>
      <c:legendPos val="b"/>
      <c:overlay val="0"/>
      <c:txPr>
        <a:bodyPr/>
        <a:lstStyle/>
        <a:p>
          <a:pPr>
            <a:defRPr sz="1400">
              <a:solidFill>
                <a:srgbClr val="FFFFF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40979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topic: network slicing lets one physical 5G network behave like many separate virtual networks. Then introduce the group.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network slice is a logical, end-to-end virtual network. Each slice is tuned for one kind of service but all of them run on the same radios, links and servers.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 applications want very different things from a network. One-size-fits-all networks cannot serve all of them well at once, which is why slicing was introduced.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steps left to right. Underneath, four building blocks make it possible: physical hardware, virtual network functions, an orchestrator and monitoring.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layers: physical hardware at the bottom, a virtualization layer that carves it up, the slice layer on top, and a management and orchestration plane that controls all of them.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5G defines three service categories. eMBB for speed, URLLC for latency and reliability, mMTC for connecting very large numbers of devices. Each one maps naturally to a slice type.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radar chart is a qualitative illustration, not measured data: each slice type peaks on a different requirement, which is exactly why one shared network cannot be tuned for all of them at once.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colored pipe is one slice running from the device through the radio network, transport and core to the application. All three share the same physical nodes but stay logically separate.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6G is expected to add AI-driven slice creation, tighter integration of satellite and terrestrial networks, and support for XR, digital twins and robotics. These are anticipated capabilities, not final standards.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5G slicing is deployed today and driven by policies and automation. 6G is expected to make it more intelligent and predictive, and extend it to satellites and aerial networks.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main benefits. The key ones to stress: sharing infrastructure saves cost, while isolation lets each service keep its own performance guarantees.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Slicing adds complexity and new attack surfaces, mainly because resources are shared. The right-hand side lists the standard measures that keep slices safe and isolated.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application matches one of the three slice types. The tag shows which slice would typically serve it. Future 6G may enable more advanced immersive experiences.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direction: networks that manage their own slices using AI, predict traffic, include satellites and aerial nodes, and use energy and compute more efficiently.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slicing lets a single physical network serve very different applications. 5G made it practical; 6G is expected to make it more intelligent and adaptive.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508760" y="201168"/>
            <a:ext cx="10378440" cy="1280160"/>
          </a:xfrm>
          <a:prstGeom prst="rect">
            <a:avLst/>
          </a:prstGeom>
          <a:solidFill>
            <a:srgbClr val="0A1F3C"/>
          </a:solidFill>
          <a:ln w="12700">
            <a:solidFill>
              <a:srgbClr val="22D3EE"/>
            </a:solidFill>
            <a:prstDash val="solid"/>
          </a:ln>
        </p:spPr>
      </p:sp>
      <p:sp>
        <p:nvSpPr>
          <p:cNvPr id="3" name="Shape 1"/>
          <p:cNvSpPr/>
          <p:nvPr/>
        </p:nvSpPr>
        <p:spPr>
          <a:xfrm>
            <a:off x="182880" y="155448"/>
            <a:ext cx="1143000" cy="1371600"/>
          </a:xfrm>
          <a:prstGeom prst="rect">
            <a:avLst/>
          </a:prstGeom>
          <a:solidFill>
            <a:srgbClr val="FFFFFF"/>
          </a:solidFill>
          <a:ln w="19050">
            <a:solidFill>
              <a:srgbClr val="22D3EE"/>
            </a:solidFill>
            <a:prstDash val="solid"/>
          </a:ln>
        </p:spPr>
      </p:sp>
      <p:pic>
        <p:nvPicPr>
          <p:cNvPr id="4" name="Image 0" descr="/tmp/claude-0/-home-claude/62ae94da-bed0-597c-b7c3-4ddae57ea7d0/scratchpad/image3.png"/>
          <p:cNvPicPr>
            <a:picLocks noChangeAspect="1"/>
          </p:cNvPicPr>
          <p:nvPr/>
        </p:nvPicPr>
        <p:blipFill>
          <a:blip r:embed="rId3"/>
          <a:stretch>
            <a:fillRect/>
          </a:stretch>
        </p:blipFill>
        <p:spPr>
          <a:xfrm>
            <a:off x="246888" y="219456"/>
            <a:ext cx="1014984" cy="1271016"/>
          </a:xfrm>
          <a:prstGeom prst="rect">
            <a:avLst/>
          </a:prstGeom>
        </p:spPr>
      </p:pic>
      <p:sp>
        <p:nvSpPr>
          <p:cNvPr id="5" name="Text 2"/>
          <p:cNvSpPr/>
          <p:nvPr/>
        </p:nvSpPr>
        <p:spPr>
          <a:xfrm>
            <a:off x="1508760" y="274320"/>
            <a:ext cx="10378440" cy="320040"/>
          </a:xfrm>
          <a:prstGeom prst="rect">
            <a:avLst/>
          </a:prstGeom>
          <a:noFill/>
          <a:ln/>
        </p:spPr>
        <p:txBody>
          <a:bodyPr wrap="square" lIns="0" tIns="0" rIns="0" bIns="0" rtlCol="0" anchor="ctr"/>
          <a:lstStyle/>
          <a:p>
            <a:pPr marL="0" indent="0" algn="ctr">
              <a:buNone/>
            </a:pPr>
            <a:r>
              <a:rPr lang="en-US" sz="1500" b="1" dirty="0">
                <a:solidFill>
                  <a:srgbClr val="FBBF24"/>
                </a:solidFill>
                <a:latin typeface="Cambria" pitchFamily="34" charset="0"/>
                <a:ea typeface="Cambria" pitchFamily="34" charset="-122"/>
                <a:cs typeface="Cambria" pitchFamily="34" charset="-120"/>
              </a:rPr>
              <a:t>Sanjivani Rural Education Society’s</a:t>
            </a:r>
            <a:endParaRPr lang="en-US" sz="1500" dirty="0"/>
          </a:p>
        </p:txBody>
      </p:sp>
      <p:sp>
        <p:nvSpPr>
          <p:cNvPr id="6" name="Text 3"/>
          <p:cNvSpPr/>
          <p:nvPr/>
        </p:nvSpPr>
        <p:spPr>
          <a:xfrm>
            <a:off x="1508760" y="594360"/>
            <a:ext cx="10378440" cy="320040"/>
          </a:xfrm>
          <a:prstGeom prst="rect">
            <a:avLst/>
          </a:prstGeom>
          <a:noFill/>
          <a:ln/>
        </p:spPr>
        <p:txBody>
          <a:bodyPr wrap="square" lIns="0" tIns="0" rIns="0" bIns="0" rtlCol="0" anchor="ctr"/>
          <a:lstStyle/>
          <a:p>
            <a:pPr marL="0" indent="0" algn="ctr">
              <a:buNone/>
            </a:pPr>
            <a:r>
              <a:rPr lang="en-US" sz="1500" b="1" dirty="0">
                <a:solidFill>
                  <a:srgbClr val="FBBF24"/>
                </a:solidFill>
                <a:latin typeface="Cambria" pitchFamily="34" charset="0"/>
                <a:ea typeface="Cambria" pitchFamily="34" charset="-122"/>
                <a:cs typeface="Cambria" pitchFamily="34" charset="-120"/>
              </a:rPr>
              <a:t>Sanjivani College of Engineering, Kopargaon-423 603</a:t>
            </a:r>
            <a:endParaRPr lang="en-US" sz="1500" dirty="0"/>
          </a:p>
        </p:txBody>
      </p:sp>
      <p:sp>
        <p:nvSpPr>
          <p:cNvPr id="7" name="Text 4"/>
          <p:cNvSpPr/>
          <p:nvPr/>
        </p:nvSpPr>
        <p:spPr>
          <a:xfrm>
            <a:off x="1508760" y="914400"/>
            <a:ext cx="10378440" cy="256032"/>
          </a:xfrm>
          <a:prstGeom prst="rect">
            <a:avLst/>
          </a:prstGeom>
          <a:noFill/>
          <a:ln/>
        </p:spPr>
        <p:txBody>
          <a:bodyPr wrap="square" lIns="0" tIns="0" rIns="0" bIns="0" rtlCol="0" anchor="ctr"/>
          <a:lstStyle/>
          <a:p>
            <a:pPr marL="0" indent="0" algn="ctr">
              <a:buNone/>
            </a:pPr>
            <a:r>
              <a:rPr lang="en-US" sz="1100" b="1" i="1" dirty="0">
                <a:solidFill>
                  <a:srgbClr val="22D3EE"/>
                </a:solidFill>
                <a:latin typeface="Cambria" pitchFamily="34" charset="0"/>
                <a:ea typeface="Cambria" pitchFamily="34" charset="-122"/>
                <a:cs typeface="Cambria" pitchFamily="34" charset="-120"/>
              </a:rPr>
              <a:t>(An Autonomous Institute, Affiliated to Savitribai Phule Pune University, Pune)</a:t>
            </a:r>
            <a:endParaRPr lang="en-US" sz="1100" dirty="0"/>
          </a:p>
        </p:txBody>
      </p:sp>
      <p:sp>
        <p:nvSpPr>
          <p:cNvPr id="8" name="Text 5"/>
          <p:cNvSpPr/>
          <p:nvPr/>
        </p:nvSpPr>
        <p:spPr>
          <a:xfrm>
            <a:off x="1508760" y="1170432"/>
            <a:ext cx="1037844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NACC ‘A’ Grade Accredited, ISO 9001:2015 Certified</a:t>
            </a:r>
            <a:endParaRPr lang="en-US" sz="1100" dirty="0"/>
          </a:p>
        </p:txBody>
      </p:sp>
      <p:sp>
        <p:nvSpPr>
          <p:cNvPr id="9" name="Shape 6"/>
          <p:cNvSpPr/>
          <p:nvPr/>
        </p:nvSpPr>
        <p:spPr>
          <a:xfrm>
            <a:off x="0" y="1691640"/>
            <a:ext cx="12191695" cy="0"/>
          </a:xfrm>
          <a:prstGeom prst="line">
            <a:avLst/>
          </a:prstGeom>
          <a:noFill/>
          <a:ln w="9525">
            <a:solidFill>
              <a:srgbClr val="22D3EE">
                <a:alpha val="50000"/>
              </a:srgbClr>
            </a:solidFill>
            <a:prstDash val="solid"/>
          </a:ln>
        </p:spPr>
      </p:sp>
      <p:sp>
        <p:nvSpPr>
          <p:cNvPr id="10" name="Shape 7"/>
          <p:cNvSpPr/>
          <p:nvPr/>
        </p:nvSpPr>
        <p:spPr>
          <a:xfrm>
            <a:off x="0" y="2468880"/>
            <a:ext cx="12191695" cy="0"/>
          </a:xfrm>
          <a:prstGeom prst="line">
            <a:avLst/>
          </a:prstGeom>
          <a:noFill/>
          <a:ln w="9525">
            <a:solidFill>
              <a:srgbClr val="22D3EE">
                <a:alpha val="50000"/>
              </a:srgbClr>
            </a:solidFill>
            <a:prstDash val="solid"/>
          </a:ln>
        </p:spPr>
      </p:sp>
      <p:sp>
        <p:nvSpPr>
          <p:cNvPr id="11" name="Text 8"/>
          <p:cNvSpPr/>
          <p:nvPr/>
        </p:nvSpPr>
        <p:spPr>
          <a:xfrm>
            <a:off x="0" y="1783080"/>
            <a:ext cx="12191695" cy="411480"/>
          </a:xfrm>
          <a:prstGeom prst="rect">
            <a:avLst/>
          </a:prstGeom>
          <a:noFill/>
          <a:ln/>
        </p:spPr>
        <p:txBody>
          <a:bodyPr wrap="square" lIns="0" tIns="0" rIns="0" bIns="0" rtlCol="0" anchor="ctr"/>
          <a:lstStyle/>
          <a:p>
            <a:pPr marL="0" indent="0" algn="ctr">
              <a:buNone/>
            </a:pPr>
            <a:r>
              <a:rPr lang="en-US" sz="2200" b="1" dirty="0">
                <a:solidFill>
                  <a:srgbClr val="FFFFFF"/>
                </a:solidFill>
              </a:rPr>
              <a:t>Department of Computer Engineering</a:t>
            </a:r>
            <a:endParaRPr lang="en-US" sz="2200" dirty="0"/>
          </a:p>
        </p:txBody>
      </p:sp>
      <p:sp>
        <p:nvSpPr>
          <p:cNvPr id="12" name="Text 9"/>
          <p:cNvSpPr/>
          <p:nvPr/>
        </p:nvSpPr>
        <p:spPr>
          <a:xfrm>
            <a:off x="0" y="2176272"/>
            <a:ext cx="12191695" cy="228600"/>
          </a:xfrm>
          <a:prstGeom prst="rect">
            <a:avLst/>
          </a:prstGeom>
          <a:noFill/>
          <a:ln/>
        </p:spPr>
        <p:txBody>
          <a:bodyPr wrap="square" lIns="0" tIns="0" rIns="0" bIns="0" rtlCol="0" anchor="ctr"/>
          <a:lstStyle/>
          <a:p>
            <a:pPr marL="0" indent="0" algn="ctr">
              <a:buNone/>
            </a:pPr>
            <a:r>
              <a:rPr lang="en-US" sz="1100" b="1" i="1" dirty="0">
                <a:solidFill>
                  <a:srgbClr val="8FB3D9"/>
                </a:solidFill>
              </a:rPr>
              <a:t>(NBA Accredited)</a:t>
            </a:r>
            <a:endParaRPr lang="en-US" sz="1100" dirty="0"/>
          </a:p>
        </p:txBody>
      </p:sp>
      <p:sp>
        <p:nvSpPr>
          <p:cNvPr id="13" name="Shape 10"/>
          <p:cNvSpPr/>
          <p:nvPr/>
        </p:nvSpPr>
        <p:spPr>
          <a:xfrm>
            <a:off x="0" y="6492240"/>
            <a:ext cx="12191695" cy="365760"/>
          </a:xfrm>
          <a:prstGeom prst="rect">
            <a:avLst/>
          </a:prstGeom>
          <a:solidFill>
            <a:srgbClr val="050E1F"/>
          </a:solidFill>
          <a:ln/>
        </p:spPr>
      </p:sp>
      <p:sp>
        <p:nvSpPr>
          <p:cNvPr id="14" name="Text 11"/>
          <p:cNvSpPr/>
          <p:nvPr/>
        </p:nvSpPr>
        <p:spPr>
          <a:xfrm>
            <a:off x="0" y="6492240"/>
            <a:ext cx="12191695"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Department of Computer Engineering</a:t>
            </a:r>
            <a:endParaRPr lang="en-US" sz="11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280160" y="256032"/>
            <a:ext cx="10424160" cy="685800"/>
          </a:xfrm>
          <a:prstGeom prst="rect">
            <a:avLst/>
          </a:prstGeom>
          <a:noFill/>
          <a:ln/>
        </p:spPr>
        <p:txBody>
          <a:bodyPr wrap="square" rtlCol="0"/>
          <a:lstStyle>
            <a:lvl1pPr marL="0" indent="0" algn="l">
              <a:buNone/>
              <a:defRPr lang="en-US" sz="3000" b="1" dirty="0">
                <a:solidFill>
                  <a:srgbClr val="FFFFFF"/>
                </a:solidFill>
                <a:latin typeface="Calibri" pitchFamily="34" charset="0"/>
                <a:ea typeface="Calibri" pitchFamily="34" charset="-122"/>
                <a:cs typeface="Calibri" pitchFamily="34" charset="-120"/>
              </a:defRPr>
            </a:lvl1pPr>
          </a:lstStyle>
          <a:p>
            <a:pPr marL="0" indent="0" algn="l">
              <a:buNone/>
            </a:pPr>
            <a:endParaRPr lang="en-US" sz="3000" dirty="0"/>
          </a:p>
        </p:txBody>
      </p:sp>
      <p:sp>
        <p:nvSpPr>
          <p:cNvPr id="3" name="Text 0"/>
          <p:cNvSpPr/>
          <p:nvPr/>
        </p:nvSpPr>
        <p:spPr>
          <a:xfrm>
            <a:off x="3355848" y="6473952"/>
            <a:ext cx="5486400" cy="274320"/>
          </a:xfrm>
          <a:prstGeom prst="rect">
            <a:avLst/>
          </a:prstGeom>
          <a:noFill/>
          <a:ln/>
        </p:spPr>
        <p:txBody>
          <a:bodyPr wrap="square" lIns="0" tIns="0" rIns="0" bIns="0" rtlCol="0" anchor="ctr"/>
          <a:lstStyle/>
          <a:p>
            <a:pPr marL="0" indent="0" algn="ctr">
              <a:buNone/>
            </a:pPr>
            <a:r>
              <a:rPr lang="en-US" sz="1000" b="1" dirty="0">
                <a:solidFill>
                  <a:srgbClr val="8FB3D9"/>
                </a:solidFill>
                <a:latin typeface="Cambria" pitchFamily="34" charset="0"/>
                <a:ea typeface="Cambria" pitchFamily="34" charset="-122"/>
                <a:cs typeface="Cambria" pitchFamily="34" charset="-120"/>
              </a:rPr>
              <a:t>Department of Computer Engineering</a:t>
            </a:r>
            <a:endParaRPr lang="en-US" sz="1000" dirty="0"/>
          </a:p>
        </p:txBody>
      </p:sp>
      <p:sp>
        <p:nvSpPr>
          <p:cNvPr id="25" name="Slide Number Placeholder 0"/>
          <p:cNvSpPr>
            <a:spLocks noGrp="1"/>
          </p:cNvSpPr>
          <p:nvPr>
            <p:ph type="sldNum" sz="quarter" idx="4294967295"/>
          </p:nvPr>
        </p:nvSpPr>
        <p:spPr>
          <a:xfrm>
            <a:off x="11064240" y="6473952"/>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B3D9"/>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73952"/>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B3D9"/>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7.png"/><Relationship Id="rId11" Type="http://schemas.openxmlformats.org/officeDocument/2006/relationships/image" Target="../media/image21.png"/><Relationship Id="rId5" Type="http://schemas.openxmlformats.org/officeDocument/2006/relationships/image" Target="../media/image16.png"/><Relationship Id="rId10" Type="http://schemas.openxmlformats.org/officeDocument/2006/relationships/image" Target="../media/image20.png"/><Relationship Id="rId4" Type="http://schemas.openxmlformats.org/officeDocument/2006/relationships/image" Target="../media/image15.png"/><Relationship Id="rId9" Type="http://schemas.openxmlformats.org/officeDocument/2006/relationships/image" Target="../media/image19.png"/></Relationships>
</file>

<file path=ppt/slides/_rels/slide4.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2.png"/><Relationship Id="rId7" Type="http://schemas.openxmlformats.org/officeDocument/2006/relationships/image" Target="../media/image25.png"/><Relationship Id="rId12" Type="http://schemas.openxmlformats.org/officeDocument/2006/relationships/image" Target="../media/image29.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28.png"/><Relationship Id="rId5" Type="http://schemas.openxmlformats.org/officeDocument/2006/relationships/image" Target="../media/image24.png"/><Relationship Id="rId10" Type="http://schemas.openxmlformats.org/officeDocument/2006/relationships/image" Target="../media/image27.png"/><Relationship Id="rId4" Type="http://schemas.openxmlformats.org/officeDocument/2006/relationships/image" Target="../media/image23.pn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12" Type="http://schemas.openxmlformats.org/officeDocument/2006/relationships/image" Target="../media/image37.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33.png"/><Relationship Id="rId11" Type="http://schemas.openxmlformats.org/officeDocument/2006/relationships/image" Target="../media/image12.png"/><Relationship Id="rId5" Type="http://schemas.openxmlformats.org/officeDocument/2006/relationships/image" Target="../media/image32.png"/><Relationship Id="rId10" Type="http://schemas.openxmlformats.org/officeDocument/2006/relationships/image" Target="../media/image36.png"/><Relationship Id="rId4" Type="http://schemas.openxmlformats.org/officeDocument/2006/relationships/image" Target="../media/image31.png"/><Relationship Id="rId9" Type="http://schemas.openxmlformats.org/officeDocument/2006/relationships/image" Target="../media/image28.png"/></Relationships>
</file>

<file path=ppt/slides/_rels/slide6.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png"/><Relationship Id="rId3" Type="http://schemas.openxmlformats.org/officeDocument/2006/relationships/image" Target="../media/image38.png"/><Relationship Id="rId7" Type="http://schemas.openxmlformats.org/officeDocument/2006/relationships/image" Target="../media/image15.png"/><Relationship Id="rId12" Type="http://schemas.openxmlformats.org/officeDocument/2006/relationships/image" Target="../media/image45.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40.png"/><Relationship Id="rId11" Type="http://schemas.openxmlformats.org/officeDocument/2006/relationships/image" Target="../media/image44.png"/><Relationship Id="rId5" Type="http://schemas.openxmlformats.org/officeDocument/2006/relationships/image" Target="../media/image39.png"/><Relationship Id="rId10" Type="http://schemas.openxmlformats.org/officeDocument/2006/relationships/image" Target="../media/image43.png"/><Relationship Id="rId4" Type="http://schemas.openxmlformats.org/officeDocument/2006/relationships/image" Target="../media/image14.png"/><Relationship Id="rId9" Type="http://schemas.openxmlformats.org/officeDocument/2006/relationships/image" Target="../media/image42.png"/><Relationship Id="rId1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44.png"/><Relationship Id="rId5" Type="http://schemas.openxmlformats.org/officeDocument/2006/relationships/image" Target="../media/image15.png"/><Relationship Id="rId4" Type="http://schemas.openxmlformats.org/officeDocument/2006/relationships/image" Target="../media/image38.png"/></Relationships>
</file>

<file path=ppt/slides/_rels/slide8.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45.png"/><Relationship Id="rId3" Type="http://schemas.openxmlformats.org/officeDocument/2006/relationships/image" Target="../media/image47.png"/><Relationship Id="rId7" Type="http://schemas.openxmlformats.org/officeDocument/2006/relationships/image" Target="../media/image49.png"/><Relationship Id="rId12" Type="http://schemas.openxmlformats.org/officeDocument/2006/relationships/image" Target="../media/image44.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34.png"/><Relationship Id="rId11" Type="http://schemas.openxmlformats.org/officeDocument/2006/relationships/image" Target="../media/image41.png"/><Relationship Id="rId5" Type="http://schemas.openxmlformats.org/officeDocument/2006/relationships/image" Target="../media/image48.png"/><Relationship Id="rId10" Type="http://schemas.openxmlformats.org/officeDocument/2006/relationships/image" Target="../media/image6.png"/><Relationship Id="rId4" Type="http://schemas.openxmlformats.org/officeDocument/2006/relationships/image" Target="../media/image33.png"/><Relationship Id="rId9" Type="http://schemas.openxmlformats.org/officeDocument/2006/relationships/image" Target="../media/image14.png"/></Relationships>
</file>

<file path=ppt/slides/_rels/slide9.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50.png"/><Relationship Id="rId7" Type="http://schemas.openxmlformats.org/officeDocument/2006/relationships/image" Target="../media/image53.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52.png"/><Relationship Id="rId5" Type="http://schemas.openxmlformats.org/officeDocument/2006/relationships/image" Target="../media/image40.png"/><Relationship Id="rId4" Type="http://schemas.openxmlformats.org/officeDocument/2006/relationships/image" Target="../media/image51.png"/><Relationship Id="rId9" Type="http://schemas.openxmlformats.org/officeDocument/2006/relationships/image" Target="../media/image5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56.png"/><Relationship Id="rId7" Type="http://schemas.openxmlformats.org/officeDocument/2006/relationships/image" Target="../media/image59.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61.png"/><Relationship Id="rId7"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64.png"/><Relationship Id="rId7" Type="http://schemas.openxmlformats.org/officeDocument/2006/relationships/image" Target="../media/image40.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45.png"/><Relationship Id="rId5" Type="http://schemas.openxmlformats.org/officeDocument/2006/relationships/image" Target="../media/image6.png"/><Relationship Id="rId4" Type="http://schemas.openxmlformats.org/officeDocument/2006/relationships/image" Target="../media/image41.png"/></Relationships>
</file>

<file path=ppt/slides/_rels/slide14.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50.png"/><Relationship Id="rId7" Type="http://schemas.openxmlformats.org/officeDocument/2006/relationships/image" Target="../media/image67.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66.png"/><Relationship Id="rId5" Type="http://schemas.openxmlformats.org/officeDocument/2006/relationships/image" Target="../media/image42.png"/><Relationship Id="rId4" Type="http://schemas.openxmlformats.org/officeDocument/2006/relationships/image" Target="../media/image65.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69.png"/><Relationship Id="rId5" Type="http://schemas.openxmlformats.org/officeDocument/2006/relationships/image" Target="../media/image16.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1344168" y="2697480"/>
            <a:ext cx="9509760" cy="1600200"/>
          </a:xfrm>
          <a:prstGeom prst="roundRect">
            <a:avLst>
              <a:gd name="adj" fmla="val 11429"/>
            </a:avLst>
          </a:prstGeom>
          <a:solidFill>
            <a:srgbClr val="0A1F3C"/>
          </a:solidFill>
          <a:ln w="28575">
            <a:solidFill>
              <a:srgbClr val="22D3EE"/>
            </a:solidFill>
            <a:prstDash val="solid"/>
          </a:ln>
        </p:spPr>
      </p:sp>
      <p:sp>
        <p:nvSpPr>
          <p:cNvPr id="3" name="Text 1"/>
          <p:cNvSpPr txBox="1"/>
          <p:nvPr/>
        </p:nvSpPr>
        <p:spPr>
          <a:xfrm>
            <a:off x="2194560" y="2788920"/>
            <a:ext cx="7772400" cy="868680"/>
          </a:xfrm>
          <a:prstGeom prst="rect">
            <a:avLst/>
          </a:prstGeom>
          <a:noFill/>
          <a:ln/>
        </p:spPr>
        <p:txBody>
          <a:bodyPr wrap="square" lIns="0" tIns="0" rIns="0" bIns="0"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NETWORK </a:t>
            </a:r>
            <a:r>
              <a:rPr lang="en-US" sz="4000" b="1" dirty="0">
                <a:solidFill>
                  <a:srgbClr val="22D3EE"/>
                </a:solidFill>
                <a:latin typeface="Calibri" pitchFamily="34" charset="0"/>
                <a:ea typeface="Calibri" pitchFamily="34" charset="-122"/>
                <a:cs typeface="Calibri" pitchFamily="34" charset="-120"/>
              </a:rPr>
              <a:t>SLICING</a:t>
            </a:r>
            <a:r>
              <a:rPr lang="en-US" sz="4000" b="1" dirty="0">
                <a:solidFill>
                  <a:srgbClr val="FFFFFF"/>
                </a:solidFill>
                <a:latin typeface="Calibri" pitchFamily="34" charset="0"/>
                <a:ea typeface="Calibri" pitchFamily="34" charset="-122"/>
                <a:cs typeface="Calibri" pitchFamily="34" charset="-120"/>
              </a:rPr>
              <a:t> IN </a:t>
            </a:r>
            <a:r>
              <a:rPr lang="en-US" sz="4000" b="1" dirty="0">
                <a:solidFill>
                  <a:srgbClr val="22D3EE"/>
                </a:solidFill>
                <a:latin typeface="Calibri" pitchFamily="34" charset="0"/>
                <a:ea typeface="Calibri" pitchFamily="34" charset="-122"/>
                <a:cs typeface="Calibri" pitchFamily="34" charset="-120"/>
              </a:rPr>
              <a:t>5G AND 6G</a:t>
            </a:r>
            <a:endParaRPr lang="en-US" sz="4000" dirty="0"/>
          </a:p>
        </p:txBody>
      </p:sp>
      <p:sp>
        <p:nvSpPr>
          <p:cNvPr id="4" name="Text 2"/>
          <p:cNvSpPr txBox="1"/>
          <p:nvPr/>
        </p:nvSpPr>
        <p:spPr>
          <a:xfrm>
            <a:off x="1828800" y="3657600"/>
            <a:ext cx="8503920" cy="457200"/>
          </a:xfrm>
          <a:prstGeom prst="rect">
            <a:avLst/>
          </a:prstGeom>
          <a:noFill/>
          <a:ln/>
        </p:spPr>
        <p:txBody>
          <a:bodyPr wrap="square" lIns="0" tIns="0" rIns="0" bIns="0" rtlCol="0" anchor="ctr"/>
          <a:lstStyle/>
          <a:p>
            <a:pPr marL="0" indent="0" algn="ctr">
              <a:buNone/>
            </a:pPr>
            <a:r>
              <a:rPr lang="en-US" sz="1900" dirty="0">
                <a:solidFill>
                  <a:srgbClr val="BFD7EE"/>
                </a:solidFill>
                <a:latin typeface="Calibri" pitchFamily="34" charset="0"/>
                <a:ea typeface="Calibri" pitchFamily="34" charset="-122"/>
                <a:cs typeface="Calibri" pitchFamily="34" charset="-120"/>
              </a:rPr>
              <a:t>Creating Multiple Virtual Networks on a Single Physical Infrastructure</a:t>
            </a:r>
            <a:endParaRPr lang="en-US" sz="1900" dirty="0"/>
          </a:p>
        </p:txBody>
      </p:sp>
      <p:pic>
        <p:nvPicPr>
          <p:cNvPr id="5" name="Image 0" descr="preencoded.png"/>
          <p:cNvPicPr>
            <a:picLocks noChangeAspect="1"/>
          </p:cNvPicPr>
          <p:nvPr/>
        </p:nvPicPr>
        <p:blipFill>
          <a:blip r:embed="rId3"/>
          <a:stretch>
            <a:fillRect/>
          </a:stretch>
        </p:blipFill>
        <p:spPr>
          <a:xfrm>
            <a:off x="1600200" y="3200400"/>
            <a:ext cx="548640" cy="548640"/>
          </a:xfrm>
          <a:prstGeom prst="rect">
            <a:avLst/>
          </a:prstGeom>
        </p:spPr>
      </p:pic>
      <p:pic>
        <p:nvPicPr>
          <p:cNvPr id="6" name="Image 1" descr="preencoded.png"/>
          <p:cNvPicPr>
            <a:picLocks noChangeAspect="1"/>
          </p:cNvPicPr>
          <p:nvPr/>
        </p:nvPicPr>
        <p:blipFill>
          <a:blip r:embed="rId3"/>
          <a:stretch>
            <a:fillRect/>
          </a:stretch>
        </p:blipFill>
        <p:spPr>
          <a:xfrm>
            <a:off x="10058400" y="3200400"/>
            <a:ext cx="548640" cy="548640"/>
          </a:xfrm>
          <a:prstGeom prst="rect">
            <a:avLst/>
          </a:prstGeom>
        </p:spPr>
      </p:pic>
      <p:sp>
        <p:nvSpPr>
          <p:cNvPr id="7" name="Shape 3"/>
          <p:cNvSpPr/>
          <p:nvPr/>
        </p:nvSpPr>
        <p:spPr>
          <a:xfrm>
            <a:off x="640080" y="4754880"/>
            <a:ext cx="4206240" cy="777240"/>
          </a:xfrm>
          <a:prstGeom prst="roundRect">
            <a:avLst>
              <a:gd name="adj" fmla="val 14118"/>
            </a:avLst>
          </a:prstGeom>
          <a:solidFill>
            <a:srgbClr val="0A1F3C"/>
          </a:solidFill>
          <a:ln w="19050">
            <a:solidFill>
              <a:srgbClr val="3B82F6"/>
            </a:solidFill>
            <a:prstDash val="solid"/>
          </a:ln>
        </p:spPr>
      </p:sp>
      <p:sp>
        <p:nvSpPr>
          <p:cNvPr id="8" name="Text 4"/>
          <p:cNvSpPr txBox="1"/>
          <p:nvPr/>
        </p:nvSpPr>
        <p:spPr>
          <a:xfrm>
            <a:off x="640080" y="4754880"/>
            <a:ext cx="4206240" cy="777240"/>
          </a:xfrm>
          <a:prstGeom prst="rect">
            <a:avLst/>
          </a:prstGeom>
          <a:noFill/>
          <a:ln/>
        </p:spPr>
        <p:txBody>
          <a:bodyPr wrap="square" lIns="0" tIns="0" rIns="0" bIns="0" rtlCol="0" anchor="ctr"/>
          <a:lstStyle/>
          <a:p>
            <a:pPr marL="0" indent="0" algn="ctr">
              <a:buNone/>
            </a:pPr>
            <a:r>
              <a:rPr lang="en-US" sz="2000" dirty="0">
                <a:solidFill>
                  <a:srgbClr val="BFD7EE"/>
                </a:solidFill>
                <a:latin typeface="Calibri" pitchFamily="34" charset="0"/>
                <a:ea typeface="Calibri" pitchFamily="34" charset="-122"/>
                <a:cs typeface="Calibri" pitchFamily="34" charset="-120"/>
              </a:rPr>
              <a:t>Subject: </a:t>
            </a:r>
            <a:r>
              <a:rPr lang="en-US" sz="2000" b="1" dirty="0">
                <a:solidFill>
                  <a:srgbClr val="FFFFFF"/>
                </a:solidFill>
                <a:latin typeface="Calibri" pitchFamily="34" charset="0"/>
                <a:ea typeface="Calibri" pitchFamily="34" charset="-122"/>
                <a:cs typeface="Calibri" pitchFamily="34" charset="-120"/>
              </a:rPr>
              <a:t>Computer Networks</a:t>
            </a:r>
            <a:endParaRPr lang="en-US" sz="2000" dirty="0"/>
          </a:p>
        </p:txBody>
      </p:sp>
      <p:sp>
        <p:nvSpPr>
          <p:cNvPr id="9" name="Text 5"/>
          <p:cNvSpPr txBox="1"/>
          <p:nvPr/>
        </p:nvSpPr>
        <p:spPr>
          <a:xfrm>
            <a:off x="640080" y="5715000"/>
            <a:ext cx="4206240" cy="548640"/>
          </a:xfrm>
          <a:prstGeom prst="rect">
            <a:avLst/>
          </a:prstGeom>
          <a:noFill/>
          <a:ln/>
        </p:spPr>
        <p:txBody>
          <a:bodyPr wrap="square" lIns="0" tIns="0" rIns="0" bIns="0" rtlCol="0" anchor="ctr"/>
          <a:lstStyle/>
          <a:p>
            <a:pPr marL="0" indent="0" algn="ctr">
              <a:buNone/>
            </a:pPr>
            <a:r>
              <a:rPr lang="en-US" sz="2000" dirty="0">
                <a:solidFill>
                  <a:srgbClr val="BFD7EE"/>
                </a:solidFill>
                <a:latin typeface="Calibri" pitchFamily="34" charset="0"/>
                <a:ea typeface="Calibri" pitchFamily="34" charset="-122"/>
                <a:cs typeface="Calibri" pitchFamily="34" charset="-120"/>
              </a:rPr>
              <a:t>Group ID: </a:t>
            </a:r>
            <a:r>
              <a:rPr lang="en-US" sz="2000" b="1" dirty="0">
                <a:solidFill>
                  <a:srgbClr val="FBBF24"/>
                </a:solidFill>
                <a:latin typeface="Calibri" pitchFamily="34" charset="0"/>
                <a:ea typeface="Calibri" pitchFamily="34" charset="-122"/>
                <a:cs typeface="Calibri" pitchFamily="34" charset="-120"/>
              </a:rPr>
              <a:t>8</a:t>
            </a:r>
            <a:endParaRPr lang="en-US" sz="2000" dirty="0"/>
          </a:p>
        </p:txBody>
      </p:sp>
      <p:sp>
        <p:nvSpPr>
          <p:cNvPr id="10" name="Text 6"/>
          <p:cNvSpPr txBox="1"/>
          <p:nvPr/>
        </p:nvSpPr>
        <p:spPr>
          <a:xfrm>
            <a:off x="5212080" y="4343400"/>
            <a:ext cx="3657600" cy="274320"/>
          </a:xfrm>
          <a:prstGeom prst="rect">
            <a:avLst/>
          </a:prstGeom>
          <a:noFill/>
          <a:ln/>
        </p:spPr>
        <p:txBody>
          <a:bodyPr wrap="square" lIns="0" tIns="0" rIns="0" bIns="0" rtlCol="0" anchor="ctr"/>
          <a:lstStyle/>
          <a:p>
            <a:pPr marL="0" indent="0">
              <a:buNone/>
            </a:pPr>
            <a:r>
              <a:rPr lang="en-US" sz="1300" b="1" dirty="0">
                <a:solidFill>
                  <a:srgbClr val="22D3EE"/>
                </a:solidFill>
                <a:latin typeface="Calibri" pitchFamily="34" charset="0"/>
                <a:ea typeface="Calibri" pitchFamily="34" charset="-122"/>
                <a:cs typeface="Calibri" pitchFamily="34" charset="-120"/>
              </a:rPr>
              <a:t>Group Members :</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55276821"/>
              </p:ext>
            </p:extLst>
          </p:nvPr>
        </p:nvGraphicFramePr>
        <p:xfrm>
          <a:off x="5212080" y="4663440"/>
          <a:ext cx="6400800" cy="1554480"/>
        </p:xfrm>
        <a:graphic>
          <a:graphicData uri="http://schemas.openxmlformats.org/drawingml/2006/table">
            <a:tbl>
              <a:tblPr/>
              <a:tblGrid>
                <a:gridCol w="18288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tblGrid>
              <a:tr h="310896">
                <a:tc>
                  <a:txBody>
                    <a:bodyPr/>
                    <a:lstStyle/>
                    <a:p>
                      <a:pPr marL="0" indent="0" algn="ctr">
                        <a:buNone/>
                      </a:pPr>
                      <a:r>
                        <a:rPr lang="en-US" sz="1200" b="1" dirty="0">
                          <a:solidFill>
                            <a:srgbClr val="071428"/>
                          </a:solidFill>
                          <a:latin typeface="Calibri" pitchFamily="34" charset="0"/>
                          <a:ea typeface="Calibri" pitchFamily="34" charset="-122"/>
                          <a:cs typeface="Calibri" pitchFamily="34" charset="-120"/>
                        </a:rPr>
                        <a:t>Roll No.</a:t>
                      </a:r>
                      <a:endParaRPr lang="en-US" sz="1200" dirty="0">
                        <a:latin typeface="Calibri" charset="0"/>
                        <a:ea typeface="Calibri" charset="0"/>
                        <a:cs typeface="Calibri" charset="0"/>
                      </a:endParaRPr>
                    </a:p>
                  </a:txBody>
                  <a:tcPr anchor="ctr">
                    <a:lnL w="9525" cap="flat" cmpd="sng" algn="ctr">
                      <a:solidFill>
                        <a:srgbClr val="22D3EE"/>
                      </a:solidFill>
                      <a:prstDash val="solid"/>
                      <a:round/>
                      <a:headEnd type="none" w="med" len="med"/>
                      <a:tailEnd type="none" w="med" len="med"/>
                    </a:lnL>
                    <a:lnR w="9525" cap="flat" cmpd="sng" algn="ctr">
                      <a:solidFill>
                        <a:srgbClr val="22D3EE"/>
                      </a:solidFill>
                      <a:prstDash val="solid"/>
                      <a:round/>
                      <a:headEnd type="none" w="med" len="med"/>
                      <a:tailEnd type="none" w="med" len="med"/>
                    </a:lnR>
                    <a:lnT w="9525" cap="flat" cmpd="sng" algn="ctr">
                      <a:solidFill>
                        <a:srgbClr val="22D3EE"/>
                      </a:solidFill>
                      <a:prstDash val="solid"/>
                      <a:round/>
                      <a:headEnd type="none" w="med" len="med"/>
                      <a:tailEnd type="none" w="med" len="med"/>
                    </a:lnT>
                    <a:lnB w="9525" cap="flat" cmpd="sng" algn="ctr">
                      <a:solidFill>
                        <a:srgbClr val="22D3EE"/>
                      </a:solidFill>
                      <a:prstDash val="solid"/>
                      <a:round/>
                      <a:headEnd type="none" w="med" len="med"/>
                      <a:tailEnd type="none" w="med" len="med"/>
                    </a:lnB>
                    <a:solidFill>
                      <a:srgbClr val="22D3EE"/>
                    </a:solidFill>
                  </a:tcPr>
                </a:tc>
                <a:tc>
                  <a:txBody>
                    <a:bodyPr/>
                    <a:lstStyle/>
                    <a:p>
                      <a:pPr marL="0" indent="0" algn="ctr">
                        <a:buNone/>
                      </a:pPr>
                      <a:r>
                        <a:rPr lang="en-US" sz="1200" b="1" dirty="0">
                          <a:solidFill>
                            <a:srgbClr val="071428"/>
                          </a:solidFill>
                          <a:latin typeface="Calibri" pitchFamily="34" charset="0"/>
                          <a:ea typeface="Calibri" pitchFamily="34" charset="-122"/>
                          <a:cs typeface="Calibri" pitchFamily="34" charset="-120"/>
                        </a:rPr>
                        <a:t>Name</a:t>
                      </a:r>
                      <a:endParaRPr lang="en-US" sz="1200" dirty="0">
                        <a:latin typeface="Calibri" charset="0"/>
                        <a:ea typeface="Calibri" charset="0"/>
                        <a:cs typeface="Calibri" charset="0"/>
                      </a:endParaRPr>
                    </a:p>
                  </a:txBody>
                  <a:tcPr anchor="ctr">
                    <a:lnL w="9525" cap="flat" cmpd="sng" algn="ctr">
                      <a:solidFill>
                        <a:srgbClr val="22D3EE"/>
                      </a:solidFill>
                      <a:prstDash val="solid"/>
                      <a:round/>
                      <a:headEnd type="none" w="med" len="med"/>
                      <a:tailEnd type="none" w="med" len="med"/>
                    </a:lnL>
                    <a:lnR w="9525" cap="flat" cmpd="sng" algn="ctr">
                      <a:solidFill>
                        <a:srgbClr val="22D3EE"/>
                      </a:solidFill>
                      <a:prstDash val="solid"/>
                      <a:round/>
                      <a:headEnd type="none" w="med" len="med"/>
                      <a:tailEnd type="none" w="med" len="med"/>
                    </a:lnR>
                    <a:lnT w="9525" cap="flat" cmpd="sng" algn="ctr">
                      <a:solidFill>
                        <a:srgbClr val="22D3EE"/>
                      </a:solidFill>
                      <a:prstDash val="solid"/>
                      <a:round/>
                      <a:headEnd type="none" w="med" len="med"/>
                      <a:tailEnd type="none" w="med" len="med"/>
                    </a:lnT>
                    <a:lnB w="9525" cap="flat" cmpd="sng" algn="ctr">
                      <a:solidFill>
                        <a:srgbClr val="22D3EE"/>
                      </a:solidFill>
                      <a:prstDash val="solid"/>
                      <a:round/>
                      <a:headEnd type="none" w="med" len="med"/>
                      <a:tailEnd type="none" w="med" len="med"/>
                    </a:lnB>
                    <a:solidFill>
                      <a:srgbClr val="22D3EE"/>
                    </a:solidFill>
                  </a:tcPr>
                </a:tc>
                <a:extLst>
                  <a:ext uri="{0D108BD9-81ED-4DB2-BD59-A6C34878D82A}">
                    <a16:rowId xmlns:a16="http://schemas.microsoft.com/office/drawing/2014/main" val="10000"/>
                  </a:ext>
                </a:extLst>
              </a:tr>
              <a:tr h="310896">
                <a:tc>
                  <a:txBody>
                    <a:bodyPr/>
                    <a:lstStyle/>
                    <a:p>
                      <a:pPr marL="0" indent="0" algn="ctr">
                        <a:buNone/>
                      </a:pPr>
                      <a:r>
                        <a:rPr lang="en-US" sz="1200" baseline="0" dirty="0">
                          <a:solidFill>
                            <a:schemeClr val="bg1"/>
                          </a:solidFill>
                        </a:rPr>
                        <a:t>13</a:t>
                      </a:r>
                    </a:p>
                  </a:txBody>
                  <a:tcPr anchor="ctr">
                    <a:lnL w="9525" cap="flat" cmpd="sng" algn="ctr">
                      <a:solidFill>
                        <a:srgbClr val="22D3EE"/>
                      </a:solidFill>
                      <a:prstDash val="solid"/>
                      <a:round/>
                      <a:headEnd type="none" w="med" len="med"/>
                      <a:tailEnd type="none" w="med" len="med"/>
                    </a:lnL>
                    <a:lnR w="9525" cap="flat" cmpd="sng" algn="ctr">
                      <a:solidFill>
                        <a:srgbClr val="22D3EE"/>
                      </a:solidFill>
                      <a:prstDash val="solid"/>
                      <a:round/>
                      <a:headEnd type="none" w="med" len="med"/>
                      <a:tailEnd type="none" w="med" len="med"/>
                    </a:lnR>
                    <a:lnT w="9525" cap="flat" cmpd="sng" algn="ctr">
                      <a:solidFill>
                        <a:srgbClr val="22D3EE"/>
                      </a:solidFill>
                      <a:prstDash val="solid"/>
                      <a:round/>
                      <a:headEnd type="none" w="med" len="med"/>
                      <a:tailEnd type="none" w="med" len="med"/>
                    </a:lnT>
                    <a:lnB w="9525" cap="flat" cmpd="sng" algn="ctr">
                      <a:solidFill>
                        <a:srgbClr val="22D3EE"/>
                      </a:solidFill>
                      <a:prstDash val="solid"/>
                      <a:round/>
                      <a:headEnd type="none" w="med" len="med"/>
                      <a:tailEnd type="none" w="med" len="med"/>
                    </a:lnB>
                    <a:solidFill>
                      <a:srgbClr val="0E2748"/>
                    </a:solidFill>
                  </a:tcPr>
                </a:tc>
                <a:tc>
                  <a:txBody>
                    <a:bodyPr/>
                    <a:lstStyle/>
                    <a:p>
                      <a:pPr marL="0" indent="0" algn="ctr">
                        <a:buNone/>
                      </a:pPr>
                      <a:r>
                        <a:rPr lang="en-US" sz="1200" baseline="0" dirty="0">
                          <a:solidFill>
                            <a:schemeClr val="bg1"/>
                          </a:solidFill>
                          <a:latin typeface="Calibri" charset="0"/>
                          <a:ea typeface="Calibri" charset="0"/>
                          <a:cs typeface="Calibri" charset="0"/>
                        </a:rPr>
                        <a:t>Rohit </a:t>
                      </a:r>
                      <a:r>
                        <a:rPr lang="en-US" sz="1200" baseline="0" dirty="0" err="1">
                          <a:solidFill>
                            <a:schemeClr val="bg1"/>
                          </a:solidFill>
                          <a:latin typeface="Calibri" charset="0"/>
                          <a:ea typeface="Calibri" charset="0"/>
                          <a:cs typeface="Calibri" charset="0"/>
                        </a:rPr>
                        <a:t>Gaware</a:t>
                      </a:r>
                      <a:endParaRPr lang="en-US" sz="1200" baseline="0" dirty="0">
                        <a:solidFill>
                          <a:schemeClr val="bg1"/>
                        </a:solidFill>
                        <a:latin typeface="Calibri" charset="0"/>
                        <a:ea typeface="Calibri" charset="0"/>
                        <a:cs typeface="Calibri" charset="0"/>
                      </a:endParaRPr>
                    </a:p>
                  </a:txBody>
                  <a:tcPr anchor="ctr">
                    <a:lnL w="9525" cap="flat" cmpd="sng" algn="ctr">
                      <a:solidFill>
                        <a:srgbClr val="22D3EE"/>
                      </a:solidFill>
                      <a:prstDash val="solid"/>
                      <a:round/>
                      <a:headEnd type="none" w="med" len="med"/>
                      <a:tailEnd type="none" w="med" len="med"/>
                    </a:lnL>
                    <a:lnR w="9525" cap="flat" cmpd="sng" algn="ctr">
                      <a:solidFill>
                        <a:srgbClr val="22D3EE"/>
                      </a:solidFill>
                      <a:prstDash val="solid"/>
                      <a:round/>
                      <a:headEnd type="none" w="med" len="med"/>
                      <a:tailEnd type="none" w="med" len="med"/>
                    </a:lnR>
                    <a:lnT w="9525" cap="flat" cmpd="sng" algn="ctr">
                      <a:solidFill>
                        <a:srgbClr val="22D3EE"/>
                      </a:solidFill>
                      <a:prstDash val="solid"/>
                      <a:round/>
                      <a:headEnd type="none" w="med" len="med"/>
                      <a:tailEnd type="none" w="med" len="med"/>
                    </a:lnT>
                    <a:lnB w="9525" cap="flat" cmpd="sng" algn="ctr">
                      <a:solidFill>
                        <a:srgbClr val="22D3EE"/>
                      </a:solidFill>
                      <a:prstDash val="solid"/>
                      <a:round/>
                      <a:headEnd type="none" w="med" len="med"/>
                      <a:tailEnd type="none" w="med" len="med"/>
                    </a:lnB>
                    <a:solidFill>
                      <a:srgbClr val="0E2748"/>
                    </a:solidFill>
                  </a:tcPr>
                </a:tc>
                <a:extLst>
                  <a:ext uri="{0D108BD9-81ED-4DB2-BD59-A6C34878D82A}">
                    <a16:rowId xmlns:a16="http://schemas.microsoft.com/office/drawing/2014/main" val="10001"/>
                  </a:ext>
                </a:extLst>
              </a:tr>
              <a:tr h="310896">
                <a:tc>
                  <a:txBody>
                    <a:bodyPr/>
                    <a:lstStyle/>
                    <a:p>
                      <a:pPr marL="0" indent="0" algn="ctr">
                        <a:buNone/>
                      </a:pPr>
                      <a:r>
                        <a:rPr lang="en-US" sz="1200" dirty="0">
                          <a:solidFill>
                            <a:srgbClr val="FFFFFF"/>
                          </a:solidFill>
                          <a:latin typeface="Calibri" pitchFamily="34" charset="0"/>
                          <a:ea typeface="Calibri" pitchFamily="34" charset="-122"/>
                          <a:cs typeface="Calibri" pitchFamily="34" charset="-120"/>
                        </a:rPr>
                        <a:t>22</a:t>
                      </a:r>
                      <a:endParaRPr lang="en-US" sz="1200" dirty="0">
                        <a:latin typeface="Calibri" charset="0"/>
                        <a:ea typeface="Calibri" charset="0"/>
                        <a:cs typeface="Calibri" charset="0"/>
                      </a:endParaRPr>
                    </a:p>
                  </a:txBody>
                  <a:tcPr anchor="ctr">
                    <a:lnL w="9525" cap="flat" cmpd="sng" algn="ctr">
                      <a:solidFill>
                        <a:srgbClr val="22D3EE"/>
                      </a:solidFill>
                      <a:prstDash val="solid"/>
                      <a:round/>
                      <a:headEnd type="none" w="med" len="med"/>
                      <a:tailEnd type="none" w="med" len="med"/>
                    </a:lnL>
                    <a:lnR w="9525" cap="flat" cmpd="sng" algn="ctr">
                      <a:solidFill>
                        <a:srgbClr val="22D3EE"/>
                      </a:solidFill>
                      <a:prstDash val="solid"/>
                      <a:round/>
                      <a:headEnd type="none" w="med" len="med"/>
                      <a:tailEnd type="none" w="med" len="med"/>
                    </a:lnR>
                    <a:lnT w="9525" cap="flat" cmpd="sng" algn="ctr">
                      <a:solidFill>
                        <a:srgbClr val="22D3EE"/>
                      </a:solidFill>
                      <a:prstDash val="solid"/>
                      <a:round/>
                      <a:headEnd type="none" w="med" len="med"/>
                      <a:tailEnd type="none" w="med" len="med"/>
                    </a:lnT>
                    <a:lnB w="9525" cap="flat" cmpd="sng" algn="ctr">
                      <a:solidFill>
                        <a:srgbClr val="22D3EE"/>
                      </a:solidFill>
                      <a:prstDash val="solid"/>
                      <a:round/>
                      <a:headEnd type="none" w="med" len="med"/>
                      <a:tailEnd type="none" w="med" len="med"/>
                    </a:lnB>
                    <a:solidFill>
                      <a:srgbClr val="0A1F3C"/>
                    </a:solidFill>
                  </a:tcPr>
                </a:tc>
                <a:tc>
                  <a:txBody>
                    <a:bodyPr/>
                    <a:lstStyle/>
                    <a:p>
                      <a:pPr marL="0" indent="0" algn="ctr">
                        <a:buNone/>
                      </a:pPr>
                      <a:r>
                        <a:rPr lang="en-US" sz="1200" baseline="0" dirty="0">
                          <a:solidFill>
                            <a:schemeClr val="bg1"/>
                          </a:solidFill>
                          <a:latin typeface="Calibri" charset="0"/>
                          <a:ea typeface="Calibri" charset="0"/>
                          <a:cs typeface="Calibri" charset="0"/>
                        </a:rPr>
                        <a:t>Om </a:t>
                      </a:r>
                      <a:r>
                        <a:rPr lang="en-US" sz="1200" baseline="0" dirty="0" err="1">
                          <a:solidFill>
                            <a:schemeClr val="bg1"/>
                          </a:solidFill>
                          <a:latin typeface="Calibri" charset="0"/>
                          <a:ea typeface="Calibri" charset="0"/>
                          <a:cs typeface="Calibri" charset="0"/>
                        </a:rPr>
                        <a:t>Suryawanshi</a:t>
                      </a:r>
                      <a:endParaRPr lang="en-US" sz="1200" baseline="0" dirty="0">
                        <a:solidFill>
                          <a:schemeClr val="bg1"/>
                        </a:solidFill>
                        <a:latin typeface="Calibri" charset="0"/>
                        <a:ea typeface="Calibri" charset="0"/>
                        <a:cs typeface="Calibri" charset="0"/>
                      </a:endParaRPr>
                    </a:p>
                  </a:txBody>
                  <a:tcPr anchor="ctr">
                    <a:lnL w="9525" cap="flat" cmpd="sng" algn="ctr">
                      <a:solidFill>
                        <a:srgbClr val="22D3EE"/>
                      </a:solidFill>
                      <a:prstDash val="solid"/>
                      <a:round/>
                      <a:headEnd type="none" w="med" len="med"/>
                      <a:tailEnd type="none" w="med" len="med"/>
                    </a:lnL>
                    <a:lnR w="9525" cap="flat" cmpd="sng" algn="ctr">
                      <a:solidFill>
                        <a:srgbClr val="22D3EE"/>
                      </a:solidFill>
                      <a:prstDash val="solid"/>
                      <a:round/>
                      <a:headEnd type="none" w="med" len="med"/>
                      <a:tailEnd type="none" w="med" len="med"/>
                    </a:lnR>
                    <a:lnT w="9525" cap="flat" cmpd="sng" algn="ctr">
                      <a:solidFill>
                        <a:srgbClr val="22D3EE"/>
                      </a:solidFill>
                      <a:prstDash val="solid"/>
                      <a:round/>
                      <a:headEnd type="none" w="med" len="med"/>
                      <a:tailEnd type="none" w="med" len="med"/>
                    </a:lnT>
                    <a:lnB w="9525" cap="flat" cmpd="sng" algn="ctr">
                      <a:solidFill>
                        <a:srgbClr val="22D3EE"/>
                      </a:solidFill>
                      <a:prstDash val="solid"/>
                      <a:round/>
                      <a:headEnd type="none" w="med" len="med"/>
                      <a:tailEnd type="none" w="med" len="med"/>
                    </a:lnB>
                    <a:solidFill>
                      <a:srgbClr val="0A1F3C"/>
                    </a:solidFill>
                  </a:tcPr>
                </a:tc>
                <a:extLst>
                  <a:ext uri="{0D108BD9-81ED-4DB2-BD59-A6C34878D82A}">
                    <a16:rowId xmlns:a16="http://schemas.microsoft.com/office/drawing/2014/main" val="10002"/>
                  </a:ext>
                </a:extLst>
              </a:tr>
              <a:tr h="310896">
                <a:tc>
                  <a:txBody>
                    <a:bodyPr/>
                    <a:lstStyle/>
                    <a:p>
                      <a:pPr marL="0" indent="0" algn="ctr">
                        <a:buNone/>
                      </a:pPr>
                      <a:r>
                        <a:rPr lang="en-US" sz="1200" dirty="0">
                          <a:solidFill>
                            <a:srgbClr val="FFFFFF"/>
                          </a:solidFill>
                          <a:latin typeface="Calibri" pitchFamily="34" charset="0"/>
                          <a:ea typeface="Calibri" pitchFamily="34" charset="-122"/>
                          <a:cs typeface="Calibri" pitchFamily="34" charset="-120"/>
                        </a:rPr>
                        <a:t>25</a:t>
                      </a:r>
                      <a:endParaRPr lang="en-US" sz="1200" dirty="0">
                        <a:latin typeface="Calibri" charset="0"/>
                        <a:ea typeface="Calibri" charset="0"/>
                        <a:cs typeface="Calibri" charset="0"/>
                      </a:endParaRPr>
                    </a:p>
                  </a:txBody>
                  <a:tcPr anchor="ctr">
                    <a:lnL w="9525" cap="flat" cmpd="sng" algn="ctr">
                      <a:solidFill>
                        <a:srgbClr val="22D3EE"/>
                      </a:solidFill>
                      <a:prstDash val="solid"/>
                      <a:round/>
                      <a:headEnd type="none" w="med" len="med"/>
                      <a:tailEnd type="none" w="med" len="med"/>
                    </a:lnL>
                    <a:lnR w="9525" cap="flat" cmpd="sng" algn="ctr">
                      <a:solidFill>
                        <a:srgbClr val="22D3EE"/>
                      </a:solidFill>
                      <a:prstDash val="solid"/>
                      <a:round/>
                      <a:headEnd type="none" w="med" len="med"/>
                      <a:tailEnd type="none" w="med" len="med"/>
                    </a:lnR>
                    <a:lnT w="9525" cap="flat" cmpd="sng" algn="ctr">
                      <a:solidFill>
                        <a:srgbClr val="22D3EE"/>
                      </a:solidFill>
                      <a:prstDash val="solid"/>
                      <a:round/>
                      <a:headEnd type="none" w="med" len="med"/>
                      <a:tailEnd type="none" w="med" len="med"/>
                    </a:lnT>
                    <a:lnB w="9525" cap="flat" cmpd="sng" algn="ctr">
                      <a:solidFill>
                        <a:srgbClr val="22D3EE"/>
                      </a:solidFill>
                      <a:prstDash val="solid"/>
                      <a:round/>
                      <a:headEnd type="none" w="med" len="med"/>
                      <a:tailEnd type="none" w="med" len="med"/>
                    </a:lnB>
                    <a:solidFill>
                      <a:srgbClr val="0E2748"/>
                    </a:solidFill>
                  </a:tcPr>
                </a:tc>
                <a:tc>
                  <a:txBody>
                    <a:bodyPr/>
                    <a:lstStyle/>
                    <a:p>
                      <a:pPr marL="0" indent="0" algn="ctr">
                        <a:buNone/>
                      </a:pPr>
                      <a:r>
                        <a:rPr lang="en-US" sz="1200" dirty="0">
                          <a:solidFill>
                            <a:srgbClr val="FFFFFF"/>
                          </a:solidFill>
                          <a:latin typeface="Calibri" pitchFamily="34" charset="0"/>
                          <a:ea typeface="Calibri" pitchFamily="34" charset="-122"/>
                          <a:cs typeface="Calibri" pitchFamily="34" charset="-120"/>
                        </a:rPr>
                        <a:t>Krishna </a:t>
                      </a:r>
                      <a:r>
                        <a:rPr lang="en-US" sz="1200" dirty="0" err="1">
                          <a:solidFill>
                            <a:srgbClr val="FFFFFF"/>
                          </a:solidFill>
                          <a:latin typeface="Calibri" pitchFamily="34" charset="0"/>
                          <a:ea typeface="Calibri" pitchFamily="34" charset="-122"/>
                          <a:cs typeface="Calibri" pitchFamily="34" charset="-120"/>
                        </a:rPr>
                        <a:t>Bachkar</a:t>
                      </a:r>
                      <a:endParaRPr lang="en-US" sz="1200" dirty="0">
                        <a:latin typeface="Calibri" charset="0"/>
                        <a:ea typeface="Calibri" charset="0"/>
                        <a:cs typeface="Calibri" charset="0"/>
                      </a:endParaRPr>
                    </a:p>
                  </a:txBody>
                  <a:tcPr anchor="ctr">
                    <a:lnL w="9525" cap="flat" cmpd="sng" algn="ctr">
                      <a:solidFill>
                        <a:srgbClr val="22D3EE"/>
                      </a:solidFill>
                      <a:prstDash val="solid"/>
                      <a:round/>
                      <a:headEnd type="none" w="med" len="med"/>
                      <a:tailEnd type="none" w="med" len="med"/>
                    </a:lnL>
                    <a:lnR w="9525" cap="flat" cmpd="sng" algn="ctr">
                      <a:solidFill>
                        <a:srgbClr val="22D3EE"/>
                      </a:solidFill>
                      <a:prstDash val="solid"/>
                      <a:round/>
                      <a:headEnd type="none" w="med" len="med"/>
                      <a:tailEnd type="none" w="med" len="med"/>
                    </a:lnR>
                    <a:lnT w="9525" cap="flat" cmpd="sng" algn="ctr">
                      <a:solidFill>
                        <a:srgbClr val="22D3EE"/>
                      </a:solidFill>
                      <a:prstDash val="solid"/>
                      <a:round/>
                      <a:headEnd type="none" w="med" len="med"/>
                      <a:tailEnd type="none" w="med" len="med"/>
                    </a:lnT>
                    <a:lnB w="9525" cap="flat" cmpd="sng" algn="ctr">
                      <a:solidFill>
                        <a:srgbClr val="22D3EE"/>
                      </a:solidFill>
                      <a:prstDash val="solid"/>
                      <a:round/>
                      <a:headEnd type="none" w="med" len="med"/>
                      <a:tailEnd type="none" w="med" len="med"/>
                    </a:lnB>
                    <a:solidFill>
                      <a:srgbClr val="0E2748"/>
                    </a:solidFill>
                  </a:tcPr>
                </a:tc>
                <a:extLst>
                  <a:ext uri="{0D108BD9-81ED-4DB2-BD59-A6C34878D82A}">
                    <a16:rowId xmlns:a16="http://schemas.microsoft.com/office/drawing/2014/main" val="10003"/>
                  </a:ext>
                </a:extLst>
              </a:tr>
              <a:tr h="310896">
                <a:tc>
                  <a:txBody>
                    <a:bodyPr/>
                    <a:lstStyle/>
                    <a:p>
                      <a:pPr marL="0" indent="0" algn="ctr">
                        <a:buNone/>
                      </a:pPr>
                      <a:r>
                        <a:rPr lang="en-US" sz="1200" dirty="0">
                          <a:solidFill>
                            <a:srgbClr val="FFFFFF"/>
                          </a:solidFill>
                          <a:latin typeface="Calibri" pitchFamily="34" charset="0"/>
                          <a:ea typeface="Calibri" pitchFamily="34" charset="-122"/>
                          <a:cs typeface="Calibri" pitchFamily="34" charset="-120"/>
                        </a:rPr>
                        <a:t>43</a:t>
                      </a:r>
                      <a:endParaRPr lang="en-US" sz="1200" dirty="0">
                        <a:latin typeface="Calibri" charset="0"/>
                        <a:ea typeface="Calibri" charset="0"/>
                        <a:cs typeface="Calibri" charset="0"/>
                      </a:endParaRPr>
                    </a:p>
                  </a:txBody>
                  <a:tcPr anchor="ctr">
                    <a:lnL w="9525" cap="flat" cmpd="sng" algn="ctr">
                      <a:solidFill>
                        <a:srgbClr val="22D3EE"/>
                      </a:solidFill>
                      <a:prstDash val="solid"/>
                      <a:round/>
                      <a:headEnd type="none" w="med" len="med"/>
                      <a:tailEnd type="none" w="med" len="med"/>
                    </a:lnL>
                    <a:lnR w="9525" cap="flat" cmpd="sng" algn="ctr">
                      <a:solidFill>
                        <a:srgbClr val="22D3EE"/>
                      </a:solidFill>
                      <a:prstDash val="solid"/>
                      <a:round/>
                      <a:headEnd type="none" w="med" len="med"/>
                      <a:tailEnd type="none" w="med" len="med"/>
                    </a:lnR>
                    <a:lnT w="9525" cap="flat" cmpd="sng" algn="ctr">
                      <a:solidFill>
                        <a:srgbClr val="22D3EE"/>
                      </a:solidFill>
                      <a:prstDash val="solid"/>
                      <a:round/>
                      <a:headEnd type="none" w="med" len="med"/>
                      <a:tailEnd type="none" w="med" len="med"/>
                    </a:lnT>
                    <a:lnB w="9525" cap="flat" cmpd="sng" algn="ctr">
                      <a:solidFill>
                        <a:srgbClr val="22D3EE"/>
                      </a:solidFill>
                      <a:prstDash val="solid"/>
                      <a:round/>
                      <a:headEnd type="none" w="med" len="med"/>
                      <a:tailEnd type="none" w="med" len="med"/>
                    </a:lnB>
                    <a:solidFill>
                      <a:srgbClr val="0A1F3C"/>
                    </a:solidFill>
                  </a:tcPr>
                </a:tc>
                <a:tc>
                  <a:txBody>
                    <a:bodyPr/>
                    <a:lstStyle/>
                    <a:p>
                      <a:pPr marL="0" indent="0" algn="ctr">
                        <a:buNone/>
                      </a:pPr>
                      <a:r>
                        <a:rPr lang="en-US" sz="1200" dirty="0">
                          <a:solidFill>
                            <a:srgbClr val="FFFFFF"/>
                          </a:solidFill>
                          <a:latin typeface="Calibri" pitchFamily="34" charset="0"/>
                          <a:ea typeface="Calibri" pitchFamily="34" charset="-122"/>
                          <a:cs typeface="Calibri" pitchFamily="34" charset="-120"/>
                        </a:rPr>
                        <a:t>Prathamesh Desai</a:t>
                      </a:r>
                      <a:endParaRPr lang="en-US" sz="1200" dirty="0">
                        <a:latin typeface="Calibri" charset="0"/>
                        <a:ea typeface="Calibri" charset="0"/>
                        <a:cs typeface="Calibri" charset="0"/>
                      </a:endParaRPr>
                    </a:p>
                  </a:txBody>
                  <a:tcPr anchor="ctr">
                    <a:lnL w="9525" cap="flat" cmpd="sng" algn="ctr">
                      <a:solidFill>
                        <a:srgbClr val="22D3EE"/>
                      </a:solidFill>
                      <a:prstDash val="solid"/>
                      <a:round/>
                      <a:headEnd type="none" w="med" len="med"/>
                      <a:tailEnd type="none" w="med" len="med"/>
                    </a:lnL>
                    <a:lnR w="9525" cap="flat" cmpd="sng" algn="ctr">
                      <a:solidFill>
                        <a:srgbClr val="22D3EE"/>
                      </a:solidFill>
                      <a:prstDash val="solid"/>
                      <a:round/>
                      <a:headEnd type="none" w="med" len="med"/>
                      <a:tailEnd type="none" w="med" len="med"/>
                    </a:lnR>
                    <a:lnT w="9525" cap="flat" cmpd="sng" algn="ctr">
                      <a:solidFill>
                        <a:srgbClr val="22D3EE"/>
                      </a:solidFill>
                      <a:prstDash val="solid"/>
                      <a:round/>
                      <a:headEnd type="none" w="med" len="med"/>
                      <a:tailEnd type="none" w="med" len="med"/>
                    </a:lnT>
                    <a:lnB w="9525" cap="flat" cmpd="sng" algn="ctr">
                      <a:solidFill>
                        <a:srgbClr val="22D3EE"/>
                      </a:solidFill>
                      <a:prstDash val="solid"/>
                      <a:round/>
                      <a:headEnd type="none" w="med" len="med"/>
                      <a:tailEnd type="none" w="med" len="med"/>
                    </a:lnB>
                    <a:solidFill>
                      <a:srgbClr val="0A1F3C"/>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lide chip"/>
          <p:cNvSpPr txBox="1"/>
          <p:nvPr/>
        </p:nvSpPr>
        <p:spPr>
          <a:xfrm>
            <a:off x="457200" y="274320"/>
            <a:ext cx="640080" cy="640080"/>
          </a:xfrm>
          <a:prstGeom prst="roundRect">
            <a:avLst>
              <a:gd name="adj" fmla="val 14286"/>
            </a:avLst>
          </a:prstGeom>
          <a:solidFill>
            <a:srgbClr val="22D3EE"/>
          </a:solidFill>
          <a:ln/>
        </p:spPr>
        <p:txBody>
          <a:bodyPr wrap="square" lIns="0" tIns="0" rIns="0" bIns="0" rtlCol="0" anchor="ctr"/>
          <a:lstStyle/>
          <a:p>
            <a:pPr marL="0" indent="0" algn="ctr">
              <a:buNone/>
            </a:pPr>
            <a:r>
              <a:rPr lang="en-US" sz="2200" b="1" dirty="0">
                <a:solidFill>
                  <a:srgbClr val="071428"/>
                </a:solidFill>
              </a:rPr>
              <a:t>02</a:t>
            </a:r>
            <a:endParaRPr lang="en-US" sz="2200" dirty="0"/>
          </a:p>
        </p:txBody>
      </p:sp>
      <p:sp>
        <p:nvSpPr>
          <p:cNvPr id="3" name="Text 0"/>
          <p:cNvSpPr>
            <a:spLocks noGrp="1"/>
          </p:cNvSpPr>
          <p:nvPr>
            <p:ph type="title" idx="100" hasCustomPrompt="1"/>
          </p:nvPr>
        </p:nvSpPr>
        <p:spPr>
          <a:xfrm>
            <a:off x="1280160" y="256032"/>
            <a:ext cx="10424160" cy="685800"/>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What is Network Slicing?</a:t>
            </a:r>
            <a:endParaRPr lang="en-US" sz="3000" dirty="0"/>
          </a:p>
        </p:txBody>
      </p:sp>
      <p:sp>
        <p:nvSpPr>
          <p:cNvPr id="4" name="Text 2"/>
          <p:cNvSpPr txBox="1"/>
          <p:nvPr/>
        </p:nvSpPr>
        <p:spPr>
          <a:xfrm>
            <a:off x="1371600" y="1600200"/>
            <a:ext cx="5120640" cy="777240"/>
          </a:xfrm>
          <a:prstGeom prst="parallelogram">
            <a:avLst/>
          </a:prstGeom>
          <a:solidFill>
            <a:srgbClr val="22D3EE"/>
          </a:solidFill>
          <a:ln>
            <a:solidFill>
              <a:srgbClr val="22D3EE"/>
            </a:solidFill>
          </a:ln>
        </p:spPr>
        <p:txBody>
          <a:bodyPr wrap="square" lIns="0" tIns="0" rIns="0" bIns="0" rtlCol="0" anchor="ctr"/>
          <a:lstStyle/>
          <a:p>
            <a:pPr marL="0" indent="0" algn="ctr">
              <a:buNone/>
            </a:pPr>
            <a:r>
              <a:rPr lang="en-US" sz="1700" b="1" dirty="0">
                <a:solidFill>
                  <a:srgbClr val="071428"/>
                </a:solidFill>
              </a:rPr>
              <a:t>Slice 1 · Video streaming</a:t>
            </a:r>
            <a:endParaRPr lang="en-US" sz="1700" dirty="0"/>
          </a:p>
        </p:txBody>
      </p:sp>
      <p:sp>
        <p:nvSpPr>
          <p:cNvPr id="5" name="Shape 3"/>
          <p:cNvSpPr/>
          <p:nvPr/>
        </p:nvSpPr>
        <p:spPr>
          <a:xfrm>
            <a:off x="457200" y="1664208"/>
            <a:ext cx="658368" cy="658368"/>
          </a:xfrm>
          <a:prstGeom prst="ellipse">
            <a:avLst/>
          </a:prstGeom>
          <a:solidFill>
            <a:srgbClr val="0E2748"/>
          </a:solidFill>
          <a:ln w="19050">
            <a:solidFill>
              <a:srgbClr val="22D3EE"/>
            </a:solidFill>
            <a:prstDash val="solid"/>
          </a:ln>
        </p:spPr>
      </p:sp>
      <p:pic>
        <p:nvPicPr>
          <p:cNvPr id="6" name="Image 0" descr="preencoded.png"/>
          <p:cNvPicPr>
            <a:picLocks noChangeAspect="1"/>
          </p:cNvPicPr>
          <p:nvPr/>
        </p:nvPicPr>
        <p:blipFill>
          <a:blip r:embed="rId3"/>
          <a:stretch>
            <a:fillRect/>
          </a:stretch>
        </p:blipFill>
        <p:spPr>
          <a:xfrm>
            <a:off x="612648" y="1819656"/>
            <a:ext cx="347472" cy="347472"/>
          </a:xfrm>
          <a:prstGeom prst="rect">
            <a:avLst/>
          </a:prstGeom>
        </p:spPr>
      </p:pic>
      <p:sp>
        <p:nvSpPr>
          <p:cNvPr id="7" name="Text 4"/>
          <p:cNvSpPr txBox="1"/>
          <p:nvPr/>
        </p:nvSpPr>
        <p:spPr>
          <a:xfrm>
            <a:off x="1371600" y="2697480"/>
            <a:ext cx="5120640" cy="777240"/>
          </a:xfrm>
          <a:prstGeom prst="parallelogram">
            <a:avLst/>
          </a:prstGeom>
          <a:solidFill>
            <a:srgbClr val="A78BFA"/>
          </a:solidFill>
          <a:ln>
            <a:solidFill>
              <a:srgbClr val="A78BFA"/>
            </a:solidFill>
          </a:ln>
        </p:spPr>
        <p:txBody>
          <a:bodyPr wrap="square" lIns="0" tIns="0" rIns="0" bIns="0" rtlCol="0" anchor="ctr"/>
          <a:lstStyle/>
          <a:p>
            <a:pPr marL="0" indent="0" algn="ctr">
              <a:buNone/>
            </a:pPr>
            <a:r>
              <a:rPr lang="en-US" sz="1700" b="1" dirty="0">
                <a:solidFill>
                  <a:srgbClr val="071428"/>
                </a:solidFill>
              </a:rPr>
              <a:t>Slice 2 · Self-driving cars</a:t>
            </a:r>
            <a:endParaRPr lang="en-US" sz="1700" dirty="0"/>
          </a:p>
        </p:txBody>
      </p:sp>
      <p:sp>
        <p:nvSpPr>
          <p:cNvPr id="8" name="Shape 5"/>
          <p:cNvSpPr/>
          <p:nvPr/>
        </p:nvSpPr>
        <p:spPr>
          <a:xfrm>
            <a:off x="457200" y="2761488"/>
            <a:ext cx="658368" cy="658368"/>
          </a:xfrm>
          <a:prstGeom prst="ellipse">
            <a:avLst/>
          </a:prstGeom>
          <a:solidFill>
            <a:srgbClr val="0E2748"/>
          </a:solidFill>
          <a:ln w="19050">
            <a:solidFill>
              <a:srgbClr val="A78BFA"/>
            </a:solidFill>
            <a:prstDash val="solid"/>
          </a:ln>
        </p:spPr>
      </p:sp>
      <p:pic>
        <p:nvPicPr>
          <p:cNvPr id="9" name="Image 1" descr="preencoded.png"/>
          <p:cNvPicPr>
            <a:picLocks noChangeAspect="1"/>
          </p:cNvPicPr>
          <p:nvPr/>
        </p:nvPicPr>
        <p:blipFill>
          <a:blip r:embed="rId4"/>
          <a:stretch>
            <a:fillRect/>
          </a:stretch>
        </p:blipFill>
        <p:spPr>
          <a:xfrm>
            <a:off x="612648" y="2916936"/>
            <a:ext cx="347472" cy="347472"/>
          </a:xfrm>
          <a:prstGeom prst="rect">
            <a:avLst/>
          </a:prstGeom>
        </p:spPr>
      </p:pic>
      <p:sp>
        <p:nvSpPr>
          <p:cNvPr id="10" name="Text 6"/>
          <p:cNvSpPr txBox="1"/>
          <p:nvPr/>
        </p:nvSpPr>
        <p:spPr>
          <a:xfrm>
            <a:off x="1371600" y="3794760"/>
            <a:ext cx="5120640" cy="777240"/>
          </a:xfrm>
          <a:prstGeom prst="parallelogram">
            <a:avLst/>
          </a:prstGeom>
          <a:solidFill>
            <a:srgbClr val="34D399"/>
          </a:solidFill>
          <a:ln>
            <a:solidFill>
              <a:srgbClr val="34D399"/>
            </a:solidFill>
          </a:ln>
        </p:spPr>
        <p:txBody>
          <a:bodyPr wrap="square" lIns="0" tIns="0" rIns="0" bIns="0" rtlCol="0" anchor="ctr"/>
          <a:lstStyle/>
          <a:p>
            <a:pPr marL="0" indent="0" algn="ctr">
              <a:buNone/>
            </a:pPr>
            <a:r>
              <a:rPr lang="en-US" sz="1700" b="1" dirty="0">
                <a:solidFill>
                  <a:srgbClr val="071428"/>
                </a:solidFill>
              </a:rPr>
              <a:t>Slice 3 · IoT sensors</a:t>
            </a:r>
            <a:endParaRPr lang="en-US" sz="1700" dirty="0"/>
          </a:p>
        </p:txBody>
      </p:sp>
      <p:sp>
        <p:nvSpPr>
          <p:cNvPr id="11" name="Shape 7"/>
          <p:cNvSpPr/>
          <p:nvPr/>
        </p:nvSpPr>
        <p:spPr>
          <a:xfrm>
            <a:off x="457200" y="3858768"/>
            <a:ext cx="658368" cy="658368"/>
          </a:xfrm>
          <a:prstGeom prst="ellipse">
            <a:avLst/>
          </a:prstGeom>
          <a:solidFill>
            <a:srgbClr val="0E2748"/>
          </a:solidFill>
          <a:ln w="19050">
            <a:solidFill>
              <a:srgbClr val="34D399"/>
            </a:solidFill>
            <a:prstDash val="solid"/>
          </a:ln>
        </p:spPr>
      </p:sp>
      <p:pic>
        <p:nvPicPr>
          <p:cNvPr id="12" name="Image 2" descr="preencoded.png"/>
          <p:cNvPicPr>
            <a:picLocks noChangeAspect="1"/>
          </p:cNvPicPr>
          <p:nvPr/>
        </p:nvPicPr>
        <p:blipFill>
          <a:blip r:embed="rId5"/>
          <a:stretch>
            <a:fillRect/>
          </a:stretch>
        </p:blipFill>
        <p:spPr>
          <a:xfrm>
            <a:off x="612648" y="4014216"/>
            <a:ext cx="347472" cy="347472"/>
          </a:xfrm>
          <a:prstGeom prst="rect">
            <a:avLst/>
          </a:prstGeom>
        </p:spPr>
      </p:pic>
      <p:sp>
        <p:nvSpPr>
          <p:cNvPr id="13" name="Shape 8"/>
          <p:cNvSpPr/>
          <p:nvPr/>
        </p:nvSpPr>
        <p:spPr>
          <a:xfrm>
            <a:off x="2377440" y="4572000"/>
            <a:ext cx="0" cy="457200"/>
          </a:xfrm>
          <a:prstGeom prst="line">
            <a:avLst/>
          </a:prstGeom>
          <a:noFill/>
          <a:ln w="15875">
            <a:solidFill>
              <a:srgbClr val="8FB3D9"/>
            </a:solidFill>
            <a:prstDash val="dash"/>
          </a:ln>
        </p:spPr>
      </p:sp>
      <p:sp>
        <p:nvSpPr>
          <p:cNvPr id="14" name="Shape 9"/>
          <p:cNvSpPr/>
          <p:nvPr/>
        </p:nvSpPr>
        <p:spPr>
          <a:xfrm>
            <a:off x="3931920" y="4572000"/>
            <a:ext cx="0" cy="457200"/>
          </a:xfrm>
          <a:prstGeom prst="line">
            <a:avLst/>
          </a:prstGeom>
          <a:noFill/>
          <a:ln w="15875">
            <a:solidFill>
              <a:srgbClr val="8FB3D9"/>
            </a:solidFill>
            <a:prstDash val="dash"/>
          </a:ln>
        </p:spPr>
      </p:sp>
      <p:sp>
        <p:nvSpPr>
          <p:cNvPr id="15" name="Shape 10"/>
          <p:cNvSpPr/>
          <p:nvPr/>
        </p:nvSpPr>
        <p:spPr>
          <a:xfrm>
            <a:off x="5486400" y="4572000"/>
            <a:ext cx="0" cy="457200"/>
          </a:xfrm>
          <a:prstGeom prst="line">
            <a:avLst/>
          </a:prstGeom>
          <a:noFill/>
          <a:ln w="15875">
            <a:solidFill>
              <a:srgbClr val="8FB3D9"/>
            </a:solidFill>
            <a:prstDash val="dash"/>
          </a:ln>
        </p:spPr>
      </p:sp>
      <p:sp>
        <p:nvSpPr>
          <p:cNvPr id="16" name="Shape 11"/>
          <p:cNvSpPr/>
          <p:nvPr/>
        </p:nvSpPr>
        <p:spPr>
          <a:xfrm>
            <a:off x="548640" y="5029200"/>
            <a:ext cx="6309360" cy="1234440"/>
          </a:xfrm>
          <a:prstGeom prst="roundRect">
            <a:avLst>
              <a:gd name="adj" fmla="val 8889"/>
            </a:avLst>
          </a:prstGeom>
          <a:solidFill>
            <a:srgbClr val="12326A"/>
          </a:solidFill>
          <a:ln w="19050">
            <a:solidFill>
              <a:srgbClr val="3B82F6"/>
            </a:solidFill>
            <a:prstDash val="solid"/>
          </a:ln>
        </p:spPr>
      </p:sp>
      <p:pic>
        <p:nvPicPr>
          <p:cNvPr id="17" name="Image 3" descr="preencoded.png"/>
          <p:cNvPicPr>
            <a:picLocks noChangeAspect="1"/>
          </p:cNvPicPr>
          <p:nvPr/>
        </p:nvPicPr>
        <p:blipFill>
          <a:blip r:embed="rId6"/>
          <a:stretch>
            <a:fillRect/>
          </a:stretch>
        </p:blipFill>
        <p:spPr>
          <a:xfrm>
            <a:off x="1280160" y="5138928"/>
            <a:ext cx="457200" cy="457200"/>
          </a:xfrm>
          <a:prstGeom prst="rect">
            <a:avLst/>
          </a:prstGeom>
        </p:spPr>
      </p:pic>
      <p:pic>
        <p:nvPicPr>
          <p:cNvPr id="18" name="Image 4" descr="preencoded.png"/>
          <p:cNvPicPr>
            <a:picLocks noChangeAspect="1"/>
          </p:cNvPicPr>
          <p:nvPr/>
        </p:nvPicPr>
        <p:blipFill>
          <a:blip r:embed="rId7"/>
          <a:stretch>
            <a:fillRect/>
          </a:stretch>
        </p:blipFill>
        <p:spPr>
          <a:xfrm>
            <a:off x="3291840" y="5138928"/>
            <a:ext cx="457200" cy="457200"/>
          </a:xfrm>
          <a:prstGeom prst="rect">
            <a:avLst/>
          </a:prstGeom>
        </p:spPr>
      </p:pic>
      <p:pic>
        <p:nvPicPr>
          <p:cNvPr id="19" name="Image 5" descr="preencoded.png"/>
          <p:cNvPicPr>
            <a:picLocks noChangeAspect="1"/>
          </p:cNvPicPr>
          <p:nvPr/>
        </p:nvPicPr>
        <p:blipFill>
          <a:blip r:embed="rId8"/>
          <a:stretch>
            <a:fillRect/>
          </a:stretch>
        </p:blipFill>
        <p:spPr>
          <a:xfrm>
            <a:off x="5349240" y="5138928"/>
            <a:ext cx="457200" cy="457200"/>
          </a:xfrm>
          <a:prstGeom prst="rect">
            <a:avLst/>
          </a:prstGeom>
        </p:spPr>
      </p:pic>
      <p:sp>
        <p:nvSpPr>
          <p:cNvPr id="20" name="Text 12"/>
          <p:cNvSpPr txBox="1"/>
          <p:nvPr/>
        </p:nvSpPr>
        <p:spPr>
          <a:xfrm>
            <a:off x="548640" y="5669280"/>
            <a:ext cx="630936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One shared physical network</a:t>
            </a:r>
            <a:endParaRPr lang="en-US" sz="1800" dirty="0"/>
          </a:p>
        </p:txBody>
      </p:sp>
      <p:sp>
        <p:nvSpPr>
          <p:cNvPr id="21" name="Shape 13"/>
          <p:cNvSpPr/>
          <p:nvPr/>
        </p:nvSpPr>
        <p:spPr>
          <a:xfrm>
            <a:off x="7498080" y="1417320"/>
            <a:ext cx="4206240" cy="1371600"/>
          </a:xfrm>
          <a:prstGeom prst="roundRect">
            <a:avLst>
              <a:gd name="adj" fmla="val 8000"/>
            </a:avLst>
          </a:prstGeom>
          <a:solidFill>
            <a:srgbClr val="0A1F3C"/>
          </a:solidFill>
          <a:ln w="19050">
            <a:solidFill>
              <a:srgbClr val="22D3EE"/>
            </a:solidFill>
            <a:prstDash val="solid"/>
          </a:ln>
        </p:spPr>
      </p:sp>
      <p:sp>
        <p:nvSpPr>
          <p:cNvPr id="22" name="Text 14"/>
          <p:cNvSpPr txBox="1"/>
          <p:nvPr/>
        </p:nvSpPr>
        <p:spPr>
          <a:xfrm>
            <a:off x="7680960" y="1463040"/>
            <a:ext cx="3840480" cy="128016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One physical network</a:t>
            </a:r>
            <a:endParaRPr lang="en-US" sz="2400" dirty="0"/>
          </a:p>
          <a:p>
            <a:pPr marL="0" indent="0" algn="ctr">
              <a:buNone/>
            </a:pPr>
            <a:r>
              <a:rPr lang="en-US" sz="2400" b="1" dirty="0">
                <a:solidFill>
                  <a:srgbClr val="22D3EE"/>
                </a:solidFill>
                <a:latin typeface="Calibri" pitchFamily="34" charset="0"/>
                <a:ea typeface="Calibri" pitchFamily="34" charset="-122"/>
                <a:cs typeface="Calibri" pitchFamily="34" charset="-120"/>
              </a:rPr>
              <a:t>many virtual networks</a:t>
            </a:r>
            <a:endParaRPr lang="en-US" sz="2400" dirty="0"/>
          </a:p>
        </p:txBody>
      </p:sp>
      <p:sp>
        <p:nvSpPr>
          <p:cNvPr id="23" name="Shape 15"/>
          <p:cNvSpPr/>
          <p:nvPr/>
        </p:nvSpPr>
        <p:spPr>
          <a:xfrm>
            <a:off x="7498080" y="3108960"/>
            <a:ext cx="777240" cy="777240"/>
          </a:xfrm>
          <a:prstGeom prst="ellipse">
            <a:avLst/>
          </a:prstGeom>
          <a:solidFill>
            <a:srgbClr val="0E2748"/>
          </a:solidFill>
          <a:ln w="19050">
            <a:solidFill>
              <a:srgbClr val="22D3EE"/>
            </a:solidFill>
            <a:prstDash val="solid"/>
          </a:ln>
        </p:spPr>
      </p:sp>
      <p:pic>
        <p:nvPicPr>
          <p:cNvPr id="24" name="Image 6" descr="preencoded.png"/>
          <p:cNvPicPr>
            <a:picLocks noChangeAspect="1"/>
          </p:cNvPicPr>
          <p:nvPr/>
        </p:nvPicPr>
        <p:blipFill>
          <a:blip r:embed="rId9"/>
          <a:stretch>
            <a:fillRect/>
          </a:stretch>
        </p:blipFill>
        <p:spPr>
          <a:xfrm>
            <a:off x="7708392" y="3319272"/>
            <a:ext cx="365760" cy="365760"/>
          </a:xfrm>
          <a:prstGeom prst="rect">
            <a:avLst/>
          </a:prstGeom>
        </p:spPr>
      </p:pic>
      <p:sp>
        <p:nvSpPr>
          <p:cNvPr id="25" name="Text 16"/>
          <p:cNvSpPr txBox="1"/>
          <p:nvPr/>
        </p:nvSpPr>
        <p:spPr>
          <a:xfrm>
            <a:off x="8503920" y="3108960"/>
            <a:ext cx="3200400" cy="77724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Independent virtual slices</a:t>
            </a:r>
            <a:endParaRPr lang="en-US" sz="1800" dirty="0"/>
          </a:p>
        </p:txBody>
      </p:sp>
      <p:sp>
        <p:nvSpPr>
          <p:cNvPr id="26" name="Shape 17"/>
          <p:cNvSpPr/>
          <p:nvPr/>
        </p:nvSpPr>
        <p:spPr>
          <a:xfrm>
            <a:off x="7498080" y="4160520"/>
            <a:ext cx="777240" cy="777240"/>
          </a:xfrm>
          <a:prstGeom prst="ellipse">
            <a:avLst/>
          </a:prstGeom>
          <a:solidFill>
            <a:srgbClr val="0E2748"/>
          </a:solidFill>
          <a:ln w="19050">
            <a:solidFill>
              <a:srgbClr val="A78BFA"/>
            </a:solidFill>
            <a:prstDash val="solid"/>
          </a:ln>
        </p:spPr>
      </p:sp>
      <p:pic>
        <p:nvPicPr>
          <p:cNvPr id="27" name="Image 7" descr="preencoded.png"/>
          <p:cNvPicPr>
            <a:picLocks noChangeAspect="1"/>
          </p:cNvPicPr>
          <p:nvPr/>
        </p:nvPicPr>
        <p:blipFill>
          <a:blip r:embed="rId10"/>
          <a:stretch>
            <a:fillRect/>
          </a:stretch>
        </p:blipFill>
        <p:spPr>
          <a:xfrm>
            <a:off x="7708392" y="4370832"/>
            <a:ext cx="365760" cy="365760"/>
          </a:xfrm>
          <a:prstGeom prst="rect">
            <a:avLst/>
          </a:prstGeom>
        </p:spPr>
      </p:pic>
      <p:sp>
        <p:nvSpPr>
          <p:cNvPr id="28" name="Text 18"/>
          <p:cNvSpPr txBox="1"/>
          <p:nvPr/>
        </p:nvSpPr>
        <p:spPr>
          <a:xfrm>
            <a:off x="8503920" y="4160520"/>
            <a:ext cx="3200400" cy="77724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Own bandwidth, latency, reliability</a:t>
            </a:r>
            <a:endParaRPr lang="en-US" sz="1800" dirty="0"/>
          </a:p>
        </p:txBody>
      </p:sp>
      <p:sp>
        <p:nvSpPr>
          <p:cNvPr id="29" name="Shape 19"/>
          <p:cNvSpPr/>
          <p:nvPr/>
        </p:nvSpPr>
        <p:spPr>
          <a:xfrm>
            <a:off x="7498080" y="5212080"/>
            <a:ext cx="777240" cy="777240"/>
          </a:xfrm>
          <a:prstGeom prst="ellipse">
            <a:avLst/>
          </a:prstGeom>
          <a:solidFill>
            <a:srgbClr val="0E2748"/>
          </a:solidFill>
          <a:ln w="19050">
            <a:solidFill>
              <a:srgbClr val="34D399"/>
            </a:solidFill>
            <a:prstDash val="solid"/>
          </a:ln>
        </p:spPr>
      </p:sp>
      <p:pic>
        <p:nvPicPr>
          <p:cNvPr id="30" name="Image 8" descr="preencoded.png"/>
          <p:cNvPicPr>
            <a:picLocks noChangeAspect="1"/>
          </p:cNvPicPr>
          <p:nvPr/>
        </p:nvPicPr>
        <p:blipFill>
          <a:blip r:embed="rId11"/>
          <a:stretch>
            <a:fillRect/>
          </a:stretch>
        </p:blipFill>
        <p:spPr>
          <a:xfrm>
            <a:off x="7708392" y="5422392"/>
            <a:ext cx="365760" cy="365760"/>
          </a:xfrm>
          <a:prstGeom prst="rect">
            <a:avLst/>
          </a:prstGeom>
        </p:spPr>
      </p:pic>
      <p:sp>
        <p:nvSpPr>
          <p:cNvPr id="31" name="Text 20"/>
          <p:cNvSpPr txBox="1"/>
          <p:nvPr/>
        </p:nvSpPr>
        <p:spPr>
          <a:xfrm>
            <a:off x="8503920" y="5212080"/>
            <a:ext cx="3200400" cy="77724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Shared resources, less waste</a:t>
            </a:r>
            <a:endParaRPr lang="en-US" sz="1800" dirty="0"/>
          </a:p>
        </p:txBody>
      </p:sp>
      <p:sp>
        <p:nvSpPr>
          <p:cNvPr id="32" name="Slide Number Placeholder 0"/>
          <p:cNvSpPr>
            <a:spLocks noGrp="1"/>
          </p:cNvSpPr>
          <p:nvPr>
            <p:ph type="sldNum" sz="quarter" idx="4294967295"/>
          </p:nvPr>
        </p:nvSpPr>
        <p:spPr>
          <a:xfrm>
            <a:off x="11064240" y="6473952"/>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B3D9"/>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lide chip"/>
          <p:cNvSpPr txBox="1"/>
          <p:nvPr/>
        </p:nvSpPr>
        <p:spPr>
          <a:xfrm>
            <a:off x="457200" y="274320"/>
            <a:ext cx="640080" cy="640080"/>
          </a:xfrm>
          <a:prstGeom prst="roundRect">
            <a:avLst>
              <a:gd name="adj" fmla="val 14286"/>
            </a:avLst>
          </a:prstGeom>
          <a:solidFill>
            <a:srgbClr val="22D3EE"/>
          </a:solidFill>
          <a:ln/>
        </p:spPr>
        <p:txBody>
          <a:bodyPr wrap="square" lIns="0" tIns="0" rIns="0" bIns="0" rtlCol="0" anchor="ctr"/>
          <a:lstStyle/>
          <a:p>
            <a:pPr marL="0" indent="0" algn="ctr">
              <a:buNone/>
            </a:pPr>
            <a:r>
              <a:rPr lang="en-US" sz="2200" b="1" dirty="0">
                <a:solidFill>
                  <a:srgbClr val="071428"/>
                </a:solidFill>
              </a:rPr>
              <a:t>03</a:t>
            </a:r>
            <a:endParaRPr lang="en-US" sz="2200" dirty="0"/>
          </a:p>
        </p:txBody>
      </p:sp>
      <p:sp>
        <p:nvSpPr>
          <p:cNvPr id="3" name="Text 0"/>
          <p:cNvSpPr>
            <a:spLocks noGrp="1"/>
          </p:cNvSpPr>
          <p:nvPr>
            <p:ph type="title" idx="100" hasCustomPrompt="1"/>
          </p:nvPr>
        </p:nvSpPr>
        <p:spPr>
          <a:xfrm>
            <a:off x="1280160" y="256032"/>
            <a:ext cx="10424160" cy="685800"/>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Why Do We Need Network Slicing?</a:t>
            </a:r>
            <a:endParaRPr lang="en-US" sz="3000" dirty="0"/>
          </a:p>
        </p:txBody>
      </p:sp>
      <p:sp>
        <p:nvSpPr>
          <p:cNvPr id="4" name="Shape 2"/>
          <p:cNvSpPr/>
          <p:nvPr/>
        </p:nvSpPr>
        <p:spPr>
          <a:xfrm>
            <a:off x="457200" y="1325880"/>
            <a:ext cx="2103120" cy="2926080"/>
          </a:xfrm>
          <a:prstGeom prst="roundRect">
            <a:avLst>
              <a:gd name="adj" fmla="val 5217"/>
            </a:avLst>
          </a:prstGeom>
          <a:solidFill>
            <a:srgbClr val="0E2748"/>
          </a:solidFill>
          <a:ln w="19050">
            <a:solidFill>
              <a:srgbClr val="22D3EE"/>
            </a:solidFill>
            <a:prstDash val="solid"/>
          </a:ln>
        </p:spPr>
      </p:sp>
      <p:sp>
        <p:nvSpPr>
          <p:cNvPr id="5" name="Shape 3"/>
          <p:cNvSpPr/>
          <p:nvPr/>
        </p:nvSpPr>
        <p:spPr>
          <a:xfrm>
            <a:off x="960120" y="1600200"/>
            <a:ext cx="1097280" cy="1097280"/>
          </a:xfrm>
          <a:prstGeom prst="ellipse">
            <a:avLst/>
          </a:prstGeom>
          <a:solidFill>
            <a:srgbClr val="0A1F3C"/>
          </a:solidFill>
          <a:ln w="19050">
            <a:solidFill>
              <a:srgbClr val="22D3EE"/>
            </a:solidFill>
            <a:prstDash val="solid"/>
          </a:ln>
        </p:spPr>
      </p:sp>
      <p:pic>
        <p:nvPicPr>
          <p:cNvPr id="6" name="Image 0" descr="preencoded.png"/>
          <p:cNvPicPr>
            <a:picLocks noChangeAspect="1"/>
          </p:cNvPicPr>
          <p:nvPr/>
        </p:nvPicPr>
        <p:blipFill>
          <a:blip r:embed="rId3"/>
          <a:stretch>
            <a:fillRect/>
          </a:stretch>
        </p:blipFill>
        <p:spPr>
          <a:xfrm>
            <a:off x="1234440" y="1874520"/>
            <a:ext cx="548640" cy="548640"/>
          </a:xfrm>
          <a:prstGeom prst="rect">
            <a:avLst/>
          </a:prstGeom>
        </p:spPr>
      </p:pic>
      <p:sp>
        <p:nvSpPr>
          <p:cNvPr id="7" name="Text 4"/>
          <p:cNvSpPr txBox="1"/>
          <p:nvPr/>
        </p:nvSpPr>
        <p:spPr>
          <a:xfrm>
            <a:off x="548640" y="2834640"/>
            <a:ext cx="1920240" cy="502920"/>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High speed</a:t>
            </a:r>
            <a:endParaRPr lang="en-US" sz="1900" dirty="0"/>
          </a:p>
        </p:txBody>
      </p:sp>
      <p:sp>
        <p:nvSpPr>
          <p:cNvPr id="8" name="Text 5"/>
          <p:cNvSpPr txBox="1"/>
          <p:nvPr/>
        </p:nvSpPr>
        <p:spPr>
          <a:xfrm>
            <a:off x="548640" y="3383280"/>
            <a:ext cx="1920240" cy="548640"/>
          </a:xfrm>
          <a:prstGeom prst="rect">
            <a:avLst/>
          </a:prstGeom>
          <a:noFill/>
          <a:ln/>
        </p:spPr>
        <p:txBody>
          <a:bodyPr wrap="square" lIns="0" tIns="0" rIns="0" bIns="0" rtlCol="0" anchor="ctr"/>
          <a:lstStyle/>
          <a:p>
            <a:pPr marL="0" indent="0" algn="ctr">
              <a:buNone/>
            </a:pPr>
            <a:r>
              <a:rPr lang="en-US" sz="1400" dirty="0">
                <a:solidFill>
                  <a:srgbClr val="BFD7EE"/>
                </a:solidFill>
                <a:latin typeface="Calibri" pitchFamily="34" charset="0"/>
                <a:ea typeface="Calibri" pitchFamily="34" charset="-122"/>
                <a:cs typeface="Calibri" pitchFamily="34" charset="-120"/>
              </a:rPr>
              <a:t>4K video streaming</a:t>
            </a:r>
            <a:endParaRPr lang="en-US" sz="1400" dirty="0"/>
          </a:p>
        </p:txBody>
      </p:sp>
      <p:sp>
        <p:nvSpPr>
          <p:cNvPr id="9" name="Shape 6"/>
          <p:cNvSpPr/>
          <p:nvPr/>
        </p:nvSpPr>
        <p:spPr>
          <a:xfrm>
            <a:off x="2743200" y="1325880"/>
            <a:ext cx="2103120" cy="2926080"/>
          </a:xfrm>
          <a:prstGeom prst="roundRect">
            <a:avLst>
              <a:gd name="adj" fmla="val 5217"/>
            </a:avLst>
          </a:prstGeom>
          <a:solidFill>
            <a:srgbClr val="0E2748"/>
          </a:solidFill>
          <a:ln w="19050">
            <a:solidFill>
              <a:srgbClr val="A78BFA"/>
            </a:solidFill>
            <a:prstDash val="solid"/>
          </a:ln>
        </p:spPr>
      </p:sp>
      <p:sp>
        <p:nvSpPr>
          <p:cNvPr id="10" name="Shape 7"/>
          <p:cNvSpPr/>
          <p:nvPr/>
        </p:nvSpPr>
        <p:spPr>
          <a:xfrm>
            <a:off x="3246120" y="1600200"/>
            <a:ext cx="1097280" cy="1097280"/>
          </a:xfrm>
          <a:prstGeom prst="ellipse">
            <a:avLst/>
          </a:prstGeom>
          <a:solidFill>
            <a:srgbClr val="0A1F3C"/>
          </a:solidFill>
          <a:ln w="19050">
            <a:solidFill>
              <a:srgbClr val="A78BFA"/>
            </a:solidFill>
            <a:prstDash val="solid"/>
          </a:ln>
        </p:spPr>
      </p:sp>
      <p:pic>
        <p:nvPicPr>
          <p:cNvPr id="11" name="Image 1" descr="preencoded.png"/>
          <p:cNvPicPr>
            <a:picLocks noChangeAspect="1"/>
          </p:cNvPicPr>
          <p:nvPr/>
        </p:nvPicPr>
        <p:blipFill>
          <a:blip r:embed="rId4"/>
          <a:stretch>
            <a:fillRect/>
          </a:stretch>
        </p:blipFill>
        <p:spPr>
          <a:xfrm>
            <a:off x="3520440" y="1874520"/>
            <a:ext cx="548640" cy="548640"/>
          </a:xfrm>
          <a:prstGeom prst="rect">
            <a:avLst/>
          </a:prstGeom>
        </p:spPr>
      </p:pic>
      <p:sp>
        <p:nvSpPr>
          <p:cNvPr id="12" name="Text 8"/>
          <p:cNvSpPr txBox="1"/>
          <p:nvPr/>
        </p:nvSpPr>
        <p:spPr>
          <a:xfrm>
            <a:off x="2834640" y="2834640"/>
            <a:ext cx="1920240" cy="502920"/>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Ultra-low latency</a:t>
            </a:r>
            <a:endParaRPr lang="en-US" sz="1900" dirty="0"/>
          </a:p>
        </p:txBody>
      </p:sp>
      <p:sp>
        <p:nvSpPr>
          <p:cNvPr id="13" name="Text 9"/>
          <p:cNvSpPr txBox="1"/>
          <p:nvPr/>
        </p:nvSpPr>
        <p:spPr>
          <a:xfrm>
            <a:off x="2834640" y="3383280"/>
            <a:ext cx="1920240" cy="548640"/>
          </a:xfrm>
          <a:prstGeom prst="rect">
            <a:avLst/>
          </a:prstGeom>
          <a:noFill/>
          <a:ln/>
        </p:spPr>
        <p:txBody>
          <a:bodyPr wrap="square" lIns="0" tIns="0" rIns="0" bIns="0" rtlCol="0" anchor="ctr"/>
          <a:lstStyle/>
          <a:p>
            <a:pPr marL="0" indent="0" algn="ctr">
              <a:buNone/>
            </a:pPr>
            <a:r>
              <a:rPr lang="en-US" sz="1400" dirty="0">
                <a:solidFill>
                  <a:srgbClr val="BFD7EE"/>
                </a:solidFill>
                <a:latin typeface="Calibri" pitchFamily="34" charset="0"/>
                <a:ea typeface="Calibri" pitchFamily="34" charset="-122"/>
                <a:cs typeface="Calibri" pitchFamily="34" charset="-120"/>
              </a:rPr>
              <a:t>Real-time control</a:t>
            </a:r>
            <a:endParaRPr lang="en-US" sz="1400" dirty="0"/>
          </a:p>
        </p:txBody>
      </p:sp>
      <p:sp>
        <p:nvSpPr>
          <p:cNvPr id="14" name="Shape 10"/>
          <p:cNvSpPr/>
          <p:nvPr/>
        </p:nvSpPr>
        <p:spPr>
          <a:xfrm>
            <a:off x="5056632" y="1325880"/>
            <a:ext cx="2103120" cy="2926080"/>
          </a:xfrm>
          <a:prstGeom prst="roundRect">
            <a:avLst>
              <a:gd name="adj" fmla="val 5217"/>
            </a:avLst>
          </a:prstGeom>
          <a:solidFill>
            <a:srgbClr val="0E2748"/>
          </a:solidFill>
          <a:ln w="19050">
            <a:solidFill>
              <a:srgbClr val="34D399"/>
            </a:solidFill>
            <a:prstDash val="solid"/>
          </a:ln>
        </p:spPr>
      </p:sp>
      <p:sp>
        <p:nvSpPr>
          <p:cNvPr id="15" name="Shape 11"/>
          <p:cNvSpPr/>
          <p:nvPr/>
        </p:nvSpPr>
        <p:spPr>
          <a:xfrm>
            <a:off x="5532120" y="1600200"/>
            <a:ext cx="1097280" cy="1097280"/>
          </a:xfrm>
          <a:prstGeom prst="ellipse">
            <a:avLst/>
          </a:prstGeom>
          <a:solidFill>
            <a:srgbClr val="0A1F3C"/>
          </a:solidFill>
          <a:ln w="19050">
            <a:solidFill>
              <a:srgbClr val="34D399"/>
            </a:solidFill>
            <a:prstDash val="solid"/>
          </a:ln>
        </p:spPr>
      </p:sp>
      <p:pic>
        <p:nvPicPr>
          <p:cNvPr id="16" name="Image 2" descr="preencoded.png"/>
          <p:cNvPicPr>
            <a:picLocks noChangeAspect="1"/>
          </p:cNvPicPr>
          <p:nvPr/>
        </p:nvPicPr>
        <p:blipFill>
          <a:blip r:embed="rId5"/>
          <a:stretch>
            <a:fillRect/>
          </a:stretch>
        </p:blipFill>
        <p:spPr>
          <a:xfrm>
            <a:off x="5806440" y="1874520"/>
            <a:ext cx="548640" cy="548640"/>
          </a:xfrm>
          <a:prstGeom prst="rect">
            <a:avLst/>
          </a:prstGeom>
        </p:spPr>
      </p:pic>
      <p:sp>
        <p:nvSpPr>
          <p:cNvPr id="17" name="Text 12"/>
          <p:cNvSpPr txBox="1"/>
          <p:nvPr/>
        </p:nvSpPr>
        <p:spPr>
          <a:xfrm>
            <a:off x="5120640" y="2834640"/>
            <a:ext cx="1920240" cy="502920"/>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High reliability</a:t>
            </a:r>
            <a:endParaRPr lang="en-US" sz="1900" dirty="0"/>
          </a:p>
        </p:txBody>
      </p:sp>
      <p:sp>
        <p:nvSpPr>
          <p:cNvPr id="18" name="Text 13"/>
          <p:cNvSpPr txBox="1"/>
          <p:nvPr/>
        </p:nvSpPr>
        <p:spPr>
          <a:xfrm>
            <a:off x="5120640" y="3383280"/>
            <a:ext cx="1920240" cy="548640"/>
          </a:xfrm>
          <a:prstGeom prst="rect">
            <a:avLst/>
          </a:prstGeom>
          <a:noFill/>
          <a:ln/>
        </p:spPr>
        <p:txBody>
          <a:bodyPr wrap="square" lIns="0" tIns="0" rIns="0" bIns="0" rtlCol="0" anchor="ctr"/>
          <a:lstStyle/>
          <a:p>
            <a:pPr marL="0" indent="0" algn="ctr">
              <a:buNone/>
            </a:pPr>
            <a:r>
              <a:rPr lang="en-US" sz="1400" dirty="0">
                <a:solidFill>
                  <a:srgbClr val="BFD7EE"/>
                </a:solidFill>
                <a:latin typeface="Calibri" pitchFamily="34" charset="0"/>
                <a:ea typeface="Calibri" pitchFamily="34" charset="-122"/>
                <a:cs typeface="Calibri" pitchFamily="34" charset="-120"/>
              </a:rPr>
              <a:t>Critical services</a:t>
            </a:r>
            <a:endParaRPr lang="en-US" sz="1400" dirty="0"/>
          </a:p>
        </p:txBody>
      </p:sp>
      <p:sp>
        <p:nvSpPr>
          <p:cNvPr id="19" name="Shape 14"/>
          <p:cNvSpPr/>
          <p:nvPr/>
        </p:nvSpPr>
        <p:spPr>
          <a:xfrm>
            <a:off x="7315200" y="1325880"/>
            <a:ext cx="2103120" cy="2926080"/>
          </a:xfrm>
          <a:prstGeom prst="roundRect">
            <a:avLst>
              <a:gd name="adj" fmla="val 5217"/>
            </a:avLst>
          </a:prstGeom>
          <a:solidFill>
            <a:srgbClr val="0E2748"/>
          </a:solidFill>
          <a:ln w="19050">
            <a:solidFill>
              <a:srgbClr val="FBBF24"/>
            </a:solidFill>
            <a:prstDash val="solid"/>
          </a:ln>
        </p:spPr>
      </p:sp>
      <p:sp>
        <p:nvSpPr>
          <p:cNvPr id="20" name="Shape 15"/>
          <p:cNvSpPr/>
          <p:nvPr/>
        </p:nvSpPr>
        <p:spPr>
          <a:xfrm>
            <a:off x="7818120" y="1600200"/>
            <a:ext cx="1097280" cy="1097280"/>
          </a:xfrm>
          <a:prstGeom prst="ellipse">
            <a:avLst/>
          </a:prstGeom>
          <a:solidFill>
            <a:srgbClr val="0A1F3C"/>
          </a:solidFill>
          <a:ln w="19050">
            <a:solidFill>
              <a:srgbClr val="FBBF24"/>
            </a:solidFill>
            <a:prstDash val="solid"/>
          </a:ln>
        </p:spPr>
      </p:sp>
      <p:pic>
        <p:nvPicPr>
          <p:cNvPr id="21" name="Image 3" descr="preencoded.png"/>
          <p:cNvPicPr>
            <a:picLocks noChangeAspect="1"/>
          </p:cNvPicPr>
          <p:nvPr/>
        </p:nvPicPr>
        <p:blipFill>
          <a:blip r:embed="rId6"/>
          <a:stretch>
            <a:fillRect/>
          </a:stretch>
        </p:blipFill>
        <p:spPr>
          <a:xfrm>
            <a:off x="8092440" y="1874520"/>
            <a:ext cx="548640" cy="548640"/>
          </a:xfrm>
          <a:prstGeom prst="rect">
            <a:avLst/>
          </a:prstGeom>
        </p:spPr>
      </p:pic>
      <p:sp>
        <p:nvSpPr>
          <p:cNvPr id="22" name="Text 16"/>
          <p:cNvSpPr txBox="1"/>
          <p:nvPr/>
        </p:nvSpPr>
        <p:spPr>
          <a:xfrm>
            <a:off x="7406640" y="2834640"/>
            <a:ext cx="1920240" cy="502920"/>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Massive IoT</a:t>
            </a:r>
            <a:endParaRPr lang="en-US" sz="1900" dirty="0"/>
          </a:p>
        </p:txBody>
      </p:sp>
      <p:sp>
        <p:nvSpPr>
          <p:cNvPr id="23" name="Text 17"/>
          <p:cNvSpPr txBox="1"/>
          <p:nvPr/>
        </p:nvSpPr>
        <p:spPr>
          <a:xfrm>
            <a:off x="7406640" y="3383280"/>
            <a:ext cx="1920240" cy="548640"/>
          </a:xfrm>
          <a:prstGeom prst="rect">
            <a:avLst/>
          </a:prstGeom>
          <a:noFill/>
          <a:ln/>
        </p:spPr>
        <p:txBody>
          <a:bodyPr wrap="square" lIns="0" tIns="0" rIns="0" bIns="0" rtlCol="0" anchor="ctr"/>
          <a:lstStyle/>
          <a:p>
            <a:pPr marL="0" indent="0" algn="ctr">
              <a:buNone/>
            </a:pPr>
            <a:r>
              <a:rPr lang="en-US" sz="1400" dirty="0">
                <a:solidFill>
                  <a:srgbClr val="BFD7EE"/>
                </a:solidFill>
                <a:latin typeface="Calibri" pitchFamily="34" charset="0"/>
                <a:ea typeface="Calibri" pitchFamily="34" charset="-122"/>
                <a:cs typeface="Calibri" pitchFamily="34" charset="-120"/>
              </a:rPr>
              <a:t>Millions of devices</a:t>
            </a:r>
            <a:endParaRPr lang="en-US" sz="1400" dirty="0"/>
          </a:p>
        </p:txBody>
      </p:sp>
      <p:sp>
        <p:nvSpPr>
          <p:cNvPr id="24" name="Shape 18"/>
          <p:cNvSpPr/>
          <p:nvPr/>
        </p:nvSpPr>
        <p:spPr>
          <a:xfrm>
            <a:off x="9601200" y="1325880"/>
            <a:ext cx="2103120" cy="2926080"/>
          </a:xfrm>
          <a:prstGeom prst="roundRect">
            <a:avLst>
              <a:gd name="adj" fmla="val 5217"/>
            </a:avLst>
          </a:prstGeom>
          <a:solidFill>
            <a:srgbClr val="0E2748"/>
          </a:solidFill>
          <a:ln w="19050">
            <a:solidFill>
              <a:srgbClr val="3B82F6"/>
            </a:solidFill>
            <a:prstDash val="solid"/>
          </a:ln>
        </p:spPr>
      </p:sp>
      <p:sp>
        <p:nvSpPr>
          <p:cNvPr id="25" name="Shape 19"/>
          <p:cNvSpPr/>
          <p:nvPr/>
        </p:nvSpPr>
        <p:spPr>
          <a:xfrm>
            <a:off x="10104120" y="1600200"/>
            <a:ext cx="1097280" cy="1097280"/>
          </a:xfrm>
          <a:prstGeom prst="ellipse">
            <a:avLst/>
          </a:prstGeom>
          <a:solidFill>
            <a:srgbClr val="0A1F3C"/>
          </a:solidFill>
          <a:ln w="19050">
            <a:solidFill>
              <a:srgbClr val="3B82F6"/>
            </a:solidFill>
            <a:prstDash val="solid"/>
          </a:ln>
        </p:spPr>
      </p:sp>
      <p:pic>
        <p:nvPicPr>
          <p:cNvPr id="26" name="Image 4" descr="preencoded.png"/>
          <p:cNvPicPr>
            <a:picLocks noChangeAspect="1"/>
          </p:cNvPicPr>
          <p:nvPr/>
        </p:nvPicPr>
        <p:blipFill>
          <a:blip r:embed="rId7"/>
          <a:stretch>
            <a:fillRect/>
          </a:stretch>
        </p:blipFill>
        <p:spPr>
          <a:xfrm>
            <a:off x="10378440" y="1874520"/>
            <a:ext cx="548640" cy="548640"/>
          </a:xfrm>
          <a:prstGeom prst="rect">
            <a:avLst/>
          </a:prstGeom>
        </p:spPr>
      </p:pic>
      <p:sp>
        <p:nvSpPr>
          <p:cNvPr id="27" name="Text 20"/>
          <p:cNvSpPr txBox="1"/>
          <p:nvPr/>
        </p:nvSpPr>
        <p:spPr>
          <a:xfrm>
            <a:off x="9692640" y="2834640"/>
            <a:ext cx="1920240" cy="502920"/>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Isolation</a:t>
            </a:r>
            <a:endParaRPr lang="en-US" sz="1900" dirty="0"/>
          </a:p>
        </p:txBody>
      </p:sp>
      <p:sp>
        <p:nvSpPr>
          <p:cNvPr id="28" name="Text 21"/>
          <p:cNvSpPr txBox="1"/>
          <p:nvPr/>
        </p:nvSpPr>
        <p:spPr>
          <a:xfrm>
            <a:off x="9692640" y="3383280"/>
            <a:ext cx="1920240" cy="548640"/>
          </a:xfrm>
          <a:prstGeom prst="rect">
            <a:avLst/>
          </a:prstGeom>
          <a:noFill/>
          <a:ln/>
        </p:spPr>
        <p:txBody>
          <a:bodyPr wrap="square" lIns="0" tIns="0" rIns="0" bIns="0" rtlCol="0" anchor="ctr"/>
          <a:lstStyle/>
          <a:p>
            <a:pPr marL="0" indent="0" algn="ctr">
              <a:buNone/>
            </a:pPr>
            <a:r>
              <a:rPr lang="en-US" sz="1400" dirty="0">
                <a:solidFill>
                  <a:srgbClr val="BFD7EE"/>
                </a:solidFill>
                <a:latin typeface="Calibri" pitchFamily="34" charset="0"/>
                <a:ea typeface="Calibri" pitchFamily="34" charset="-122"/>
                <a:cs typeface="Calibri" pitchFamily="34" charset="-120"/>
              </a:rPr>
              <a:t>Services kept apart</a:t>
            </a:r>
            <a:endParaRPr lang="en-US" sz="1400" dirty="0"/>
          </a:p>
        </p:txBody>
      </p:sp>
      <p:sp>
        <p:nvSpPr>
          <p:cNvPr id="29" name="Text 22"/>
          <p:cNvSpPr txBox="1"/>
          <p:nvPr/>
        </p:nvSpPr>
        <p:spPr>
          <a:xfrm>
            <a:off x="457200" y="4526280"/>
            <a:ext cx="1828800" cy="365760"/>
          </a:xfrm>
          <a:prstGeom prst="rect">
            <a:avLst/>
          </a:prstGeom>
          <a:noFill/>
          <a:ln/>
        </p:spPr>
        <p:txBody>
          <a:bodyPr wrap="square" lIns="0" tIns="0" rIns="0" bIns="0" rtlCol="0" anchor="ctr"/>
          <a:lstStyle/>
          <a:p>
            <a:pPr marL="0" indent="0">
              <a:buNone/>
            </a:pPr>
            <a:r>
              <a:rPr lang="en-US" sz="1600" b="1" dirty="0">
                <a:solidFill>
                  <a:srgbClr val="FBBF24"/>
                </a:solidFill>
                <a:latin typeface="Calibri" pitchFamily="34" charset="0"/>
                <a:ea typeface="Calibri" pitchFamily="34" charset="-122"/>
                <a:cs typeface="Calibri" pitchFamily="34" charset="-120"/>
              </a:rPr>
              <a:t>Example</a:t>
            </a:r>
            <a:endParaRPr lang="en-US" sz="1600" dirty="0"/>
          </a:p>
        </p:txBody>
      </p:sp>
      <p:sp>
        <p:nvSpPr>
          <p:cNvPr id="30" name="Shape 23"/>
          <p:cNvSpPr/>
          <p:nvPr/>
        </p:nvSpPr>
        <p:spPr>
          <a:xfrm>
            <a:off x="457200" y="4937760"/>
            <a:ext cx="3566160" cy="1234440"/>
          </a:xfrm>
          <a:prstGeom prst="roundRect">
            <a:avLst>
              <a:gd name="adj" fmla="val 8889"/>
            </a:avLst>
          </a:prstGeom>
          <a:solidFill>
            <a:srgbClr val="0E2748"/>
          </a:solidFill>
          <a:ln w="19050">
            <a:solidFill>
              <a:srgbClr val="A78BFA"/>
            </a:solidFill>
            <a:prstDash val="solid"/>
          </a:ln>
        </p:spPr>
      </p:sp>
      <p:pic>
        <p:nvPicPr>
          <p:cNvPr id="31" name="Image 5" descr="preencoded.png"/>
          <p:cNvPicPr>
            <a:picLocks noChangeAspect="1"/>
          </p:cNvPicPr>
          <p:nvPr/>
        </p:nvPicPr>
        <p:blipFill>
          <a:blip r:embed="rId8"/>
          <a:stretch>
            <a:fillRect/>
          </a:stretch>
        </p:blipFill>
        <p:spPr>
          <a:xfrm>
            <a:off x="685800" y="5303520"/>
            <a:ext cx="502920" cy="502920"/>
          </a:xfrm>
          <a:prstGeom prst="rect">
            <a:avLst/>
          </a:prstGeom>
        </p:spPr>
      </p:pic>
      <p:sp>
        <p:nvSpPr>
          <p:cNvPr id="32" name="Text 24"/>
          <p:cNvSpPr txBox="1"/>
          <p:nvPr/>
        </p:nvSpPr>
        <p:spPr>
          <a:xfrm>
            <a:off x="1417320" y="4983480"/>
            <a:ext cx="2560320" cy="114300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Autonomous vehicle</a:t>
            </a:r>
            <a:endParaRPr lang="en-US" sz="1700" dirty="0"/>
          </a:p>
          <a:p>
            <a:pPr marL="0" indent="0">
              <a:buNone/>
            </a:pPr>
            <a:r>
              <a:rPr lang="en-US" sz="1400" dirty="0">
                <a:solidFill>
                  <a:srgbClr val="BFD7EE"/>
                </a:solidFill>
                <a:latin typeface="Calibri" pitchFamily="34" charset="0"/>
                <a:ea typeface="Calibri" pitchFamily="34" charset="-122"/>
                <a:cs typeface="Calibri" pitchFamily="34" charset="-120"/>
              </a:rPr>
              <a:t>needs fast, reliable response</a:t>
            </a:r>
            <a:endParaRPr lang="en-US" sz="1700" dirty="0"/>
          </a:p>
        </p:txBody>
      </p:sp>
      <p:sp>
        <p:nvSpPr>
          <p:cNvPr id="33" name="Shape 25"/>
          <p:cNvSpPr/>
          <p:nvPr/>
        </p:nvSpPr>
        <p:spPr>
          <a:xfrm>
            <a:off x="8183880" y="4937760"/>
            <a:ext cx="3566160" cy="1234440"/>
          </a:xfrm>
          <a:prstGeom prst="roundRect">
            <a:avLst>
              <a:gd name="adj" fmla="val 8889"/>
            </a:avLst>
          </a:prstGeom>
          <a:solidFill>
            <a:srgbClr val="0E2748"/>
          </a:solidFill>
          <a:ln w="19050">
            <a:solidFill>
              <a:srgbClr val="34D399"/>
            </a:solidFill>
            <a:prstDash val="solid"/>
          </a:ln>
        </p:spPr>
      </p:sp>
      <p:pic>
        <p:nvPicPr>
          <p:cNvPr id="34" name="Image 6" descr="preencoded.png"/>
          <p:cNvPicPr>
            <a:picLocks noChangeAspect="1"/>
          </p:cNvPicPr>
          <p:nvPr/>
        </p:nvPicPr>
        <p:blipFill>
          <a:blip r:embed="rId9"/>
          <a:stretch>
            <a:fillRect/>
          </a:stretch>
        </p:blipFill>
        <p:spPr>
          <a:xfrm>
            <a:off x="8412480" y="5303520"/>
            <a:ext cx="502920" cy="502920"/>
          </a:xfrm>
          <a:prstGeom prst="rect">
            <a:avLst/>
          </a:prstGeom>
        </p:spPr>
      </p:pic>
      <p:sp>
        <p:nvSpPr>
          <p:cNvPr id="35" name="Text 26"/>
          <p:cNvSpPr txBox="1"/>
          <p:nvPr/>
        </p:nvSpPr>
        <p:spPr>
          <a:xfrm>
            <a:off x="9144000" y="4983480"/>
            <a:ext cx="2560320" cy="114300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Smart home device</a:t>
            </a:r>
            <a:endParaRPr lang="en-US" sz="1700" dirty="0"/>
          </a:p>
          <a:p>
            <a:pPr marL="0" indent="0">
              <a:buNone/>
            </a:pPr>
            <a:r>
              <a:rPr lang="en-US" sz="1400" dirty="0">
                <a:solidFill>
                  <a:srgbClr val="BFD7EE"/>
                </a:solidFill>
                <a:latin typeface="Calibri" pitchFamily="34" charset="0"/>
                <a:ea typeface="Calibri" pitchFamily="34" charset="-122"/>
                <a:cs typeface="Calibri" pitchFamily="34" charset="-120"/>
              </a:rPr>
              <a:t>needs low data, many links</a:t>
            </a:r>
            <a:endParaRPr lang="en-US" sz="1700" dirty="0"/>
          </a:p>
        </p:txBody>
      </p:sp>
      <p:pic>
        <p:nvPicPr>
          <p:cNvPr id="36" name="Image 7" descr="preencoded.png"/>
          <p:cNvPicPr>
            <a:picLocks noChangeAspect="1"/>
          </p:cNvPicPr>
          <p:nvPr/>
        </p:nvPicPr>
        <p:blipFill>
          <a:blip r:embed="rId10"/>
          <a:stretch>
            <a:fillRect/>
          </a:stretch>
        </p:blipFill>
        <p:spPr>
          <a:xfrm>
            <a:off x="4206240" y="5394960"/>
            <a:ext cx="365760" cy="365760"/>
          </a:xfrm>
          <a:prstGeom prst="rect">
            <a:avLst/>
          </a:prstGeom>
        </p:spPr>
      </p:pic>
      <p:sp>
        <p:nvSpPr>
          <p:cNvPr id="37" name="Shape 27"/>
          <p:cNvSpPr/>
          <p:nvPr/>
        </p:nvSpPr>
        <p:spPr>
          <a:xfrm>
            <a:off x="4709160" y="4937760"/>
            <a:ext cx="2743200" cy="1234440"/>
          </a:xfrm>
          <a:prstGeom prst="roundRect">
            <a:avLst>
              <a:gd name="adj" fmla="val 8889"/>
            </a:avLst>
          </a:prstGeom>
          <a:solidFill>
            <a:srgbClr val="0A1F3C"/>
          </a:solidFill>
          <a:ln w="19050">
            <a:solidFill>
              <a:srgbClr val="22D3EE"/>
            </a:solidFill>
            <a:prstDash val="solid"/>
          </a:ln>
        </p:spPr>
      </p:sp>
      <p:sp>
        <p:nvSpPr>
          <p:cNvPr id="38" name="Text 28"/>
          <p:cNvSpPr txBox="1"/>
          <p:nvPr/>
        </p:nvSpPr>
        <p:spPr>
          <a:xfrm>
            <a:off x="4709160" y="4937760"/>
            <a:ext cx="2743200" cy="1234440"/>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Same network,</a:t>
            </a:r>
            <a:endParaRPr lang="en-US" sz="1900" dirty="0"/>
          </a:p>
          <a:p>
            <a:pPr marL="0" indent="0" algn="ctr">
              <a:buNone/>
            </a:pPr>
            <a:r>
              <a:rPr lang="en-US" sz="1900" b="1" dirty="0">
                <a:solidFill>
                  <a:srgbClr val="22D3EE"/>
                </a:solidFill>
                <a:latin typeface="Calibri" pitchFamily="34" charset="0"/>
                <a:ea typeface="Calibri" pitchFamily="34" charset="-122"/>
                <a:cs typeface="Calibri" pitchFamily="34" charset="-120"/>
              </a:rPr>
              <a:t>different slices</a:t>
            </a:r>
            <a:endParaRPr lang="en-US" sz="1900" dirty="0"/>
          </a:p>
        </p:txBody>
      </p:sp>
      <p:pic>
        <p:nvPicPr>
          <p:cNvPr id="39" name="Image 8" descr="preencoded.png"/>
          <p:cNvPicPr>
            <a:picLocks noChangeAspect="1"/>
          </p:cNvPicPr>
          <p:nvPr/>
        </p:nvPicPr>
        <p:blipFill>
          <a:blip r:embed="rId11"/>
          <a:stretch>
            <a:fillRect/>
          </a:stretch>
        </p:blipFill>
        <p:spPr>
          <a:xfrm>
            <a:off x="7635240" y="5394960"/>
            <a:ext cx="365760" cy="365760"/>
          </a:xfrm>
          <a:prstGeom prst="rect">
            <a:avLst/>
          </a:prstGeom>
        </p:spPr>
      </p:pic>
      <p:sp>
        <p:nvSpPr>
          <p:cNvPr id="40" name="Slide Number Placeholder 0"/>
          <p:cNvSpPr>
            <a:spLocks noGrp="1"/>
          </p:cNvSpPr>
          <p:nvPr>
            <p:ph type="sldNum" sz="quarter" idx="4294967295"/>
          </p:nvPr>
        </p:nvSpPr>
        <p:spPr>
          <a:xfrm>
            <a:off x="11064240" y="6473952"/>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B3D9"/>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lide chip"/>
          <p:cNvSpPr txBox="1"/>
          <p:nvPr/>
        </p:nvSpPr>
        <p:spPr>
          <a:xfrm>
            <a:off x="457200" y="274320"/>
            <a:ext cx="640080" cy="640080"/>
          </a:xfrm>
          <a:prstGeom prst="roundRect">
            <a:avLst>
              <a:gd name="adj" fmla="val 14286"/>
            </a:avLst>
          </a:prstGeom>
          <a:solidFill>
            <a:srgbClr val="22D3EE"/>
          </a:solidFill>
          <a:ln/>
        </p:spPr>
        <p:txBody>
          <a:bodyPr wrap="square" lIns="0" tIns="0" rIns="0" bIns="0" rtlCol="0" anchor="ctr"/>
          <a:lstStyle/>
          <a:p>
            <a:pPr marL="0" indent="0" algn="ctr">
              <a:buNone/>
            </a:pPr>
            <a:r>
              <a:rPr lang="en-US" sz="2200" b="1" dirty="0">
                <a:solidFill>
                  <a:srgbClr val="071428"/>
                </a:solidFill>
              </a:rPr>
              <a:t>04</a:t>
            </a:r>
            <a:endParaRPr lang="en-US" sz="2200" dirty="0"/>
          </a:p>
        </p:txBody>
      </p:sp>
      <p:sp>
        <p:nvSpPr>
          <p:cNvPr id="3" name="Text 0"/>
          <p:cNvSpPr>
            <a:spLocks noGrp="1"/>
          </p:cNvSpPr>
          <p:nvPr>
            <p:ph type="title" idx="100" hasCustomPrompt="1"/>
          </p:nvPr>
        </p:nvSpPr>
        <p:spPr>
          <a:xfrm>
            <a:off x="1280160" y="256032"/>
            <a:ext cx="10424160" cy="685800"/>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How Network Slicing Works</a:t>
            </a:r>
            <a:endParaRPr lang="en-US" sz="3000" dirty="0"/>
          </a:p>
        </p:txBody>
      </p:sp>
      <p:sp>
        <p:nvSpPr>
          <p:cNvPr id="4" name="Shape 2"/>
          <p:cNvSpPr/>
          <p:nvPr/>
        </p:nvSpPr>
        <p:spPr>
          <a:xfrm>
            <a:off x="457200" y="1600200"/>
            <a:ext cx="1691640" cy="2148840"/>
          </a:xfrm>
          <a:prstGeom prst="roundRect">
            <a:avLst>
              <a:gd name="adj" fmla="val 6486"/>
            </a:avLst>
          </a:prstGeom>
          <a:solidFill>
            <a:srgbClr val="0E2748"/>
          </a:solidFill>
          <a:ln w="19050">
            <a:solidFill>
              <a:srgbClr val="22D3EE"/>
            </a:solidFill>
            <a:prstDash val="solid"/>
          </a:ln>
        </p:spPr>
      </p:sp>
      <p:sp>
        <p:nvSpPr>
          <p:cNvPr id="5" name="Text 3"/>
          <p:cNvSpPr txBox="1"/>
          <p:nvPr/>
        </p:nvSpPr>
        <p:spPr>
          <a:xfrm>
            <a:off x="347472" y="1481328"/>
            <a:ext cx="384048" cy="384048"/>
          </a:xfrm>
          <a:prstGeom prst="ellipse">
            <a:avLst/>
          </a:prstGeom>
          <a:solidFill>
            <a:srgbClr val="22D3EE"/>
          </a:solidFill>
          <a:ln w="19050">
            <a:solidFill>
              <a:srgbClr val="071428"/>
            </a:solidFill>
          </a:ln>
        </p:spPr>
        <p:txBody>
          <a:bodyPr wrap="square" lIns="0" tIns="0" rIns="0" bIns="0" rtlCol="0" anchor="ctr"/>
          <a:lstStyle/>
          <a:p>
            <a:pPr marL="0" indent="0" algn="ctr">
              <a:buNone/>
            </a:pPr>
            <a:r>
              <a:rPr lang="en-US" sz="1400" b="1" dirty="0">
                <a:solidFill>
                  <a:srgbClr val="071428"/>
                </a:solidFill>
              </a:rPr>
              <a:t>1</a:t>
            </a:r>
            <a:endParaRPr lang="en-US" sz="1400" dirty="0"/>
          </a:p>
        </p:txBody>
      </p:sp>
      <p:pic>
        <p:nvPicPr>
          <p:cNvPr id="6" name="Image 0" descr="preencoded.png"/>
          <p:cNvPicPr>
            <a:picLocks noChangeAspect="1"/>
          </p:cNvPicPr>
          <p:nvPr/>
        </p:nvPicPr>
        <p:blipFill>
          <a:blip r:embed="rId3"/>
          <a:stretch>
            <a:fillRect/>
          </a:stretch>
        </p:blipFill>
        <p:spPr>
          <a:xfrm>
            <a:off x="1069848" y="2011680"/>
            <a:ext cx="475488" cy="475488"/>
          </a:xfrm>
          <a:prstGeom prst="rect">
            <a:avLst/>
          </a:prstGeom>
        </p:spPr>
      </p:pic>
      <p:sp>
        <p:nvSpPr>
          <p:cNvPr id="7" name="Text 4"/>
          <p:cNvSpPr txBox="1"/>
          <p:nvPr/>
        </p:nvSpPr>
        <p:spPr>
          <a:xfrm>
            <a:off x="548640" y="2743200"/>
            <a:ext cx="1508760" cy="8229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Service request</a:t>
            </a:r>
            <a:endParaRPr lang="en-US" sz="1600" dirty="0"/>
          </a:p>
        </p:txBody>
      </p:sp>
      <p:sp>
        <p:nvSpPr>
          <p:cNvPr id="8" name="Shape 5"/>
          <p:cNvSpPr/>
          <p:nvPr/>
        </p:nvSpPr>
        <p:spPr>
          <a:xfrm>
            <a:off x="2176272" y="2670048"/>
            <a:ext cx="448056" cy="0"/>
          </a:xfrm>
          <a:prstGeom prst="line">
            <a:avLst/>
          </a:prstGeom>
          <a:noFill/>
          <a:ln w="25400">
            <a:solidFill>
              <a:srgbClr val="22D3EE"/>
            </a:solidFill>
            <a:prstDash val="solid"/>
            <a:tailEnd type="triangle"/>
          </a:ln>
        </p:spPr>
      </p:sp>
      <p:sp>
        <p:nvSpPr>
          <p:cNvPr id="9" name="Shape 6"/>
          <p:cNvSpPr/>
          <p:nvPr/>
        </p:nvSpPr>
        <p:spPr>
          <a:xfrm>
            <a:off x="2368296" y="1600200"/>
            <a:ext cx="1691640" cy="2148840"/>
          </a:xfrm>
          <a:prstGeom prst="roundRect">
            <a:avLst>
              <a:gd name="adj" fmla="val 6486"/>
            </a:avLst>
          </a:prstGeom>
          <a:solidFill>
            <a:srgbClr val="0E2748"/>
          </a:solidFill>
          <a:ln w="19050">
            <a:solidFill>
              <a:srgbClr val="22D3EE"/>
            </a:solidFill>
            <a:prstDash val="solid"/>
          </a:ln>
        </p:spPr>
      </p:sp>
      <p:sp>
        <p:nvSpPr>
          <p:cNvPr id="10" name="Text 7"/>
          <p:cNvSpPr txBox="1"/>
          <p:nvPr/>
        </p:nvSpPr>
        <p:spPr>
          <a:xfrm>
            <a:off x="2258568" y="1481328"/>
            <a:ext cx="384048" cy="384048"/>
          </a:xfrm>
          <a:prstGeom prst="ellipse">
            <a:avLst/>
          </a:prstGeom>
          <a:solidFill>
            <a:srgbClr val="22D3EE"/>
          </a:solidFill>
          <a:ln w="19050">
            <a:solidFill>
              <a:srgbClr val="071428"/>
            </a:solidFill>
          </a:ln>
        </p:spPr>
        <p:txBody>
          <a:bodyPr wrap="square" lIns="0" tIns="0" rIns="0" bIns="0" rtlCol="0" anchor="ctr"/>
          <a:lstStyle/>
          <a:p>
            <a:pPr marL="0" indent="0" algn="ctr">
              <a:buNone/>
            </a:pPr>
            <a:r>
              <a:rPr lang="en-US" sz="1400" b="1" dirty="0">
                <a:solidFill>
                  <a:srgbClr val="071428"/>
                </a:solidFill>
              </a:rPr>
              <a:t>2</a:t>
            </a:r>
            <a:endParaRPr lang="en-US" sz="1400" dirty="0"/>
          </a:p>
        </p:txBody>
      </p:sp>
      <p:pic>
        <p:nvPicPr>
          <p:cNvPr id="11" name="Image 1" descr="preencoded.png"/>
          <p:cNvPicPr>
            <a:picLocks noChangeAspect="1"/>
          </p:cNvPicPr>
          <p:nvPr/>
        </p:nvPicPr>
        <p:blipFill>
          <a:blip r:embed="rId4"/>
          <a:stretch>
            <a:fillRect/>
          </a:stretch>
        </p:blipFill>
        <p:spPr>
          <a:xfrm>
            <a:off x="2980944" y="2011680"/>
            <a:ext cx="475488" cy="475488"/>
          </a:xfrm>
          <a:prstGeom prst="rect">
            <a:avLst/>
          </a:prstGeom>
        </p:spPr>
      </p:pic>
      <p:sp>
        <p:nvSpPr>
          <p:cNvPr id="12" name="Text 8"/>
          <p:cNvSpPr txBox="1"/>
          <p:nvPr/>
        </p:nvSpPr>
        <p:spPr>
          <a:xfrm>
            <a:off x="2459736" y="2743200"/>
            <a:ext cx="1508760" cy="8229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Identify requirements</a:t>
            </a:r>
            <a:endParaRPr lang="en-US" sz="1600" dirty="0"/>
          </a:p>
        </p:txBody>
      </p:sp>
      <p:sp>
        <p:nvSpPr>
          <p:cNvPr id="13" name="Shape 9"/>
          <p:cNvSpPr/>
          <p:nvPr/>
        </p:nvSpPr>
        <p:spPr>
          <a:xfrm>
            <a:off x="4087368" y="2670048"/>
            <a:ext cx="448056" cy="0"/>
          </a:xfrm>
          <a:prstGeom prst="line">
            <a:avLst/>
          </a:prstGeom>
          <a:noFill/>
          <a:ln w="25400">
            <a:solidFill>
              <a:srgbClr val="22D3EE"/>
            </a:solidFill>
            <a:prstDash val="solid"/>
            <a:tailEnd type="triangle"/>
          </a:ln>
        </p:spPr>
      </p:sp>
      <p:sp>
        <p:nvSpPr>
          <p:cNvPr id="14" name="Shape 10"/>
          <p:cNvSpPr/>
          <p:nvPr/>
        </p:nvSpPr>
        <p:spPr>
          <a:xfrm>
            <a:off x="4279392" y="1600200"/>
            <a:ext cx="1691640" cy="2148840"/>
          </a:xfrm>
          <a:prstGeom prst="roundRect">
            <a:avLst>
              <a:gd name="adj" fmla="val 6486"/>
            </a:avLst>
          </a:prstGeom>
          <a:solidFill>
            <a:srgbClr val="0E2748"/>
          </a:solidFill>
          <a:ln w="19050">
            <a:solidFill>
              <a:srgbClr val="3B82F6"/>
            </a:solidFill>
            <a:prstDash val="solid"/>
          </a:ln>
        </p:spPr>
      </p:sp>
      <p:sp>
        <p:nvSpPr>
          <p:cNvPr id="15" name="Text 11"/>
          <p:cNvSpPr txBox="1"/>
          <p:nvPr/>
        </p:nvSpPr>
        <p:spPr>
          <a:xfrm>
            <a:off x="4169664" y="1481328"/>
            <a:ext cx="384048" cy="384048"/>
          </a:xfrm>
          <a:prstGeom prst="ellipse">
            <a:avLst/>
          </a:prstGeom>
          <a:solidFill>
            <a:srgbClr val="3B82F6"/>
          </a:solidFill>
          <a:ln w="19050">
            <a:solidFill>
              <a:srgbClr val="071428"/>
            </a:solidFill>
          </a:ln>
        </p:spPr>
        <p:txBody>
          <a:bodyPr wrap="square" lIns="0" tIns="0" rIns="0" bIns="0" rtlCol="0" anchor="ctr"/>
          <a:lstStyle/>
          <a:p>
            <a:pPr marL="0" indent="0" algn="ctr">
              <a:buNone/>
            </a:pPr>
            <a:r>
              <a:rPr lang="en-US" sz="1400" b="1" dirty="0">
                <a:solidFill>
                  <a:srgbClr val="071428"/>
                </a:solidFill>
              </a:rPr>
              <a:t>3</a:t>
            </a:r>
            <a:endParaRPr lang="en-US" sz="1400" dirty="0"/>
          </a:p>
        </p:txBody>
      </p:sp>
      <p:pic>
        <p:nvPicPr>
          <p:cNvPr id="16" name="Image 2" descr="preencoded.png"/>
          <p:cNvPicPr>
            <a:picLocks noChangeAspect="1"/>
          </p:cNvPicPr>
          <p:nvPr/>
        </p:nvPicPr>
        <p:blipFill>
          <a:blip r:embed="rId5"/>
          <a:stretch>
            <a:fillRect/>
          </a:stretch>
        </p:blipFill>
        <p:spPr>
          <a:xfrm>
            <a:off x="4892040" y="2011680"/>
            <a:ext cx="475488" cy="475488"/>
          </a:xfrm>
          <a:prstGeom prst="rect">
            <a:avLst/>
          </a:prstGeom>
        </p:spPr>
      </p:pic>
      <p:sp>
        <p:nvSpPr>
          <p:cNvPr id="17" name="Text 12"/>
          <p:cNvSpPr txBox="1"/>
          <p:nvPr/>
        </p:nvSpPr>
        <p:spPr>
          <a:xfrm>
            <a:off x="4370832" y="2743200"/>
            <a:ext cx="1508760" cy="8229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Select or create slice</a:t>
            </a:r>
            <a:endParaRPr lang="en-US" sz="1600" dirty="0"/>
          </a:p>
        </p:txBody>
      </p:sp>
      <p:sp>
        <p:nvSpPr>
          <p:cNvPr id="18" name="Shape 13"/>
          <p:cNvSpPr/>
          <p:nvPr/>
        </p:nvSpPr>
        <p:spPr>
          <a:xfrm>
            <a:off x="5998464" y="2670048"/>
            <a:ext cx="448056" cy="0"/>
          </a:xfrm>
          <a:prstGeom prst="line">
            <a:avLst/>
          </a:prstGeom>
          <a:noFill/>
          <a:ln w="25400">
            <a:solidFill>
              <a:srgbClr val="3B82F6"/>
            </a:solidFill>
            <a:prstDash val="solid"/>
            <a:tailEnd type="triangle"/>
          </a:ln>
        </p:spPr>
      </p:sp>
      <p:sp>
        <p:nvSpPr>
          <p:cNvPr id="19" name="Shape 14"/>
          <p:cNvSpPr/>
          <p:nvPr/>
        </p:nvSpPr>
        <p:spPr>
          <a:xfrm>
            <a:off x="6190488" y="1600200"/>
            <a:ext cx="1691640" cy="2148840"/>
          </a:xfrm>
          <a:prstGeom prst="roundRect">
            <a:avLst>
              <a:gd name="adj" fmla="val 6486"/>
            </a:avLst>
          </a:prstGeom>
          <a:solidFill>
            <a:srgbClr val="0E2748"/>
          </a:solidFill>
          <a:ln w="19050">
            <a:solidFill>
              <a:srgbClr val="A78BFA"/>
            </a:solidFill>
            <a:prstDash val="solid"/>
          </a:ln>
        </p:spPr>
      </p:sp>
      <p:sp>
        <p:nvSpPr>
          <p:cNvPr id="20" name="Text 15"/>
          <p:cNvSpPr txBox="1"/>
          <p:nvPr/>
        </p:nvSpPr>
        <p:spPr>
          <a:xfrm>
            <a:off x="6080760" y="1481328"/>
            <a:ext cx="384048" cy="384048"/>
          </a:xfrm>
          <a:prstGeom prst="ellipse">
            <a:avLst/>
          </a:prstGeom>
          <a:solidFill>
            <a:srgbClr val="A78BFA"/>
          </a:solidFill>
          <a:ln w="19050">
            <a:solidFill>
              <a:srgbClr val="071428"/>
            </a:solidFill>
          </a:ln>
        </p:spPr>
        <p:txBody>
          <a:bodyPr wrap="square" lIns="0" tIns="0" rIns="0" bIns="0" rtlCol="0" anchor="ctr"/>
          <a:lstStyle/>
          <a:p>
            <a:pPr marL="0" indent="0" algn="ctr">
              <a:buNone/>
            </a:pPr>
            <a:r>
              <a:rPr lang="en-US" sz="1400" b="1" dirty="0">
                <a:solidFill>
                  <a:srgbClr val="071428"/>
                </a:solidFill>
              </a:rPr>
              <a:t>4</a:t>
            </a:r>
            <a:endParaRPr lang="en-US" sz="1400" dirty="0"/>
          </a:p>
        </p:txBody>
      </p:sp>
      <p:pic>
        <p:nvPicPr>
          <p:cNvPr id="21" name="Image 3" descr="preencoded.png"/>
          <p:cNvPicPr>
            <a:picLocks noChangeAspect="1"/>
          </p:cNvPicPr>
          <p:nvPr/>
        </p:nvPicPr>
        <p:blipFill>
          <a:blip r:embed="rId6"/>
          <a:stretch>
            <a:fillRect/>
          </a:stretch>
        </p:blipFill>
        <p:spPr>
          <a:xfrm>
            <a:off x="6803136" y="2011680"/>
            <a:ext cx="475488" cy="475488"/>
          </a:xfrm>
          <a:prstGeom prst="rect">
            <a:avLst/>
          </a:prstGeom>
        </p:spPr>
      </p:pic>
      <p:sp>
        <p:nvSpPr>
          <p:cNvPr id="22" name="Text 16"/>
          <p:cNvSpPr txBox="1"/>
          <p:nvPr/>
        </p:nvSpPr>
        <p:spPr>
          <a:xfrm>
            <a:off x="6281928" y="2743200"/>
            <a:ext cx="1508760" cy="8229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Allocate resources</a:t>
            </a:r>
            <a:endParaRPr lang="en-US" sz="1600" dirty="0"/>
          </a:p>
        </p:txBody>
      </p:sp>
      <p:sp>
        <p:nvSpPr>
          <p:cNvPr id="23" name="Shape 17"/>
          <p:cNvSpPr/>
          <p:nvPr/>
        </p:nvSpPr>
        <p:spPr>
          <a:xfrm>
            <a:off x="7909560" y="2670048"/>
            <a:ext cx="448056" cy="0"/>
          </a:xfrm>
          <a:prstGeom prst="line">
            <a:avLst/>
          </a:prstGeom>
          <a:noFill/>
          <a:ln w="25400">
            <a:solidFill>
              <a:srgbClr val="A78BFA"/>
            </a:solidFill>
            <a:prstDash val="solid"/>
            <a:tailEnd type="triangle"/>
          </a:ln>
        </p:spPr>
      </p:sp>
      <p:sp>
        <p:nvSpPr>
          <p:cNvPr id="24" name="Shape 18"/>
          <p:cNvSpPr/>
          <p:nvPr/>
        </p:nvSpPr>
        <p:spPr>
          <a:xfrm>
            <a:off x="8101584" y="1600200"/>
            <a:ext cx="1691640" cy="2148840"/>
          </a:xfrm>
          <a:prstGeom prst="roundRect">
            <a:avLst>
              <a:gd name="adj" fmla="val 6486"/>
            </a:avLst>
          </a:prstGeom>
          <a:solidFill>
            <a:srgbClr val="0E2748"/>
          </a:solidFill>
          <a:ln w="19050">
            <a:solidFill>
              <a:srgbClr val="34D399"/>
            </a:solidFill>
            <a:prstDash val="solid"/>
          </a:ln>
        </p:spPr>
      </p:sp>
      <p:sp>
        <p:nvSpPr>
          <p:cNvPr id="25" name="Text 19"/>
          <p:cNvSpPr txBox="1"/>
          <p:nvPr/>
        </p:nvSpPr>
        <p:spPr>
          <a:xfrm>
            <a:off x="7991856" y="1481328"/>
            <a:ext cx="384048" cy="384048"/>
          </a:xfrm>
          <a:prstGeom prst="ellipse">
            <a:avLst/>
          </a:prstGeom>
          <a:solidFill>
            <a:srgbClr val="34D399"/>
          </a:solidFill>
          <a:ln w="19050">
            <a:solidFill>
              <a:srgbClr val="071428"/>
            </a:solidFill>
          </a:ln>
        </p:spPr>
        <p:txBody>
          <a:bodyPr wrap="square" lIns="0" tIns="0" rIns="0" bIns="0" rtlCol="0" anchor="ctr"/>
          <a:lstStyle/>
          <a:p>
            <a:pPr marL="0" indent="0" algn="ctr">
              <a:buNone/>
            </a:pPr>
            <a:r>
              <a:rPr lang="en-US" sz="1400" b="1" dirty="0">
                <a:solidFill>
                  <a:srgbClr val="071428"/>
                </a:solidFill>
              </a:rPr>
              <a:t>5</a:t>
            </a:r>
            <a:endParaRPr lang="en-US" sz="1400" dirty="0"/>
          </a:p>
        </p:txBody>
      </p:sp>
      <p:pic>
        <p:nvPicPr>
          <p:cNvPr id="26" name="Image 4" descr="preencoded.png"/>
          <p:cNvPicPr>
            <a:picLocks noChangeAspect="1"/>
          </p:cNvPicPr>
          <p:nvPr/>
        </p:nvPicPr>
        <p:blipFill>
          <a:blip r:embed="rId7"/>
          <a:stretch>
            <a:fillRect/>
          </a:stretch>
        </p:blipFill>
        <p:spPr>
          <a:xfrm>
            <a:off x="8714232" y="2011680"/>
            <a:ext cx="475488" cy="475488"/>
          </a:xfrm>
          <a:prstGeom prst="rect">
            <a:avLst/>
          </a:prstGeom>
        </p:spPr>
      </p:pic>
      <p:sp>
        <p:nvSpPr>
          <p:cNvPr id="27" name="Text 20"/>
          <p:cNvSpPr txBox="1"/>
          <p:nvPr/>
        </p:nvSpPr>
        <p:spPr>
          <a:xfrm>
            <a:off x="8193024" y="2743200"/>
            <a:ext cx="1508760" cy="8229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Manage traffic</a:t>
            </a:r>
            <a:endParaRPr lang="en-US" sz="1600" dirty="0"/>
          </a:p>
        </p:txBody>
      </p:sp>
      <p:sp>
        <p:nvSpPr>
          <p:cNvPr id="28" name="Shape 21"/>
          <p:cNvSpPr/>
          <p:nvPr/>
        </p:nvSpPr>
        <p:spPr>
          <a:xfrm>
            <a:off x="9820656" y="2670048"/>
            <a:ext cx="448056" cy="0"/>
          </a:xfrm>
          <a:prstGeom prst="line">
            <a:avLst/>
          </a:prstGeom>
          <a:noFill/>
          <a:ln w="25400">
            <a:solidFill>
              <a:srgbClr val="34D399"/>
            </a:solidFill>
            <a:prstDash val="solid"/>
            <a:tailEnd type="triangle"/>
          </a:ln>
        </p:spPr>
      </p:sp>
      <p:sp>
        <p:nvSpPr>
          <p:cNvPr id="29" name="Shape 22"/>
          <p:cNvSpPr/>
          <p:nvPr/>
        </p:nvSpPr>
        <p:spPr>
          <a:xfrm>
            <a:off x="10012680" y="1600200"/>
            <a:ext cx="1691640" cy="2148840"/>
          </a:xfrm>
          <a:prstGeom prst="roundRect">
            <a:avLst>
              <a:gd name="adj" fmla="val 6486"/>
            </a:avLst>
          </a:prstGeom>
          <a:solidFill>
            <a:srgbClr val="0E2748"/>
          </a:solidFill>
          <a:ln w="19050">
            <a:solidFill>
              <a:srgbClr val="34D399"/>
            </a:solidFill>
            <a:prstDash val="solid"/>
          </a:ln>
        </p:spPr>
      </p:sp>
      <p:sp>
        <p:nvSpPr>
          <p:cNvPr id="30" name="Text 23"/>
          <p:cNvSpPr txBox="1"/>
          <p:nvPr/>
        </p:nvSpPr>
        <p:spPr>
          <a:xfrm>
            <a:off x="9902952" y="1481328"/>
            <a:ext cx="384048" cy="384048"/>
          </a:xfrm>
          <a:prstGeom prst="ellipse">
            <a:avLst/>
          </a:prstGeom>
          <a:solidFill>
            <a:srgbClr val="34D399"/>
          </a:solidFill>
          <a:ln w="19050">
            <a:solidFill>
              <a:srgbClr val="071428"/>
            </a:solidFill>
          </a:ln>
        </p:spPr>
        <p:txBody>
          <a:bodyPr wrap="square" lIns="0" tIns="0" rIns="0" bIns="0" rtlCol="0" anchor="ctr"/>
          <a:lstStyle/>
          <a:p>
            <a:pPr marL="0" indent="0" algn="ctr">
              <a:buNone/>
            </a:pPr>
            <a:r>
              <a:rPr lang="en-US" sz="1400" b="1" dirty="0">
                <a:solidFill>
                  <a:srgbClr val="071428"/>
                </a:solidFill>
              </a:rPr>
              <a:t>6</a:t>
            </a:r>
            <a:endParaRPr lang="en-US" sz="1400" dirty="0"/>
          </a:p>
        </p:txBody>
      </p:sp>
      <p:pic>
        <p:nvPicPr>
          <p:cNvPr id="31" name="Image 5" descr="preencoded.png"/>
          <p:cNvPicPr>
            <a:picLocks noChangeAspect="1"/>
          </p:cNvPicPr>
          <p:nvPr/>
        </p:nvPicPr>
        <p:blipFill>
          <a:blip r:embed="rId8"/>
          <a:stretch>
            <a:fillRect/>
          </a:stretch>
        </p:blipFill>
        <p:spPr>
          <a:xfrm>
            <a:off x="10625328" y="2011680"/>
            <a:ext cx="475488" cy="475488"/>
          </a:xfrm>
          <a:prstGeom prst="rect">
            <a:avLst/>
          </a:prstGeom>
        </p:spPr>
      </p:pic>
      <p:sp>
        <p:nvSpPr>
          <p:cNvPr id="32" name="Text 24"/>
          <p:cNvSpPr txBox="1"/>
          <p:nvPr/>
        </p:nvSpPr>
        <p:spPr>
          <a:xfrm>
            <a:off x="10104120" y="2743200"/>
            <a:ext cx="1508760" cy="8229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Monitor &amp; optimize</a:t>
            </a:r>
            <a:endParaRPr lang="en-US" sz="1600" dirty="0"/>
          </a:p>
        </p:txBody>
      </p:sp>
      <p:sp>
        <p:nvSpPr>
          <p:cNvPr id="33" name="Text 25"/>
          <p:cNvSpPr txBox="1"/>
          <p:nvPr/>
        </p:nvSpPr>
        <p:spPr>
          <a:xfrm>
            <a:off x="457200" y="4160520"/>
            <a:ext cx="3657600" cy="365760"/>
          </a:xfrm>
          <a:prstGeom prst="rect">
            <a:avLst/>
          </a:prstGeom>
          <a:noFill/>
          <a:ln/>
        </p:spPr>
        <p:txBody>
          <a:bodyPr wrap="square" lIns="0" tIns="0" rIns="0" bIns="0" rtlCol="0" anchor="ctr"/>
          <a:lstStyle/>
          <a:p>
            <a:pPr marL="0" indent="0">
              <a:buNone/>
            </a:pPr>
            <a:r>
              <a:rPr lang="en-US" sz="1800" b="1" dirty="0">
                <a:solidFill>
                  <a:srgbClr val="FBBF24"/>
                </a:solidFill>
                <a:latin typeface="Calibri" pitchFamily="34" charset="0"/>
                <a:ea typeface="Calibri" pitchFamily="34" charset="-122"/>
                <a:cs typeface="Calibri" pitchFamily="34" charset="-120"/>
              </a:rPr>
              <a:t>Main components</a:t>
            </a:r>
            <a:endParaRPr lang="en-US" sz="1800" dirty="0"/>
          </a:p>
        </p:txBody>
      </p:sp>
      <p:sp>
        <p:nvSpPr>
          <p:cNvPr id="34" name="Shape 26"/>
          <p:cNvSpPr/>
          <p:nvPr/>
        </p:nvSpPr>
        <p:spPr>
          <a:xfrm>
            <a:off x="457200" y="4617720"/>
            <a:ext cx="2651760" cy="1417320"/>
          </a:xfrm>
          <a:prstGeom prst="roundRect">
            <a:avLst>
              <a:gd name="adj" fmla="val 7742"/>
            </a:avLst>
          </a:prstGeom>
          <a:solidFill>
            <a:srgbClr val="0A1F3C"/>
          </a:solidFill>
          <a:ln w="19050">
            <a:solidFill>
              <a:srgbClr val="22D3EE"/>
            </a:solidFill>
            <a:prstDash val="solid"/>
          </a:ln>
        </p:spPr>
      </p:sp>
      <p:pic>
        <p:nvPicPr>
          <p:cNvPr id="35" name="Image 6" descr="preencoded.png"/>
          <p:cNvPicPr>
            <a:picLocks noChangeAspect="1"/>
          </p:cNvPicPr>
          <p:nvPr/>
        </p:nvPicPr>
        <p:blipFill>
          <a:blip r:embed="rId9"/>
          <a:stretch>
            <a:fillRect/>
          </a:stretch>
        </p:blipFill>
        <p:spPr>
          <a:xfrm>
            <a:off x="1554480" y="4800600"/>
            <a:ext cx="457200" cy="457200"/>
          </a:xfrm>
          <a:prstGeom prst="rect">
            <a:avLst/>
          </a:prstGeom>
        </p:spPr>
      </p:pic>
      <p:sp>
        <p:nvSpPr>
          <p:cNvPr id="36" name="Text 27"/>
          <p:cNvSpPr txBox="1"/>
          <p:nvPr/>
        </p:nvSpPr>
        <p:spPr>
          <a:xfrm>
            <a:off x="548640" y="5349240"/>
            <a:ext cx="246888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Physical infrastructure</a:t>
            </a:r>
            <a:endParaRPr lang="en-US" sz="1600" dirty="0"/>
          </a:p>
        </p:txBody>
      </p:sp>
      <p:sp>
        <p:nvSpPr>
          <p:cNvPr id="37" name="Shape 28"/>
          <p:cNvSpPr/>
          <p:nvPr/>
        </p:nvSpPr>
        <p:spPr>
          <a:xfrm>
            <a:off x="3328416" y="4617720"/>
            <a:ext cx="2651760" cy="1417320"/>
          </a:xfrm>
          <a:prstGeom prst="roundRect">
            <a:avLst>
              <a:gd name="adj" fmla="val 7742"/>
            </a:avLst>
          </a:prstGeom>
          <a:solidFill>
            <a:srgbClr val="0A1F3C"/>
          </a:solidFill>
          <a:ln w="19050">
            <a:solidFill>
              <a:srgbClr val="3B82F6"/>
            </a:solidFill>
            <a:prstDash val="solid"/>
          </a:ln>
        </p:spPr>
      </p:sp>
      <p:pic>
        <p:nvPicPr>
          <p:cNvPr id="38" name="Image 7" descr="preencoded.png"/>
          <p:cNvPicPr>
            <a:picLocks noChangeAspect="1"/>
          </p:cNvPicPr>
          <p:nvPr/>
        </p:nvPicPr>
        <p:blipFill>
          <a:blip r:embed="rId10"/>
          <a:stretch>
            <a:fillRect/>
          </a:stretch>
        </p:blipFill>
        <p:spPr>
          <a:xfrm>
            <a:off x="4425696" y="4800600"/>
            <a:ext cx="457200" cy="457200"/>
          </a:xfrm>
          <a:prstGeom prst="rect">
            <a:avLst/>
          </a:prstGeom>
        </p:spPr>
      </p:pic>
      <p:sp>
        <p:nvSpPr>
          <p:cNvPr id="39" name="Text 29"/>
          <p:cNvSpPr txBox="1"/>
          <p:nvPr/>
        </p:nvSpPr>
        <p:spPr>
          <a:xfrm>
            <a:off x="3419856" y="5349240"/>
            <a:ext cx="246888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Virtual network functions</a:t>
            </a:r>
            <a:endParaRPr lang="en-US" sz="1600" dirty="0"/>
          </a:p>
        </p:txBody>
      </p:sp>
      <p:sp>
        <p:nvSpPr>
          <p:cNvPr id="40" name="Shape 30"/>
          <p:cNvSpPr/>
          <p:nvPr/>
        </p:nvSpPr>
        <p:spPr>
          <a:xfrm>
            <a:off x="6199632" y="4617720"/>
            <a:ext cx="2651760" cy="1417320"/>
          </a:xfrm>
          <a:prstGeom prst="roundRect">
            <a:avLst>
              <a:gd name="adj" fmla="val 7742"/>
            </a:avLst>
          </a:prstGeom>
          <a:solidFill>
            <a:srgbClr val="0A1F3C"/>
          </a:solidFill>
          <a:ln w="19050">
            <a:solidFill>
              <a:srgbClr val="A78BFA"/>
            </a:solidFill>
            <a:prstDash val="solid"/>
          </a:ln>
        </p:spPr>
      </p:sp>
      <p:pic>
        <p:nvPicPr>
          <p:cNvPr id="41" name="Image 8" descr="preencoded.png"/>
          <p:cNvPicPr>
            <a:picLocks noChangeAspect="1"/>
          </p:cNvPicPr>
          <p:nvPr/>
        </p:nvPicPr>
        <p:blipFill>
          <a:blip r:embed="rId11"/>
          <a:stretch>
            <a:fillRect/>
          </a:stretch>
        </p:blipFill>
        <p:spPr>
          <a:xfrm>
            <a:off x="7296912" y="4800600"/>
            <a:ext cx="457200" cy="457200"/>
          </a:xfrm>
          <a:prstGeom prst="rect">
            <a:avLst/>
          </a:prstGeom>
        </p:spPr>
      </p:pic>
      <p:sp>
        <p:nvSpPr>
          <p:cNvPr id="42" name="Text 31"/>
          <p:cNvSpPr txBox="1"/>
          <p:nvPr/>
        </p:nvSpPr>
        <p:spPr>
          <a:xfrm>
            <a:off x="6291072" y="5349240"/>
            <a:ext cx="246888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Orchestration</a:t>
            </a:r>
            <a:endParaRPr lang="en-US" sz="1600" dirty="0"/>
          </a:p>
        </p:txBody>
      </p:sp>
      <p:sp>
        <p:nvSpPr>
          <p:cNvPr id="43" name="Shape 32"/>
          <p:cNvSpPr/>
          <p:nvPr/>
        </p:nvSpPr>
        <p:spPr>
          <a:xfrm>
            <a:off x="9070848" y="4617720"/>
            <a:ext cx="2651760" cy="1417320"/>
          </a:xfrm>
          <a:prstGeom prst="roundRect">
            <a:avLst>
              <a:gd name="adj" fmla="val 7742"/>
            </a:avLst>
          </a:prstGeom>
          <a:solidFill>
            <a:srgbClr val="0A1F3C"/>
          </a:solidFill>
          <a:ln w="19050">
            <a:solidFill>
              <a:srgbClr val="34D399"/>
            </a:solidFill>
            <a:prstDash val="solid"/>
          </a:ln>
        </p:spPr>
      </p:sp>
      <p:pic>
        <p:nvPicPr>
          <p:cNvPr id="44" name="Image 9" descr="preencoded.png"/>
          <p:cNvPicPr>
            <a:picLocks noChangeAspect="1"/>
          </p:cNvPicPr>
          <p:nvPr/>
        </p:nvPicPr>
        <p:blipFill>
          <a:blip r:embed="rId12"/>
          <a:stretch>
            <a:fillRect/>
          </a:stretch>
        </p:blipFill>
        <p:spPr>
          <a:xfrm>
            <a:off x="10168128" y="4800600"/>
            <a:ext cx="457200" cy="457200"/>
          </a:xfrm>
          <a:prstGeom prst="rect">
            <a:avLst/>
          </a:prstGeom>
        </p:spPr>
      </p:pic>
      <p:sp>
        <p:nvSpPr>
          <p:cNvPr id="45" name="Text 33"/>
          <p:cNvSpPr txBox="1"/>
          <p:nvPr/>
        </p:nvSpPr>
        <p:spPr>
          <a:xfrm>
            <a:off x="9162288" y="5349240"/>
            <a:ext cx="246888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Monitoring</a:t>
            </a:r>
            <a:endParaRPr lang="en-US" sz="1600" dirty="0"/>
          </a:p>
        </p:txBody>
      </p:sp>
      <p:sp>
        <p:nvSpPr>
          <p:cNvPr id="46" name="Slide Number Placeholder 0"/>
          <p:cNvSpPr>
            <a:spLocks noGrp="1"/>
          </p:cNvSpPr>
          <p:nvPr>
            <p:ph type="sldNum" sz="quarter" idx="4294967295"/>
          </p:nvPr>
        </p:nvSpPr>
        <p:spPr>
          <a:xfrm>
            <a:off x="11064240" y="6473952"/>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B3D9"/>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lide chip"/>
          <p:cNvSpPr txBox="1"/>
          <p:nvPr/>
        </p:nvSpPr>
        <p:spPr>
          <a:xfrm>
            <a:off x="457200" y="274320"/>
            <a:ext cx="640080" cy="640080"/>
          </a:xfrm>
          <a:prstGeom prst="roundRect">
            <a:avLst>
              <a:gd name="adj" fmla="val 14286"/>
            </a:avLst>
          </a:prstGeom>
          <a:solidFill>
            <a:srgbClr val="22D3EE"/>
          </a:solidFill>
          <a:ln/>
        </p:spPr>
        <p:txBody>
          <a:bodyPr wrap="square" lIns="0" tIns="0" rIns="0" bIns="0" rtlCol="0" anchor="ctr"/>
          <a:lstStyle/>
          <a:p>
            <a:pPr marL="0" indent="0" algn="ctr">
              <a:buNone/>
            </a:pPr>
            <a:r>
              <a:rPr lang="en-US" sz="2200" b="1" dirty="0">
                <a:solidFill>
                  <a:srgbClr val="071428"/>
                </a:solidFill>
              </a:rPr>
              <a:t>05</a:t>
            </a:r>
            <a:endParaRPr lang="en-US" sz="2200" dirty="0"/>
          </a:p>
        </p:txBody>
      </p:sp>
      <p:sp>
        <p:nvSpPr>
          <p:cNvPr id="3" name="Text 0"/>
          <p:cNvSpPr>
            <a:spLocks noGrp="1"/>
          </p:cNvSpPr>
          <p:nvPr>
            <p:ph type="title" idx="100" hasCustomPrompt="1"/>
          </p:nvPr>
        </p:nvSpPr>
        <p:spPr>
          <a:xfrm>
            <a:off x="1280160" y="256032"/>
            <a:ext cx="10424160" cy="685800"/>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Network Slicing Architecture</a:t>
            </a:r>
            <a:endParaRPr lang="en-US" sz="3000" dirty="0"/>
          </a:p>
        </p:txBody>
      </p:sp>
      <p:sp>
        <p:nvSpPr>
          <p:cNvPr id="4" name="Shape 2"/>
          <p:cNvSpPr/>
          <p:nvPr/>
        </p:nvSpPr>
        <p:spPr>
          <a:xfrm>
            <a:off x="548640" y="1371600"/>
            <a:ext cx="7955280" cy="1463040"/>
          </a:xfrm>
          <a:prstGeom prst="roundRect">
            <a:avLst>
              <a:gd name="adj" fmla="val 7500"/>
            </a:avLst>
          </a:prstGeom>
          <a:solidFill>
            <a:srgbClr val="0E2748"/>
          </a:solidFill>
          <a:ln w="19050">
            <a:solidFill>
              <a:srgbClr val="22D3EE"/>
            </a:solidFill>
            <a:prstDash val="solid"/>
          </a:ln>
        </p:spPr>
      </p:sp>
      <p:sp>
        <p:nvSpPr>
          <p:cNvPr id="5" name="Text 3"/>
          <p:cNvSpPr txBox="1"/>
          <p:nvPr/>
        </p:nvSpPr>
        <p:spPr>
          <a:xfrm>
            <a:off x="822960" y="1463040"/>
            <a:ext cx="3657600" cy="457200"/>
          </a:xfrm>
          <a:prstGeom prst="rect">
            <a:avLst/>
          </a:prstGeom>
          <a:noFill/>
          <a:ln/>
        </p:spPr>
        <p:txBody>
          <a:bodyPr wrap="square" lIns="0" tIns="0" rIns="0" bIns="0" rtlCol="0" anchor="ctr"/>
          <a:lstStyle/>
          <a:p>
            <a:pPr marL="0" indent="0">
              <a:buNone/>
            </a:pPr>
            <a:r>
              <a:rPr lang="en-US" sz="2000" b="1" dirty="0">
                <a:solidFill>
                  <a:srgbClr val="22D3EE"/>
                </a:solidFill>
                <a:latin typeface="Calibri" pitchFamily="34" charset="0"/>
                <a:ea typeface="Calibri" pitchFamily="34" charset="-122"/>
                <a:cs typeface="Calibri" pitchFamily="34" charset="-120"/>
              </a:rPr>
              <a:t>Network slice layer</a:t>
            </a:r>
            <a:endParaRPr lang="en-US" sz="2000" dirty="0"/>
          </a:p>
        </p:txBody>
      </p:sp>
      <p:sp>
        <p:nvSpPr>
          <p:cNvPr id="6" name="Text 4"/>
          <p:cNvSpPr txBox="1"/>
          <p:nvPr/>
        </p:nvSpPr>
        <p:spPr>
          <a:xfrm>
            <a:off x="822960" y="2011680"/>
            <a:ext cx="2286000" cy="594360"/>
          </a:xfrm>
          <a:prstGeom prst="roundRect">
            <a:avLst>
              <a:gd name="adj" fmla="val 15385"/>
            </a:avLst>
          </a:prstGeom>
          <a:solidFill>
            <a:srgbClr val="22D3EE"/>
          </a:solidFill>
          <a:ln/>
        </p:spPr>
        <p:txBody>
          <a:bodyPr wrap="square" lIns="0" tIns="0" rIns="0" bIns="0" rtlCol="0" anchor="ctr"/>
          <a:lstStyle/>
          <a:p>
            <a:pPr marL="0" indent="0" algn="ctr">
              <a:buNone/>
            </a:pPr>
            <a:r>
              <a:rPr lang="en-US" sz="1800" b="1" dirty="0">
                <a:solidFill>
                  <a:srgbClr val="071428"/>
                </a:solidFill>
              </a:rPr>
              <a:t>eMBB</a:t>
            </a:r>
            <a:endParaRPr lang="en-US" sz="1800" dirty="0"/>
          </a:p>
        </p:txBody>
      </p:sp>
      <p:sp>
        <p:nvSpPr>
          <p:cNvPr id="7" name="Text 5"/>
          <p:cNvSpPr txBox="1"/>
          <p:nvPr/>
        </p:nvSpPr>
        <p:spPr>
          <a:xfrm>
            <a:off x="3291840" y="2011680"/>
            <a:ext cx="2286000" cy="594360"/>
          </a:xfrm>
          <a:prstGeom prst="roundRect">
            <a:avLst>
              <a:gd name="adj" fmla="val 15385"/>
            </a:avLst>
          </a:prstGeom>
          <a:solidFill>
            <a:srgbClr val="A78BFA"/>
          </a:solidFill>
          <a:ln/>
        </p:spPr>
        <p:txBody>
          <a:bodyPr wrap="square" lIns="0" tIns="0" rIns="0" bIns="0" rtlCol="0" anchor="ctr"/>
          <a:lstStyle/>
          <a:p>
            <a:pPr marL="0" indent="0" algn="ctr">
              <a:buNone/>
            </a:pPr>
            <a:r>
              <a:rPr lang="en-US" sz="1800" b="1" dirty="0">
                <a:solidFill>
                  <a:srgbClr val="071428"/>
                </a:solidFill>
              </a:rPr>
              <a:t>URLLC</a:t>
            </a:r>
            <a:endParaRPr lang="en-US" sz="1800" dirty="0"/>
          </a:p>
        </p:txBody>
      </p:sp>
      <p:sp>
        <p:nvSpPr>
          <p:cNvPr id="8" name="Text 6"/>
          <p:cNvSpPr txBox="1"/>
          <p:nvPr/>
        </p:nvSpPr>
        <p:spPr>
          <a:xfrm>
            <a:off x="5760720" y="2011680"/>
            <a:ext cx="2286000" cy="594360"/>
          </a:xfrm>
          <a:prstGeom prst="roundRect">
            <a:avLst>
              <a:gd name="adj" fmla="val 15385"/>
            </a:avLst>
          </a:prstGeom>
          <a:solidFill>
            <a:srgbClr val="34D399"/>
          </a:solidFill>
          <a:ln/>
        </p:spPr>
        <p:txBody>
          <a:bodyPr wrap="square" lIns="0" tIns="0" rIns="0" bIns="0" rtlCol="0" anchor="ctr"/>
          <a:lstStyle/>
          <a:p>
            <a:pPr marL="0" indent="0" algn="ctr">
              <a:buNone/>
            </a:pPr>
            <a:r>
              <a:rPr lang="en-US" sz="1800" b="1" dirty="0">
                <a:solidFill>
                  <a:srgbClr val="071428"/>
                </a:solidFill>
              </a:rPr>
              <a:t>mMTC</a:t>
            </a:r>
            <a:endParaRPr lang="en-US" sz="1800" dirty="0"/>
          </a:p>
        </p:txBody>
      </p:sp>
      <p:sp>
        <p:nvSpPr>
          <p:cNvPr id="9" name="Shape 7"/>
          <p:cNvSpPr/>
          <p:nvPr/>
        </p:nvSpPr>
        <p:spPr>
          <a:xfrm>
            <a:off x="548640" y="3063240"/>
            <a:ext cx="7955280" cy="1371600"/>
          </a:xfrm>
          <a:prstGeom prst="roundRect">
            <a:avLst>
              <a:gd name="adj" fmla="val 8000"/>
            </a:avLst>
          </a:prstGeom>
          <a:solidFill>
            <a:srgbClr val="0E2748"/>
          </a:solidFill>
          <a:ln w="19050">
            <a:solidFill>
              <a:srgbClr val="3B82F6"/>
            </a:solidFill>
            <a:prstDash val="solid"/>
          </a:ln>
        </p:spPr>
      </p:sp>
      <p:sp>
        <p:nvSpPr>
          <p:cNvPr id="10" name="Text 8"/>
          <p:cNvSpPr txBox="1"/>
          <p:nvPr/>
        </p:nvSpPr>
        <p:spPr>
          <a:xfrm>
            <a:off x="822960" y="3154680"/>
            <a:ext cx="3657600" cy="457200"/>
          </a:xfrm>
          <a:prstGeom prst="rect">
            <a:avLst/>
          </a:prstGeom>
          <a:noFill/>
          <a:ln/>
        </p:spPr>
        <p:txBody>
          <a:bodyPr wrap="square" lIns="0" tIns="0" rIns="0" bIns="0" rtlCol="0" anchor="ctr"/>
          <a:lstStyle/>
          <a:p>
            <a:pPr marL="0" indent="0">
              <a:buNone/>
            </a:pPr>
            <a:r>
              <a:rPr lang="en-US" sz="2000" b="1" dirty="0">
                <a:solidFill>
                  <a:srgbClr val="3B82F6"/>
                </a:solidFill>
                <a:latin typeface="Calibri" pitchFamily="34" charset="0"/>
                <a:ea typeface="Calibri" pitchFamily="34" charset="-122"/>
                <a:cs typeface="Calibri" pitchFamily="34" charset="-120"/>
              </a:rPr>
              <a:t>Virtualization layer</a:t>
            </a:r>
            <a:endParaRPr lang="en-US" sz="2000" dirty="0"/>
          </a:p>
        </p:txBody>
      </p:sp>
      <p:pic>
        <p:nvPicPr>
          <p:cNvPr id="11" name="Image 0" descr="preencoded.png"/>
          <p:cNvPicPr>
            <a:picLocks noChangeAspect="1"/>
          </p:cNvPicPr>
          <p:nvPr/>
        </p:nvPicPr>
        <p:blipFill>
          <a:blip r:embed="rId3"/>
          <a:stretch>
            <a:fillRect/>
          </a:stretch>
        </p:blipFill>
        <p:spPr>
          <a:xfrm>
            <a:off x="822960" y="3794760"/>
            <a:ext cx="411480" cy="411480"/>
          </a:xfrm>
          <a:prstGeom prst="rect">
            <a:avLst/>
          </a:prstGeom>
        </p:spPr>
      </p:pic>
      <p:sp>
        <p:nvSpPr>
          <p:cNvPr id="12" name="Text 9"/>
          <p:cNvSpPr txBox="1"/>
          <p:nvPr/>
        </p:nvSpPr>
        <p:spPr>
          <a:xfrm>
            <a:off x="1371600" y="3749040"/>
            <a:ext cx="1737360" cy="502920"/>
          </a:xfrm>
          <a:prstGeom prst="rect">
            <a:avLst/>
          </a:prstGeom>
          <a:noFill/>
          <a:ln/>
        </p:spPr>
        <p:txBody>
          <a:bodyPr wrap="square" lIns="0" tIns="0" rIns="0" bIns="0" rtlCol="0" anchor="ctr"/>
          <a:lstStyle/>
          <a:p>
            <a:pPr marL="0" indent="0">
              <a:buNone/>
            </a:pPr>
            <a:r>
              <a:rPr lang="en-US" sz="1400" dirty="0">
                <a:solidFill>
                  <a:srgbClr val="BFD7EE"/>
                </a:solidFill>
                <a:latin typeface="Calibri" pitchFamily="34" charset="0"/>
                <a:ea typeface="Calibri" pitchFamily="34" charset="-122"/>
                <a:cs typeface="Calibri" pitchFamily="34" charset="-120"/>
              </a:rPr>
              <a:t>Virtual compute</a:t>
            </a:r>
            <a:endParaRPr lang="en-US" sz="1400" dirty="0"/>
          </a:p>
        </p:txBody>
      </p:sp>
      <p:pic>
        <p:nvPicPr>
          <p:cNvPr id="13" name="Image 1" descr="preencoded.png"/>
          <p:cNvPicPr>
            <a:picLocks noChangeAspect="1"/>
          </p:cNvPicPr>
          <p:nvPr/>
        </p:nvPicPr>
        <p:blipFill>
          <a:blip r:embed="rId4"/>
          <a:stretch>
            <a:fillRect/>
          </a:stretch>
        </p:blipFill>
        <p:spPr>
          <a:xfrm>
            <a:off x="3291840" y="3794760"/>
            <a:ext cx="411480" cy="411480"/>
          </a:xfrm>
          <a:prstGeom prst="rect">
            <a:avLst/>
          </a:prstGeom>
        </p:spPr>
      </p:pic>
      <p:sp>
        <p:nvSpPr>
          <p:cNvPr id="14" name="Text 10"/>
          <p:cNvSpPr txBox="1"/>
          <p:nvPr/>
        </p:nvSpPr>
        <p:spPr>
          <a:xfrm>
            <a:off x="3840480" y="3749040"/>
            <a:ext cx="1737360" cy="502920"/>
          </a:xfrm>
          <a:prstGeom prst="rect">
            <a:avLst/>
          </a:prstGeom>
          <a:noFill/>
          <a:ln/>
        </p:spPr>
        <p:txBody>
          <a:bodyPr wrap="square" lIns="0" tIns="0" rIns="0" bIns="0" rtlCol="0" anchor="ctr"/>
          <a:lstStyle/>
          <a:p>
            <a:pPr marL="0" indent="0">
              <a:buNone/>
            </a:pPr>
            <a:r>
              <a:rPr lang="en-US" sz="1400" dirty="0">
                <a:solidFill>
                  <a:srgbClr val="BFD7EE"/>
                </a:solidFill>
                <a:latin typeface="Calibri" pitchFamily="34" charset="0"/>
                <a:ea typeface="Calibri" pitchFamily="34" charset="-122"/>
                <a:cs typeface="Calibri" pitchFamily="34" charset="-120"/>
              </a:rPr>
              <a:t>Virtual storage</a:t>
            </a:r>
            <a:endParaRPr lang="en-US" sz="1400" dirty="0"/>
          </a:p>
        </p:txBody>
      </p:sp>
      <p:pic>
        <p:nvPicPr>
          <p:cNvPr id="15" name="Image 2" descr="preencoded.png"/>
          <p:cNvPicPr>
            <a:picLocks noChangeAspect="1"/>
          </p:cNvPicPr>
          <p:nvPr/>
        </p:nvPicPr>
        <p:blipFill>
          <a:blip r:embed="rId5"/>
          <a:stretch>
            <a:fillRect/>
          </a:stretch>
        </p:blipFill>
        <p:spPr>
          <a:xfrm>
            <a:off x="5760720" y="3794760"/>
            <a:ext cx="411480" cy="411480"/>
          </a:xfrm>
          <a:prstGeom prst="rect">
            <a:avLst/>
          </a:prstGeom>
        </p:spPr>
      </p:pic>
      <p:sp>
        <p:nvSpPr>
          <p:cNvPr id="16" name="Text 11"/>
          <p:cNvSpPr txBox="1"/>
          <p:nvPr/>
        </p:nvSpPr>
        <p:spPr>
          <a:xfrm>
            <a:off x="6309360" y="3749040"/>
            <a:ext cx="1737360" cy="502920"/>
          </a:xfrm>
          <a:prstGeom prst="rect">
            <a:avLst/>
          </a:prstGeom>
          <a:noFill/>
          <a:ln/>
        </p:spPr>
        <p:txBody>
          <a:bodyPr wrap="square" lIns="0" tIns="0" rIns="0" bIns="0" rtlCol="0" anchor="ctr"/>
          <a:lstStyle/>
          <a:p>
            <a:pPr marL="0" indent="0">
              <a:buNone/>
            </a:pPr>
            <a:r>
              <a:rPr lang="en-US" sz="1400" dirty="0">
                <a:solidFill>
                  <a:srgbClr val="BFD7EE"/>
                </a:solidFill>
                <a:latin typeface="Calibri" pitchFamily="34" charset="0"/>
                <a:ea typeface="Calibri" pitchFamily="34" charset="-122"/>
                <a:cs typeface="Calibri" pitchFamily="34" charset="-120"/>
              </a:rPr>
              <a:t>Virtual network</a:t>
            </a:r>
            <a:endParaRPr lang="en-US" sz="1400" dirty="0"/>
          </a:p>
        </p:txBody>
      </p:sp>
      <p:sp>
        <p:nvSpPr>
          <p:cNvPr id="17" name="Shape 12"/>
          <p:cNvSpPr/>
          <p:nvPr/>
        </p:nvSpPr>
        <p:spPr>
          <a:xfrm>
            <a:off x="548640" y="4663440"/>
            <a:ext cx="7955280" cy="1463040"/>
          </a:xfrm>
          <a:prstGeom prst="roundRect">
            <a:avLst>
              <a:gd name="adj" fmla="val 7500"/>
            </a:avLst>
          </a:prstGeom>
          <a:solidFill>
            <a:srgbClr val="0E2748"/>
          </a:solidFill>
          <a:ln w="19050">
            <a:solidFill>
              <a:srgbClr val="5B6B8C"/>
            </a:solidFill>
            <a:prstDash val="solid"/>
          </a:ln>
        </p:spPr>
      </p:sp>
      <p:sp>
        <p:nvSpPr>
          <p:cNvPr id="18" name="Text 13"/>
          <p:cNvSpPr txBox="1"/>
          <p:nvPr/>
        </p:nvSpPr>
        <p:spPr>
          <a:xfrm>
            <a:off x="822960" y="4754880"/>
            <a:ext cx="3657600" cy="457200"/>
          </a:xfrm>
          <a:prstGeom prst="rect">
            <a:avLst/>
          </a:prstGeom>
          <a:noFill/>
          <a:ln/>
        </p:spPr>
        <p:txBody>
          <a:bodyPr wrap="square" lIns="0" tIns="0" rIns="0" bIns="0" rtlCol="0" anchor="ctr"/>
          <a:lstStyle/>
          <a:p>
            <a:pPr marL="0" indent="0">
              <a:buNone/>
            </a:pPr>
            <a:r>
              <a:rPr lang="en-US" sz="2000" b="1" dirty="0">
                <a:solidFill>
                  <a:srgbClr val="BFD7EE"/>
                </a:solidFill>
                <a:latin typeface="Calibri" pitchFamily="34" charset="0"/>
                <a:ea typeface="Calibri" pitchFamily="34" charset="-122"/>
                <a:cs typeface="Calibri" pitchFamily="34" charset="-120"/>
              </a:rPr>
              <a:t>Physical infrastructure</a:t>
            </a:r>
            <a:endParaRPr lang="en-US" sz="2000" dirty="0"/>
          </a:p>
        </p:txBody>
      </p:sp>
      <p:pic>
        <p:nvPicPr>
          <p:cNvPr id="19" name="Image 3" descr="preencoded.png"/>
          <p:cNvPicPr>
            <a:picLocks noChangeAspect="1"/>
          </p:cNvPicPr>
          <p:nvPr/>
        </p:nvPicPr>
        <p:blipFill>
          <a:blip r:embed="rId6"/>
          <a:stretch>
            <a:fillRect/>
          </a:stretch>
        </p:blipFill>
        <p:spPr>
          <a:xfrm>
            <a:off x="822960" y="5440680"/>
            <a:ext cx="411480" cy="411480"/>
          </a:xfrm>
          <a:prstGeom prst="rect">
            <a:avLst/>
          </a:prstGeom>
        </p:spPr>
      </p:pic>
      <p:sp>
        <p:nvSpPr>
          <p:cNvPr id="20" name="Text 14"/>
          <p:cNvSpPr txBox="1"/>
          <p:nvPr/>
        </p:nvSpPr>
        <p:spPr>
          <a:xfrm>
            <a:off x="1371600" y="5394960"/>
            <a:ext cx="1737360" cy="502920"/>
          </a:xfrm>
          <a:prstGeom prst="rect">
            <a:avLst/>
          </a:prstGeom>
          <a:noFill/>
          <a:ln/>
        </p:spPr>
        <p:txBody>
          <a:bodyPr wrap="square" lIns="0" tIns="0" rIns="0" bIns="0" rtlCol="0" anchor="ctr"/>
          <a:lstStyle/>
          <a:p>
            <a:pPr marL="0" indent="0">
              <a:buNone/>
            </a:pPr>
            <a:r>
              <a:rPr lang="en-US" sz="1400" dirty="0">
                <a:solidFill>
                  <a:srgbClr val="BFD7EE"/>
                </a:solidFill>
                <a:latin typeface="Calibri" pitchFamily="34" charset="0"/>
                <a:ea typeface="Calibri" pitchFamily="34" charset="-122"/>
                <a:cs typeface="Calibri" pitchFamily="34" charset="-120"/>
              </a:rPr>
              <a:t>Base stations</a:t>
            </a:r>
            <a:endParaRPr lang="en-US" sz="1400" dirty="0"/>
          </a:p>
        </p:txBody>
      </p:sp>
      <p:pic>
        <p:nvPicPr>
          <p:cNvPr id="21" name="Image 4" descr="preencoded.png"/>
          <p:cNvPicPr>
            <a:picLocks noChangeAspect="1"/>
          </p:cNvPicPr>
          <p:nvPr/>
        </p:nvPicPr>
        <p:blipFill>
          <a:blip r:embed="rId7"/>
          <a:stretch>
            <a:fillRect/>
          </a:stretch>
        </p:blipFill>
        <p:spPr>
          <a:xfrm>
            <a:off x="3291840" y="5440680"/>
            <a:ext cx="411480" cy="411480"/>
          </a:xfrm>
          <a:prstGeom prst="rect">
            <a:avLst/>
          </a:prstGeom>
        </p:spPr>
      </p:pic>
      <p:sp>
        <p:nvSpPr>
          <p:cNvPr id="22" name="Text 15"/>
          <p:cNvSpPr txBox="1"/>
          <p:nvPr/>
        </p:nvSpPr>
        <p:spPr>
          <a:xfrm>
            <a:off x="3840480" y="5394960"/>
            <a:ext cx="1737360" cy="502920"/>
          </a:xfrm>
          <a:prstGeom prst="rect">
            <a:avLst/>
          </a:prstGeom>
          <a:noFill/>
          <a:ln/>
        </p:spPr>
        <p:txBody>
          <a:bodyPr wrap="square" lIns="0" tIns="0" rIns="0" bIns="0" rtlCol="0" anchor="ctr"/>
          <a:lstStyle/>
          <a:p>
            <a:pPr marL="0" indent="0">
              <a:buNone/>
            </a:pPr>
            <a:r>
              <a:rPr lang="en-US" sz="1400" dirty="0">
                <a:solidFill>
                  <a:srgbClr val="BFD7EE"/>
                </a:solidFill>
                <a:latin typeface="Calibri" pitchFamily="34" charset="0"/>
                <a:ea typeface="Calibri" pitchFamily="34" charset="-122"/>
                <a:cs typeface="Calibri" pitchFamily="34" charset="-120"/>
              </a:rPr>
              <a:t>Servers</a:t>
            </a:r>
            <a:endParaRPr lang="en-US" sz="1400" dirty="0"/>
          </a:p>
        </p:txBody>
      </p:sp>
      <p:pic>
        <p:nvPicPr>
          <p:cNvPr id="23" name="Image 5" descr="preencoded.png"/>
          <p:cNvPicPr>
            <a:picLocks noChangeAspect="1"/>
          </p:cNvPicPr>
          <p:nvPr/>
        </p:nvPicPr>
        <p:blipFill>
          <a:blip r:embed="rId8"/>
          <a:stretch>
            <a:fillRect/>
          </a:stretch>
        </p:blipFill>
        <p:spPr>
          <a:xfrm>
            <a:off x="5760720" y="5440680"/>
            <a:ext cx="411480" cy="411480"/>
          </a:xfrm>
          <a:prstGeom prst="rect">
            <a:avLst/>
          </a:prstGeom>
        </p:spPr>
      </p:pic>
      <p:sp>
        <p:nvSpPr>
          <p:cNvPr id="24" name="Text 16"/>
          <p:cNvSpPr txBox="1"/>
          <p:nvPr/>
        </p:nvSpPr>
        <p:spPr>
          <a:xfrm>
            <a:off x="6309360" y="5394960"/>
            <a:ext cx="1737360" cy="502920"/>
          </a:xfrm>
          <a:prstGeom prst="rect">
            <a:avLst/>
          </a:prstGeom>
          <a:noFill/>
          <a:ln/>
        </p:spPr>
        <p:txBody>
          <a:bodyPr wrap="square" lIns="0" tIns="0" rIns="0" bIns="0" rtlCol="0" anchor="ctr"/>
          <a:lstStyle/>
          <a:p>
            <a:pPr marL="0" indent="0">
              <a:buNone/>
            </a:pPr>
            <a:r>
              <a:rPr lang="en-US" sz="1400" dirty="0">
                <a:solidFill>
                  <a:srgbClr val="BFD7EE"/>
                </a:solidFill>
                <a:latin typeface="Calibri" pitchFamily="34" charset="0"/>
                <a:ea typeface="Calibri" pitchFamily="34" charset="-122"/>
                <a:cs typeface="Calibri" pitchFamily="34" charset="-120"/>
              </a:rPr>
              <a:t>Routers &amp; links</a:t>
            </a:r>
            <a:endParaRPr lang="en-US" sz="1400" dirty="0"/>
          </a:p>
        </p:txBody>
      </p:sp>
      <p:sp>
        <p:nvSpPr>
          <p:cNvPr id="25" name="Shape 17"/>
          <p:cNvSpPr/>
          <p:nvPr/>
        </p:nvSpPr>
        <p:spPr>
          <a:xfrm>
            <a:off x="9098280" y="1371600"/>
            <a:ext cx="2606040" cy="4754880"/>
          </a:xfrm>
          <a:prstGeom prst="roundRect">
            <a:avLst>
              <a:gd name="adj" fmla="val 4211"/>
            </a:avLst>
          </a:prstGeom>
          <a:solidFill>
            <a:srgbClr val="1B1B4A"/>
          </a:solidFill>
          <a:ln w="19050">
            <a:solidFill>
              <a:srgbClr val="A78BFA"/>
            </a:solidFill>
            <a:prstDash val="solid"/>
          </a:ln>
        </p:spPr>
      </p:sp>
      <p:sp>
        <p:nvSpPr>
          <p:cNvPr id="26" name="Shape 18"/>
          <p:cNvSpPr/>
          <p:nvPr/>
        </p:nvSpPr>
        <p:spPr>
          <a:xfrm>
            <a:off x="9921240" y="1645920"/>
            <a:ext cx="960120" cy="960120"/>
          </a:xfrm>
          <a:prstGeom prst="ellipse">
            <a:avLst/>
          </a:prstGeom>
          <a:solidFill>
            <a:srgbClr val="0E2748"/>
          </a:solidFill>
          <a:ln w="19050">
            <a:solidFill>
              <a:srgbClr val="A78BFA"/>
            </a:solidFill>
            <a:prstDash val="solid"/>
          </a:ln>
        </p:spPr>
      </p:sp>
      <p:pic>
        <p:nvPicPr>
          <p:cNvPr id="27" name="Image 6" descr="preencoded.png"/>
          <p:cNvPicPr>
            <a:picLocks noChangeAspect="1"/>
          </p:cNvPicPr>
          <p:nvPr/>
        </p:nvPicPr>
        <p:blipFill>
          <a:blip r:embed="rId9"/>
          <a:stretch>
            <a:fillRect/>
          </a:stretch>
        </p:blipFill>
        <p:spPr>
          <a:xfrm>
            <a:off x="10186416" y="1911096"/>
            <a:ext cx="429768" cy="429768"/>
          </a:xfrm>
          <a:prstGeom prst="rect">
            <a:avLst/>
          </a:prstGeom>
        </p:spPr>
      </p:pic>
      <p:sp>
        <p:nvSpPr>
          <p:cNvPr id="28" name="Text 19"/>
          <p:cNvSpPr txBox="1"/>
          <p:nvPr/>
        </p:nvSpPr>
        <p:spPr>
          <a:xfrm>
            <a:off x="9235440" y="2743200"/>
            <a:ext cx="2331720" cy="82296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Management &amp; orchestration</a:t>
            </a:r>
            <a:endParaRPr lang="en-US" sz="1800" dirty="0"/>
          </a:p>
        </p:txBody>
      </p:sp>
      <p:pic>
        <p:nvPicPr>
          <p:cNvPr id="29" name="Image 7" descr="preencoded.png"/>
          <p:cNvPicPr>
            <a:picLocks noChangeAspect="1"/>
          </p:cNvPicPr>
          <p:nvPr/>
        </p:nvPicPr>
        <p:blipFill>
          <a:blip r:embed="rId10"/>
          <a:stretch>
            <a:fillRect/>
          </a:stretch>
        </p:blipFill>
        <p:spPr>
          <a:xfrm>
            <a:off x="9601200" y="3858768"/>
            <a:ext cx="347472" cy="347472"/>
          </a:xfrm>
          <a:prstGeom prst="rect">
            <a:avLst/>
          </a:prstGeom>
        </p:spPr>
      </p:pic>
      <p:sp>
        <p:nvSpPr>
          <p:cNvPr id="30" name="Text 20"/>
          <p:cNvSpPr txBox="1"/>
          <p:nvPr/>
        </p:nvSpPr>
        <p:spPr>
          <a:xfrm>
            <a:off x="10104120" y="3794760"/>
            <a:ext cx="1463040" cy="47548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Create</a:t>
            </a:r>
            <a:endParaRPr lang="en-US" sz="1600" dirty="0"/>
          </a:p>
        </p:txBody>
      </p:sp>
      <p:pic>
        <p:nvPicPr>
          <p:cNvPr id="31" name="Image 8" descr="preencoded.png"/>
          <p:cNvPicPr>
            <a:picLocks noChangeAspect="1"/>
          </p:cNvPicPr>
          <p:nvPr/>
        </p:nvPicPr>
        <p:blipFill>
          <a:blip r:embed="rId11"/>
          <a:stretch>
            <a:fillRect/>
          </a:stretch>
        </p:blipFill>
        <p:spPr>
          <a:xfrm>
            <a:off x="9601200" y="4590288"/>
            <a:ext cx="347472" cy="347472"/>
          </a:xfrm>
          <a:prstGeom prst="rect">
            <a:avLst/>
          </a:prstGeom>
        </p:spPr>
      </p:pic>
      <p:sp>
        <p:nvSpPr>
          <p:cNvPr id="32" name="Text 21"/>
          <p:cNvSpPr txBox="1"/>
          <p:nvPr/>
        </p:nvSpPr>
        <p:spPr>
          <a:xfrm>
            <a:off x="10104120" y="4526280"/>
            <a:ext cx="1463040" cy="47548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Configure</a:t>
            </a:r>
            <a:endParaRPr lang="en-US" sz="1600" dirty="0"/>
          </a:p>
        </p:txBody>
      </p:sp>
      <p:pic>
        <p:nvPicPr>
          <p:cNvPr id="33" name="Image 9" descr="preencoded.png"/>
          <p:cNvPicPr>
            <a:picLocks noChangeAspect="1"/>
          </p:cNvPicPr>
          <p:nvPr/>
        </p:nvPicPr>
        <p:blipFill>
          <a:blip r:embed="rId12"/>
          <a:stretch>
            <a:fillRect/>
          </a:stretch>
        </p:blipFill>
        <p:spPr>
          <a:xfrm>
            <a:off x="9601200" y="5321808"/>
            <a:ext cx="347472" cy="347472"/>
          </a:xfrm>
          <a:prstGeom prst="rect">
            <a:avLst/>
          </a:prstGeom>
        </p:spPr>
      </p:pic>
      <p:sp>
        <p:nvSpPr>
          <p:cNvPr id="34" name="Text 22"/>
          <p:cNvSpPr txBox="1"/>
          <p:nvPr/>
        </p:nvSpPr>
        <p:spPr>
          <a:xfrm>
            <a:off x="10104120" y="5257800"/>
            <a:ext cx="1463040" cy="47548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Monitor</a:t>
            </a:r>
            <a:endParaRPr lang="en-US" sz="1600" dirty="0"/>
          </a:p>
        </p:txBody>
      </p:sp>
      <p:sp>
        <p:nvSpPr>
          <p:cNvPr id="35" name="Shape 23"/>
          <p:cNvSpPr/>
          <p:nvPr/>
        </p:nvSpPr>
        <p:spPr>
          <a:xfrm flipH="1">
            <a:off x="8549640" y="2103120"/>
            <a:ext cx="502920" cy="0"/>
          </a:xfrm>
          <a:prstGeom prst="line">
            <a:avLst/>
          </a:prstGeom>
          <a:noFill/>
          <a:ln w="31750">
            <a:solidFill>
              <a:srgbClr val="A78BFA"/>
            </a:solidFill>
            <a:prstDash val="solid"/>
            <a:tailEnd type="triangle"/>
          </a:ln>
        </p:spPr>
      </p:sp>
      <p:sp>
        <p:nvSpPr>
          <p:cNvPr id="36" name="Shape 24"/>
          <p:cNvSpPr/>
          <p:nvPr/>
        </p:nvSpPr>
        <p:spPr>
          <a:xfrm flipH="1">
            <a:off x="8549640" y="3749040"/>
            <a:ext cx="502920" cy="0"/>
          </a:xfrm>
          <a:prstGeom prst="line">
            <a:avLst/>
          </a:prstGeom>
          <a:noFill/>
          <a:ln w="31750">
            <a:solidFill>
              <a:srgbClr val="A78BFA"/>
            </a:solidFill>
            <a:prstDash val="solid"/>
            <a:tailEnd type="triangle"/>
          </a:ln>
        </p:spPr>
      </p:sp>
      <p:sp>
        <p:nvSpPr>
          <p:cNvPr id="37" name="Shape 25"/>
          <p:cNvSpPr/>
          <p:nvPr/>
        </p:nvSpPr>
        <p:spPr>
          <a:xfrm flipH="1">
            <a:off x="8549640" y="5394960"/>
            <a:ext cx="502920" cy="0"/>
          </a:xfrm>
          <a:prstGeom prst="line">
            <a:avLst/>
          </a:prstGeom>
          <a:noFill/>
          <a:ln w="31750">
            <a:solidFill>
              <a:srgbClr val="A78BFA"/>
            </a:solidFill>
            <a:prstDash val="solid"/>
            <a:tailEnd type="triangle"/>
          </a:ln>
        </p:spPr>
      </p:sp>
      <p:sp>
        <p:nvSpPr>
          <p:cNvPr id="38" name="Slide Number Placeholder 0"/>
          <p:cNvSpPr>
            <a:spLocks noGrp="1"/>
          </p:cNvSpPr>
          <p:nvPr>
            <p:ph type="sldNum" sz="quarter" idx="4294967295"/>
          </p:nvPr>
        </p:nvSpPr>
        <p:spPr>
          <a:xfrm>
            <a:off x="11064240" y="6473952"/>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B3D9"/>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lide chip"/>
          <p:cNvSpPr txBox="1"/>
          <p:nvPr/>
        </p:nvSpPr>
        <p:spPr>
          <a:xfrm>
            <a:off x="457200" y="274320"/>
            <a:ext cx="640080" cy="640080"/>
          </a:xfrm>
          <a:prstGeom prst="roundRect">
            <a:avLst>
              <a:gd name="adj" fmla="val 14286"/>
            </a:avLst>
          </a:prstGeom>
          <a:solidFill>
            <a:srgbClr val="22D3EE"/>
          </a:solidFill>
          <a:ln/>
        </p:spPr>
        <p:txBody>
          <a:bodyPr wrap="square" lIns="0" tIns="0" rIns="0" bIns="0" rtlCol="0" anchor="ctr"/>
          <a:lstStyle/>
          <a:p>
            <a:pPr marL="0" indent="0" algn="ctr">
              <a:buNone/>
            </a:pPr>
            <a:r>
              <a:rPr lang="en-US" sz="2200" b="1" dirty="0">
                <a:solidFill>
                  <a:srgbClr val="071428"/>
                </a:solidFill>
              </a:rPr>
              <a:t>06</a:t>
            </a:r>
            <a:endParaRPr lang="en-US" sz="2200" dirty="0"/>
          </a:p>
        </p:txBody>
      </p:sp>
      <p:sp>
        <p:nvSpPr>
          <p:cNvPr id="3" name="Text 0"/>
          <p:cNvSpPr>
            <a:spLocks noGrp="1"/>
          </p:cNvSpPr>
          <p:nvPr>
            <p:ph type="title" idx="100" hasCustomPrompt="1"/>
          </p:nvPr>
        </p:nvSpPr>
        <p:spPr>
          <a:xfrm>
            <a:off x="1280160" y="256032"/>
            <a:ext cx="10424160" cy="685800"/>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Types of Network Slices in 5G</a:t>
            </a:r>
            <a:endParaRPr lang="en-US" sz="3000" dirty="0"/>
          </a:p>
        </p:txBody>
      </p:sp>
      <p:sp>
        <p:nvSpPr>
          <p:cNvPr id="4" name="Shape 2"/>
          <p:cNvSpPr/>
          <p:nvPr/>
        </p:nvSpPr>
        <p:spPr>
          <a:xfrm>
            <a:off x="457200" y="1325880"/>
            <a:ext cx="3611880" cy="4846320"/>
          </a:xfrm>
          <a:prstGeom prst="roundRect">
            <a:avLst>
              <a:gd name="adj" fmla="val 3038"/>
            </a:avLst>
          </a:prstGeom>
          <a:solidFill>
            <a:srgbClr val="0E2748"/>
          </a:solidFill>
          <a:ln w="19050">
            <a:solidFill>
              <a:srgbClr val="22D3EE"/>
            </a:solidFill>
            <a:prstDash val="solid"/>
          </a:ln>
        </p:spPr>
      </p:sp>
      <p:sp>
        <p:nvSpPr>
          <p:cNvPr id="5" name="Shape 3"/>
          <p:cNvSpPr/>
          <p:nvPr/>
        </p:nvSpPr>
        <p:spPr>
          <a:xfrm>
            <a:off x="1737360" y="1554480"/>
            <a:ext cx="1051560" cy="1051560"/>
          </a:xfrm>
          <a:prstGeom prst="ellipse">
            <a:avLst/>
          </a:prstGeom>
          <a:solidFill>
            <a:srgbClr val="0A1F3C"/>
          </a:solidFill>
          <a:ln w="22225">
            <a:solidFill>
              <a:srgbClr val="22D3EE"/>
            </a:solidFill>
            <a:prstDash val="solid"/>
          </a:ln>
        </p:spPr>
      </p:sp>
      <p:pic>
        <p:nvPicPr>
          <p:cNvPr id="6" name="Image 0" descr="preencoded.png"/>
          <p:cNvPicPr>
            <a:picLocks noChangeAspect="1"/>
          </p:cNvPicPr>
          <p:nvPr/>
        </p:nvPicPr>
        <p:blipFill>
          <a:blip r:embed="rId3"/>
          <a:stretch>
            <a:fillRect/>
          </a:stretch>
        </p:blipFill>
        <p:spPr>
          <a:xfrm>
            <a:off x="2048256" y="1865376"/>
            <a:ext cx="438912" cy="438912"/>
          </a:xfrm>
          <a:prstGeom prst="rect">
            <a:avLst/>
          </a:prstGeom>
        </p:spPr>
      </p:pic>
      <p:sp>
        <p:nvSpPr>
          <p:cNvPr id="7" name="Text 4"/>
          <p:cNvSpPr txBox="1"/>
          <p:nvPr/>
        </p:nvSpPr>
        <p:spPr>
          <a:xfrm>
            <a:off x="548640" y="2743200"/>
            <a:ext cx="3429000" cy="640080"/>
          </a:xfrm>
          <a:prstGeom prst="rect">
            <a:avLst/>
          </a:prstGeom>
          <a:noFill/>
          <a:ln/>
        </p:spPr>
        <p:txBody>
          <a:bodyPr wrap="square" lIns="0" tIns="0" rIns="0" bIns="0" rtlCol="0" anchor="ctr"/>
          <a:lstStyle/>
          <a:p>
            <a:pPr marL="0" indent="0" algn="ctr">
              <a:buNone/>
            </a:pPr>
            <a:r>
              <a:rPr lang="en-US" sz="3600" b="1" dirty="0">
                <a:solidFill>
                  <a:srgbClr val="22D3EE"/>
                </a:solidFill>
                <a:latin typeface="Calibri" pitchFamily="34" charset="0"/>
                <a:ea typeface="Calibri" pitchFamily="34" charset="-122"/>
                <a:cs typeface="Calibri" pitchFamily="34" charset="-120"/>
              </a:rPr>
              <a:t>eMBB</a:t>
            </a:r>
            <a:endParaRPr lang="en-US" sz="3600" dirty="0"/>
          </a:p>
        </p:txBody>
      </p:sp>
      <p:sp>
        <p:nvSpPr>
          <p:cNvPr id="8" name="Text 5"/>
          <p:cNvSpPr txBox="1"/>
          <p:nvPr/>
        </p:nvSpPr>
        <p:spPr>
          <a:xfrm>
            <a:off x="548640" y="3383280"/>
            <a:ext cx="3429000" cy="365760"/>
          </a:xfrm>
          <a:prstGeom prst="rect">
            <a:avLst/>
          </a:prstGeom>
          <a:noFill/>
          <a:ln/>
        </p:spPr>
        <p:txBody>
          <a:bodyPr wrap="square" lIns="0" tIns="0" rIns="0" bIns="0" rtlCol="0" anchor="ctr"/>
          <a:lstStyle/>
          <a:p>
            <a:pPr marL="0" indent="0" algn="ctr">
              <a:buNone/>
            </a:pPr>
            <a:r>
              <a:rPr lang="en-US" sz="1500" dirty="0">
                <a:solidFill>
                  <a:srgbClr val="BFD7EE"/>
                </a:solidFill>
                <a:latin typeface="Calibri" pitchFamily="34" charset="0"/>
                <a:ea typeface="Calibri" pitchFamily="34" charset="-122"/>
                <a:cs typeface="Calibri" pitchFamily="34" charset="-120"/>
              </a:rPr>
              <a:t>Enhanced Mobile Broadband</a:t>
            </a:r>
            <a:endParaRPr lang="en-US" sz="1500" dirty="0"/>
          </a:p>
        </p:txBody>
      </p:sp>
      <p:sp>
        <p:nvSpPr>
          <p:cNvPr id="9" name="Text 6"/>
          <p:cNvSpPr txBox="1"/>
          <p:nvPr/>
        </p:nvSpPr>
        <p:spPr>
          <a:xfrm>
            <a:off x="960120" y="3886200"/>
            <a:ext cx="2606040" cy="457200"/>
          </a:xfrm>
          <a:prstGeom prst="roundRect">
            <a:avLst>
              <a:gd name="adj" fmla="val 20000"/>
            </a:avLst>
          </a:prstGeom>
          <a:solidFill>
            <a:srgbClr val="22D3EE"/>
          </a:solidFill>
          <a:ln/>
        </p:spPr>
        <p:txBody>
          <a:bodyPr wrap="square" lIns="0" tIns="0" rIns="0" bIns="0" rtlCol="0" anchor="ctr"/>
          <a:lstStyle/>
          <a:p>
            <a:pPr marL="0" indent="0" algn="ctr">
              <a:buNone/>
            </a:pPr>
            <a:r>
              <a:rPr lang="en-US" sz="1600" b="1" dirty="0">
                <a:solidFill>
                  <a:srgbClr val="071428"/>
                </a:solidFill>
              </a:rPr>
              <a:t>Speed &amp; capacity</a:t>
            </a:r>
            <a:endParaRPr lang="en-US" sz="1600" dirty="0"/>
          </a:p>
        </p:txBody>
      </p:sp>
      <p:pic>
        <p:nvPicPr>
          <p:cNvPr id="10" name="Image 1" descr="preencoded.png"/>
          <p:cNvPicPr>
            <a:picLocks noChangeAspect="1"/>
          </p:cNvPicPr>
          <p:nvPr/>
        </p:nvPicPr>
        <p:blipFill>
          <a:blip r:embed="rId4"/>
          <a:stretch>
            <a:fillRect/>
          </a:stretch>
        </p:blipFill>
        <p:spPr>
          <a:xfrm>
            <a:off x="1051560" y="4663440"/>
            <a:ext cx="457200" cy="457200"/>
          </a:xfrm>
          <a:prstGeom prst="rect">
            <a:avLst/>
          </a:prstGeom>
        </p:spPr>
      </p:pic>
      <p:sp>
        <p:nvSpPr>
          <p:cNvPr id="11" name="Text 7"/>
          <p:cNvSpPr txBox="1"/>
          <p:nvPr/>
        </p:nvSpPr>
        <p:spPr>
          <a:xfrm>
            <a:off x="685800" y="5212080"/>
            <a:ext cx="1097280" cy="457200"/>
          </a:xfrm>
          <a:prstGeom prst="rect">
            <a:avLst/>
          </a:prstGeom>
          <a:noFill/>
          <a:ln/>
        </p:spPr>
        <p:txBody>
          <a:bodyPr wrap="square" lIns="0" tIns="0" rIns="0" bIns="0" rtlCol="0" anchor="ctr"/>
          <a:lstStyle/>
          <a:p>
            <a:pPr marL="0" indent="0" algn="ctr">
              <a:buNone/>
            </a:pPr>
            <a:r>
              <a:rPr lang="en-US" sz="1300" dirty="0">
                <a:solidFill>
                  <a:srgbClr val="BFD7EE"/>
                </a:solidFill>
                <a:latin typeface="Calibri" pitchFamily="34" charset="0"/>
                <a:ea typeface="Calibri" pitchFamily="34" charset="-122"/>
                <a:cs typeface="Calibri" pitchFamily="34" charset="-120"/>
              </a:rPr>
              <a:t>4K/8K video</a:t>
            </a:r>
            <a:endParaRPr lang="en-US" sz="1300" dirty="0"/>
          </a:p>
        </p:txBody>
      </p:sp>
      <p:pic>
        <p:nvPicPr>
          <p:cNvPr id="12" name="Image 2" descr="preencoded.png"/>
          <p:cNvPicPr>
            <a:picLocks noChangeAspect="1"/>
          </p:cNvPicPr>
          <p:nvPr/>
        </p:nvPicPr>
        <p:blipFill>
          <a:blip r:embed="rId5"/>
          <a:stretch>
            <a:fillRect/>
          </a:stretch>
        </p:blipFill>
        <p:spPr>
          <a:xfrm>
            <a:off x="2103120" y="4663440"/>
            <a:ext cx="457200" cy="457200"/>
          </a:xfrm>
          <a:prstGeom prst="rect">
            <a:avLst/>
          </a:prstGeom>
        </p:spPr>
      </p:pic>
      <p:sp>
        <p:nvSpPr>
          <p:cNvPr id="13" name="Text 8"/>
          <p:cNvSpPr txBox="1"/>
          <p:nvPr/>
        </p:nvSpPr>
        <p:spPr>
          <a:xfrm>
            <a:off x="1737360" y="5212080"/>
            <a:ext cx="1097280" cy="457200"/>
          </a:xfrm>
          <a:prstGeom prst="rect">
            <a:avLst/>
          </a:prstGeom>
          <a:noFill/>
          <a:ln/>
        </p:spPr>
        <p:txBody>
          <a:bodyPr wrap="square" lIns="0" tIns="0" rIns="0" bIns="0" rtlCol="0" anchor="ctr"/>
          <a:lstStyle/>
          <a:p>
            <a:pPr marL="0" indent="0" algn="ctr">
              <a:buNone/>
            </a:pPr>
            <a:r>
              <a:rPr lang="en-US" sz="1300" dirty="0">
                <a:solidFill>
                  <a:srgbClr val="BFD7EE"/>
                </a:solidFill>
                <a:latin typeface="Calibri" pitchFamily="34" charset="0"/>
                <a:ea typeface="Calibri" pitchFamily="34" charset="-122"/>
                <a:cs typeface="Calibri" pitchFamily="34" charset="-120"/>
              </a:rPr>
              <a:t>Cloud gaming</a:t>
            </a:r>
            <a:endParaRPr lang="en-US" sz="1300" dirty="0"/>
          </a:p>
        </p:txBody>
      </p:sp>
      <p:pic>
        <p:nvPicPr>
          <p:cNvPr id="14" name="Image 3" descr="preencoded.png"/>
          <p:cNvPicPr>
            <a:picLocks noChangeAspect="1"/>
          </p:cNvPicPr>
          <p:nvPr/>
        </p:nvPicPr>
        <p:blipFill>
          <a:blip r:embed="rId6"/>
          <a:stretch>
            <a:fillRect/>
          </a:stretch>
        </p:blipFill>
        <p:spPr>
          <a:xfrm>
            <a:off x="3154680" y="4663440"/>
            <a:ext cx="457200" cy="457200"/>
          </a:xfrm>
          <a:prstGeom prst="rect">
            <a:avLst/>
          </a:prstGeom>
        </p:spPr>
      </p:pic>
      <p:sp>
        <p:nvSpPr>
          <p:cNvPr id="15" name="Text 9"/>
          <p:cNvSpPr txBox="1"/>
          <p:nvPr/>
        </p:nvSpPr>
        <p:spPr>
          <a:xfrm>
            <a:off x="2788920" y="5212080"/>
            <a:ext cx="1097280" cy="457200"/>
          </a:xfrm>
          <a:prstGeom prst="rect">
            <a:avLst/>
          </a:prstGeom>
          <a:noFill/>
          <a:ln/>
        </p:spPr>
        <p:txBody>
          <a:bodyPr wrap="square" lIns="0" tIns="0" rIns="0" bIns="0" rtlCol="0" anchor="ctr"/>
          <a:lstStyle/>
          <a:p>
            <a:pPr marL="0" indent="0" algn="ctr">
              <a:buNone/>
            </a:pPr>
            <a:r>
              <a:rPr lang="en-US" sz="1300" dirty="0">
                <a:solidFill>
                  <a:srgbClr val="BFD7EE"/>
                </a:solidFill>
                <a:latin typeface="Calibri" pitchFamily="34" charset="0"/>
                <a:ea typeface="Calibri" pitchFamily="34" charset="-122"/>
                <a:cs typeface="Calibri" pitchFamily="34" charset="-120"/>
              </a:rPr>
              <a:t>VR</a:t>
            </a:r>
            <a:endParaRPr lang="en-US" sz="1300" dirty="0"/>
          </a:p>
        </p:txBody>
      </p:sp>
      <p:sp>
        <p:nvSpPr>
          <p:cNvPr id="16" name="Shape 10"/>
          <p:cNvSpPr/>
          <p:nvPr/>
        </p:nvSpPr>
        <p:spPr>
          <a:xfrm>
            <a:off x="4288536" y="1325880"/>
            <a:ext cx="3611880" cy="4846320"/>
          </a:xfrm>
          <a:prstGeom prst="roundRect">
            <a:avLst>
              <a:gd name="adj" fmla="val 3038"/>
            </a:avLst>
          </a:prstGeom>
          <a:solidFill>
            <a:srgbClr val="0E2748"/>
          </a:solidFill>
          <a:ln w="19050">
            <a:solidFill>
              <a:srgbClr val="A78BFA"/>
            </a:solidFill>
            <a:prstDash val="solid"/>
          </a:ln>
        </p:spPr>
      </p:sp>
      <p:sp>
        <p:nvSpPr>
          <p:cNvPr id="17" name="Shape 11"/>
          <p:cNvSpPr/>
          <p:nvPr/>
        </p:nvSpPr>
        <p:spPr>
          <a:xfrm>
            <a:off x="5568696" y="1554480"/>
            <a:ext cx="1051560" cy="1051560"/>
          </a:xfrm>
          <a:prstGeom prst="ellipse">
            <a:avLst/>
          </a:prstGeom>
          <a:solidFill>
            <a:srgbClr val="0A1F3C"/>
          </a:solidFill>
          <a:ln w="22225">
            <a:solidFill>
              <a:srgbClr val="A78BFA"/>
            </a:solidFill>
            <a:prstDash val="solid"/>
          </a:ln>
        </p:spPr>
      </p:sp>
      <p:pic>
        <p:nvPicPr>
          <p:cNvPr id="18" name="Image 4" descr="preencoded.png"/>
          <p:cNvPicPr>
            <a:picLocks noChangeAspect="1"/>
          </p:cNvPicPr>
          <p:nvPr/>
        </p:nvPicPr>
        <p:blipFill>
          <a:blip r:embed="rId7"/>
          <a:stretch>
            <a:fillRect/>
          </a:stretch>
        </p:blipFill>
        <p:spPr>
          <a:xfrm>
            <a:off x="5879592" y="1865376"/>
            <a:ext cx="438912" cy="438912"/>
          </a:xfrm>
          <a:prstGeom prst="rect">
            <a:avLst/>
          </a:prstGeom>
        </p:spPr>
      </p:pic>
      <p:sp>
        <p:nvSpPr>
          <p:cNvPr id="19" name="Text 12"/>
          <p:cNvSpPr txBox="1"/>
          <p:nvPr/>
        </p:nvSpPr>
        <p:spPr>
          <a:xfrm>
            <a:off x="4379976" y="2743200"/>
            <a:ext cx="3429000" cy="640080"/>
          </a:xfrm>
          <a:prstGeom prst="rect">
            <a:avLst/>
          </a:prstGeom>
          <a:noFill/>
          <a:ln/>
        </p:spPr>
        <p:txBody>
          <a:bodyPr wrap="square" lIns="0" tIns="0" rIns="0" bIns="0" rtlCol="0" anchor="ctr"/>
          <a:lstStyle/>
          <a:p>
            <a:pPr marL="0" indent="0" algn="ctr">
              <a:buNone/>
            </a:pPr>
            <a:r>
              <a:rPr lang="en-US" sz="3600" b="1" dirty="0">
                <a:solidFill>
                  <a:srgbClr val="A78BFA"/>
                </a:solidFill>
                <a:latin typeface="Calibri" pitchFamily="34" charset="0"/>
                <a:ea typeface="Calibri" pitchFamily="34" charset="-122"/>
                <a:cs typeface="Calibri" pitchFamily="34" charset="-120"/>
              </a:rPr>
              <a:t>URLLC</a:t>
            </a:r>
            <a:endParaRPr lang="en-US" sz="3600" dirty="0"/>
          </a:p>
        </p:txBody>
      </p:sp>
      <p:sp>
        <p:nvSpPr>
          <p:cNvPr id="20" name="Text 13"/>
          <p:cNvSpPr txBox="1"/>
          <p:nvPr/>
        </p:nvSpPr>
        <p:spPr>
          <a:xfrm>
            <a:off x="4379976" y="3383280"/>
            <a:ext cx="3429000" cy="365760"/>
          </a:xfrm>
          <a:prstGeom prst="rect">
            <a:avLst/>
          </a:prstGeom>
          <a:noFill/>
          <a:ln/>
        </p:spPr>
        <p:txBody>
          <a:bodyPr wrap="square" lIns="0" tIns="0" rIns="0" bIns="0" rtlCol="0" anchor="ctr"/>
          <a:lstStyle/>
          <a:p>
            <a:pPr marL="0" indent="0" algn="ctr">
              <a:buNone/>
            </a:pPr>
            <a:r>
              <a:rPr lang="en-US" sz="1500" dirty="0">
                <a:solidFill>
                  <a:srgbClr val="BFD7EE"/>
                </a:solidFill>
                <a:latin typeface="Calibri" pitchFamily="34" charset="0"/>
                <a:ea typeface="Calibri" pitchFamily="34" charset="-122"/>
                <a:cs typeface="Calibri" pitchFamily="34" charset="-120"/>
              </a:rPr>
              <a:t>Ultra-Reliable Low-Latency</a:t>
            </a:r>
            <a:endParaRPr lang="en-US" sz="1500" dirty="0"/>
          </a:p>
        </p:txBody>
      </p:sp>
      <p:sp>
        <p:nvSpPr>
          <p:cNvPr id="21" name="Text 14"/>
          <p:cNvSpPr txBox="1"/>
          <p:nvPr/>
        </p:nvSpPr>
        <p:spPr>
          <a:xfrm>
            <a:off x="4791456" y="3886200"/>
            <a:ext cx="2606040" cy="457200"/>
          </a:xfrm>
          <a:prstGeom prst="roundRect">
            <a:avLst>
              <a:gd name="adj" fmla="val 20000"/>
            </a:avLst>
          </a:prstGeom>
          <a:solidFill>
            <a:srgbClr val="A78BFA"/>
          </a:solidFill>
          <a:ln/>
        </p:spPr>
        <p:txBody>
          <a:bodyPr wrap="square" lIns="0" tIns="0" rIns="0" bIns="0" rtlCol="0" anchor="ctr"/>
          <a:lstStyle/>
          <a:p>
            <a:pPr marL="0" indent="0" algn="ctr">
              <a:buNone/>
            </a:pPr>
            <a:r>
              <a:rPr lang="en-US" sz="1600" b="1" dirty="0">
                <a:solidFill>
                  <a:srgbClr val="071428"/>
                </a:solidFill>
              </a:rPr>
              <a:t>Fast &amp; dependable</a:t>
            </a:r>
            <a:endParaRPr lang="en-US" sz="1600" dirty="0"/>
          </a:p>
        </p:txBody>
      </p:sp>
      <p:pic>
        <p:nvPicPr>
          <p:cNvPr id="22" name="Image 5" descr="preencoded.png"/>
          <p:cNvPicPr>
            <a:picLocks noChangeAspect="1"/>
          </p:cNvPicPr>
          <p:nvPr/>
        </p:nvPicPr>
        <p:blipFill>
          <a:blip r:embed="rId8"/>
          <a:stretch>
            <a:fillRect/>
          </a:stretch>
        </p:blipFill>
        <p:spPr>
          <a:xfrm>
            <a:off x="4882896" y="4663440"/>
            <a:ext cx="457200" cy="457200"/>
          </a:xfrm>
          <a:prstGeom prst="rect">
            <a:avLst/>
          </a:prstGeom>
        </p:spPr>
      </p:pic>
      <p:sp>
        <p:nvSpPr>
          <p:cNvPr id="23" name="Text 15"/>
          <p:cNvSpPr txBox="1"/>
          <p:nvPr/>
        </p:nvSpPr>
        <p:spPr>
          <a:xfrm>
            <a:off x="4517136" y="5212080"/>
            <a:ext cx="1097280" cy="457200"/>
          </a:xfrm>
          <a:prstGeom prst="rect">
            <a:avLst/>
          </a:prstGeom>
          <a:noFill/>
          <a:ln/>
        </p:spPr>
        <p:txBody>
          <a:bodyPr wrap="square" lIns="0" tIns="0" rIns="0" bIns="0" rtlCol="0" anchor="ctr"/>
          <a:lstStyle/>
          <a:p>
            <a:pPr marL="0" indent="0" algn="ctr">
              <a:buNone/>
            </a:pPr>
            <a:r>
              <a:rPr lang="en-US" sz="1300" dirty="0">
                <a:solidFill>
                  <a:srgbClr val="BFD7EE"/>
                </a:solidFill>
                <a:latin typeface="Calibri" pitchFamily="34" charset="0"/>
                <a:ea typeface="Calibri" pitchFamily="34" charset="-122"/>
                <a:cs typeface="Calibri" pitchFamily="34" charset="-120"/>
              </a:rPr>
              <a:t>Automation</a:t>
            </a:r>
            <a:endParaRPr lang="en-US" sz="1300" dirty="0"/>
          </a:p>
        </p:txBody>
      </p:sp>
      <p:pic>
        <p:nvPicPr>
          <p:cNvPr id="24" name="Image 6" descr="preencoded.png"/>
          <p:cNvPicPr>
            <a:picLocks noChangeAspect="1"/>
          </p:cNvPicPr>
          <p:nvPr/>
        </p:nvPicPr>
        <p:blipFill>
          <a:blip r:embed="rId9"/>
          <a:stretch>
            <a:fillRect/>
          </a:stretch>
        </p:blipFill>
        <p:spPr>
          <a:xfrm>
            <a:off x="5934456" y="4663440"/>
            <a:ext cx="457200" cy="457200"/>
          </a:xfrm>
          <a:prstGeom prst="rect">
            <a:avLst/>
          </a:prstGeom>
        </p:spPr>
      </p:pic>
      <p:sp>
        <p:nvSpPr>
          <p:cNvPr id="25" name="Text 16"/>
          <p:cNvSpPr txBox="1"/>
          <p:nvPr/>
        </p:nvSpPr>
        <p:spPr>
          <a:xfrm>
            <a:off x="5568696" y="5212080"/>
            <a:ext cx="1097280" cy="457200"/>
          </a:xfrm>
          <a:prstGeom prst="rect">
            <a:avLst/>
          </a:prstGeom>
          <a:noFill/>
          <a:ln/>
        </p:spPr>
        <p:txBody>
          <a:bodyPr wrap="square" lIns="0" tIns="0" rIns="0" bIns="0" rtlCol="0" anchor="ctr"/>
          <a:lstStyle/>
          <a:p>
            <a:pPr marL="0" indent="0" algn="ctr">
              <a:buNone/>
            </a:pPr>
            <a:r>
              <a:rPr lang="en-US" sz="1300" dirty="0">
                <a:solidFill>
                  <a:srgbClr val="BFD7EE"/>
                </a:solidFill>
                <a:latin typeface="Calibri" pitchFamily="34" charset="0"/>
                <a:ea typeface="Calibri" pitchFamily="34" charset="-122"/>
                <a:cs typeface="Calibri" pitchFamily="34" charset="-120"/>
              </a:rPr>
              <a:t>Control</a:t>
            </a:r>
            <a:endParaRPr lang="en-US" sz="1300" dirty="0"/>
          </a:p>
        </p:txBody>
      </p:sp>
      <p:pic>
        <p:nvPicPr>
          <p:cNvPr id="26" name="Image 7" descr="preencoded.png"/>
          <p:cNvPicPr>
            <a:picLocks noChangeAspect="1"/>
          </p:cNvPicPr>
          <p:nvPr/>
        </p:nvPicPr>
        <p:blipFill>
          <a:blip r:embed="rId10"/>
          <a:stretch>
            <a:fillRect/>
          </a:stretch>
        </p:blipFill>
        <p:spPr>
          <a:xfrm>
            <a:off x="6986016" y="4663440"/>
            <a:ext cx="457200" cy="457200"/>
          </a:xfrm>
          <a:prstGeom prst="rect">
            <a:avLst/>
          </a:prstGeom>
        </p:spPr>
      </p:pic>
      <p:sp>
        <p:nvSpPr>
          <p:cNvPr id="27" name="Text 17"/>
          <p:cNvSpPr txBox="1"/>
          <p:nvPr/>
        </p:nvSpPr>
        <p:spPr>
          <a:xfrm>
            <a:off x="6620256" y="5212080"/>
            <a:ext cx="1097280" cy="457200"/>
          </a:xfrm>
          <a:prstGeom prst="rect">
            <a:avLst/>
          </a:prstGeom>
          <a:noFill/>
          <a:ln/>
        </p:spPr>
        <p:txBody>
          <a:bodyPr wrap="square" lIns="0" tIns="0" rIns="0" bIns="0" rtlCol="0" anchor="ctr"/>
          <a:lstStyle/>
          <a:p>
            <a:pPr marL="0" indent="0" algn="ctr">
              <a:buNone/>
            </a:pPr>
            <a:r>
              <a:rPr lang="en-US" sz="1300" dirty="0">
                <a:solidFill>
                  <a:srgbClr val="BFD7EE"/>
                </a:solidFill>
                <a:latin typeface="Calibri" pitchFamily="34" charset="0"/>
                <a:ea typeface="Calibri" pitchFamily="34" charset="-122"/>
                <a:cs typeface="Calibri" pitchFamily="34" charset="-120"/>
              </a:rPr>
              <a:t>Critical</a:t>
            </a:r>
            <a:endParaRPr lang="en-US" sz="1300" dirty="0"/>
          </a:p>
        </p:txBody>
      </p:sp>
      <p:sp>
        <p:nvSpPr>
          <p:cNvPr id="28" name="Shape 18"/>
          <p:cNvSpPr/>
          <p:nvPr/>
        </p:nvSpPr>
        <p:spPr>
          <a:xfrm>
            <a:off x="8138160" y="1335024"/>
            <a:ext cx="3611880" cy="4846320"/>
          </a:xfrm>
          <a:prstGeom prst="roundRect">
            <a:avLst>
              <a:gd name="adj" fmla="val 3038"/>
            </a:avLst>
          </a:prstGeom>
          <a:solidFill>
            <a:srgbClr val="0E2748"/>
          </a:solidFill>
          <a:ln w="19050">
            <a:solidFill>
              <a:srgbClr val="34D399"/>
            </a:solidFill>
            <a:prstDash val="solid"/>
          </a:ln>
        </p:spPr>
      </p:sp>
      <p:sp>
        <p:nvSpPr>
          <p:cNvPr id="29" name="Shape 19"/>
          <p:cNvSpPr/>
          <p:nvPr/>
        </p:nvSpPr>
        <p:spPr>
          <a:xfrm>
            <a:off x="9400032" y="1554480"/>
            <a:ext cx="1051560" cy="1051560"/>
          </a:xfrm>
          <a:prstGeom prst="ellipse">
            <a:avLst/>
          </a:prstGeom>
          <a:solidFill>
            <a:srgbClr val="0A1F3C"/>
          </a:solidFill>
          <a:ln w="22225">
            <a:solidFill>
              <a:srgbClr val="34D399"/>
            </a:solidFill>
            <a:prstDash val="solid"/>
          </a:ln>
        </p:spPr>
      </p:sp>
      <p:pic>
        <p:nvPicPr>
          <p:cNvPr id="30" name="Image 8" descr="preencoded.png"/>
          <p:cNvPicPr>
            <a:picLocks noChangeAspect="1"/>
          </p:cNvPicPr>
          <p:nvPr/>
        </p:nvPicPr>
        <p:blipFill>
          <a:blip r:embed="rId11"/>
          <a:stretch>
            <a:fillRect/>
          </a:stretch>
        </p:blipFill>
        <p:spPr>
          <a:xfrm>
            <a:off x="9710928" y="1865376"/>
            <a:ext cx="438912" cy="438912"/>
          </a:xfrm>
          <a:prstGeom prst="rect">
            <a:avLst/>
          </a:prstGeom>
        </p:spPr>
      </p:pic>
      <p:sp>
        <p:nvSpPr>
          <p:cNvPr id="31" name="Text 20"/>
          <p:cNvSpPr txBox="1"/>
          <p:nvPr/>
        </p:nvSpPr>
        <p:spPr>
          <a:xfrm>
            <a:off x="8211312" y="2743200"/>
            <a:ext cx="3429000" cy="640080"/>
          </a:xfrm>
          <a:prstGeom prst="rect">
            <a:avLst/>
          </a:prstGeom>
          <a:noFill/>
          <a:ln/>
        </p:spPr>
        <p:txBody>
          <a:bodyPr wrap="square" lIns="0" tIns="0" rIns="0" bIns="0" rtlCol="0" anchor="ctr"/>
          <a:lstStyle/>
          <a:p>
            <a:pPr marL="0" indent="0" algn="ctr">
              <a:buNone/>
            </a:pPr>
            <a:r>
              <a:rPr lang="en-US" sz="3600" b="1" dirty="0">
                <a:solidFill>
                  <a:srgbClr val="34D399"/>
                </a:solidFill>
                <a:latin typeface="Calibri" pitchFamily="34" charset="0"/>
                <a:ea typeface="Calibri" pitchFamily="34" charset="-122"/>
                <a:cs typeface="Calibri" pitchFamily="34" charset="-120"/>
              </a:rPr>
              <a:t>mMTC</a:t>
            </a:r>
            <a:endParaRPr lang="en-US" sz="3600" dirty="0"/>
          </a:p>
        </p:txBody>
      </p:sp>
      <p:sp>
        <p:nvSpPr>
          <p:cNvPr id="32" name="Text 21"/>
          <p:cNvSpPr txBox="1"/>
          <p:nvPr/>
        </p:nvSpPr>
        <p:spPr>
          <a:xfrm>
            <a:off x="8211312" y="3383280"/>
            <a:ext cx="3429000" cy="365760"/>
          </a:xfrm>
          <a:prstGeom prst="rect">
            <a:avLst/>
          </a:prstGeom>
          <a:noFill/>
          <a:ln/>
        </p:spPr>
        <p:txBody>
          <a:bodyPr wrap="square" lIns="0" tIns="0" rIns="0" bIns="0" rtlCol="0" anchor="ctr"/>
          <a:lstStyle/>
          <a:p>
            <a:pPr marL="0" indent="0" algn="ctr">
              <a:buNone/>
            </a:pPr>
            <a:r>
              <a:rPr lang="en-US" sz="1500" dirty="0">
                <a:solidFill>
                  <a:srgbClr val="BFD7EE"/>
                </a:solidFill>
                <a:latin typeface="Calibri" pitchFamily="34" charset="0"/>
                <a:ea typeface="Calibri" pitchFamily="34" charset="-122"/>
                <a:cs typeface="Calibri" pitchFamily="34" charset="-120"/>
              </a:rPr>
              <a:t>Massive Machine-Type</a:t>
            </a:r>
            <a:endParaRPr lang="en-US" sz="1500" dirty="0"/>
          </a:p>
        </p:txBody>
      </p:sp>
      <p:sp>
        <p:nvSpPr>
          <p:cNvPr id="33" name="Text 22"/>
          <p:cNvSpPr txBox="1"/>
          <p:nvPr/>
        </p:nvSpPr>
        <p:spPr>
          <a:xfrm>
            <a:off x="8622792" y="3886200"/>
            <a:ext cx="2606040" cy="457200"/>
          </a:xfrm>
          <a:prstGeom prst="roundRect">
            <a:avLst>
              <a:gd name="adj" fmla="val 20000"/>
            </a:avLst>
          </a:prstGeom>
          <a:solidFill>
            <a:srgbClr val="34D399"/>
          </a:solidFill>
          <a:ln/>
        </p:spPr>
        <p:txBody>
          <a:bodyPr wrap="square" lIns="0" tIns="0" rIns="0" bIns="0" rtlCol="0" anchor="ctr"/>
          <a:lstStyle/>
          <a:p>
            <a:pPr marL="0" indent="0" algn="ctr">
              <a:buNone/>
            </a:pPr>
            <a:r>
              <a:rPr lang="en-US" sz="1600" b="1" dirty="0">
                <a:solidFill>
                  <a:srgbClr val="071428"/>
                </a:solidFill>
              </a:rPr>
              <a:t>Huge device count</a:t>
            </a:r>
            <a:endParaRPr lang="en-US" sz="1600" dirty="0"/>
          </a:p>
        </p:txBody>
      </p:sp>
      <p:pic>
        <p:nvPicPr>
          <p:cNvPr id="34" name="Image 9" descr="preencoded.png"/>
          <p:cNvPicPr>
            <a:picLocks noChangeAspect="1"/>
          </p:cNvPicPr>
          <p:nvPr/>
        </p:nvPicPr>
        <p:blipFill>
          <a:blip r:embed="rId12"/>
          <a:stretch>
            <a:fillRect/>
          </a:stretch>
        </p:blipFill>
        <p:spPr>
          <a:xfrm>
            <a:off x="8714232" y="4663440"/>
            <a:ext cx="457200" cy="457200"/>
          </a:xfrm>
          <a:prstGeom prst="rect">
            <a:avLst/>
          </a:prstGeom>
        </p:spPr>
      </p:pic>
      <p:sp>
        <p:nvSpPr>
          <p:cNvPr id="35" name="Text 23"/>
          <p:cNvSpPr txBox="1"/>
          <p:nvPr/>
        </p:nvSpPr>
        <p:spPr>
          <a:xfrm>
            <a:off x="8348472" y="5212080"/>
            <a:ext cx="1097280" cy="457200"/>
          </a:xfrm>
          <a:prstGeom prst="rect">
            <a:avLst/>
          </a:prstGeom>
          <a:noFill/>
          <a:ln/>
        </p:spPr>
        <p:txBody>
          <a:bodyPr wrap="square" lIns="0" tIns="0" rIns="0" bIns="0" rtlCol="0" anchor="ctr"/>
          <a:lstStyle/>
          <a:p>
            <a:pPr marL="0" indent="0" algn="ctr">
              <a:buNone/>
            </a:pPr>
            <a:r>
              <a:rPr lang="en-US" sz="1300" dirty="0">
                <a:solidFill>
                  <a:srgbClr val="BFD7EE"/>
                </a:solidFill>
                <a:latin typeface="Calibri" pitchFamily="34" charset="0"/>
                <a:ea typeface="Calibri" pitchFamily="34" charset="-122"/>
                <a:cs typeface="Calibri" pitchFamily="34" charset="-120"/>
              </a:rPr>
              <a:t>Smart city</a:t>
            </a:r>
            <a:endParaRPr lang="en-US" sz="1300" dirty="0"/>
          </a:p>
        </p:txBody>
      </p:sp>
      <p:pic>
        <p:nvPicPr>
          <p:cNvPr id="36" name="Image 10" descr="preencoded.png"/>
          <p:cNvPicPr>
            <a:picLocks noChangeAspect="1"/>
          </p:cNvPicPr>
          <p:nvPr/>
        </p:nvPicPr>
        <p:blipFill>
          <a:blip r:embed="rId13"/>
          <a:stretch>
            <a:fillRect/>
          </a:stretch>
        </p:blipFill>
        <p:spPr>
          <a:xfrm>
            <a:off x="9765792" y="4663440"/>
            <a:ext cx="457200" cy="457200"/>
          </a:xfrm>
          <a:prstGeom prst="rect">
            <a:avLst/>
          </a:prstGeom>
        </p:spPr>
      </p:pic>
      <p:sp>
        <p:nvSpPr>
          <p:cNvPr id="37" name="Text 24"/>
          <p:cNvSpPr txBox="1"/>
          <p:nvPr/>
        </p:nvSpPr>
        <p:spPr>
          <a:xfrm>
            <a:off x="9400032" y="5212080"/>
            <a:ext cx="1097280" cy="457200"/>
          </a:xfrm>
          <a:prstGeom prst="rect">
            <a:avLst/>
          </a:prstGeom>
          <a:noFill/>
          <a:ln/>
        </p:spPr>
        <p:txBody>
          <a:bodyPr wrap="square" lIns="0" tIns="0" rIns="0" bIns="0" rtlCol="0" anchor="ctr"/>
          <a:lstStyle/>
          <a:p>
            <a:pPr marL="0" indent="0" algn="ctr">
              <a:buNone/>
            </a:pPr>
            <a:r>
              <a:rPr lang="en-US" sz="1300" dirty="0">
                <a:solidFill>
                  <a:srgbClr val="BFD7EE"/>
                </a:solidFill>
                <a:latin typeface="Calibri" pitchFamily="34" charset="0"/>
                <a:ea typeface="Calibri" pitchFamily="34" charset="-122"/>
                <a:cs typeface="Calibri" pitchFamily="34" charset="-120"/>
              </a:rPr>
              <a:t>Smart meters</a:t>
            </a:r>
            <a:endParaRPr lang="en-US" sz="1300" dirty="0"/>
          </a:p>
        </p:txBody>
      </p:sp>
      <p:pic>
        <p:nvPicPr>
          <p:cNvPr id="38" name="Image 11" descr="preencoded.png"/>
          <p:cNvPicPr>
            <a:picLocks noChangeAspect="1"/>
          </p:cNvPicPr>
          <p:nvPr/>
        </p:nvPicPr>
        <p:blipFill>
          <a:blip r:embed="rId14"/>
          <a:stretch>
            <a:fillRect/>
          </a:stretch>
        </p:blipFill>
        <p:spPr>
          <a:xfrm>
            <a:off x="10817352" y="4663440"/>
            <a:ext cx="457200" cy="457200"/>
          </a:xfrm>
          <a:prstGeom prst="rect">
            <a:avLst/>
          </a:prstGeom>
        </p:spPr>
      </p:pic>
      <p:sp>
        <p:nvSpPr>
          <p:cNvPr id="39" name="Text 25"/>
          <p:cNvSpPr txBox="1"/>
          <p:nvPr/>
        </p:nvSpPr>
        <p:spPr>
          <a:xfrm>
            <a:off x="10451592" y="5212080"/>
            <a:ext cx="1097280" cy="457200"/>
          </a:xfrm>
          <a:prstGeom prst="rect">
            <a:avLst/>
          </a:prstGeom>
          <a:noFill/>
          <a:ln/>
        </p:spPr>
        <p:txBody>
          <a:bodyPr wrap="square" lIns="0" tIns="0" rIns="0" bIns="0" rtlCol="0" anchor="ctr"/>
          <a:lstStyle/>
          <a:p>
            <a:pPr marL="0" indent="0" algn="ctr">
              <a:buNone/>
            </a:pPr>
            <a:r>
              <a:rPr lang="en-US" sz="1300" dirty="0">
                <a:solidFill>
                  <a:srgbClr val="BFD7EE"/>
                </a:solidFill>
                <a:latin typeface="Calibri" pitchFamily="34" charset="0"/>
                <a:ea typeface="Calibri" pitchFamily="34" charset="-122"/>
                <a:cs typeface="Calibri" pitchFamily="34" charset="-120"/>
              </a:rPr>
              <a:t>IoT sensors</a:t>
            </a:r>
            <a:endParaRPr lang="en-US" sz="1300" dirty="0"/>
          </a:p>
        </p:txBody>
      </p:sp>
      <p:sp>
        <p:nvSpPr>
          <p:cNvPr id="40" name="Slide Number Placeholder 0"/>
          <p:cNvSpPr>
            <a:spLocks noGrp="1"/>
          </p:cNvSpPr>
          <p:nvPr>
            <p:ph type="sldNum" sz="quarter" idx="4294967295"/>
          </p:nvPr>
        </p:nvSpPr>
        <p:spPr>
          <a:xfrm>
            <a:off x="11064240" y="6473952"/>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B3D9"/>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lide chip"/>
          <p:cNvSpPr txBox="1"/>
          <p:nvPr/>
        </p:nvSpPr>
        <p:spPr>
          <a:xfrm>
            <a:off x="457200" y="274320"/>
            <a:ext cx="640080" cy="640080"/>
          </a:xfrm>
          <a:prstGeom prst="roundRect">
            <a:avLst>
              <a:gd name="adj" fmla="val 14286"/>
            </a:avLst>
          </a:prstGeom>
          <a:solidFill>
            <a:srgbClr val="22D3EE"/>
          </a:solidFill>
          <a:ln/>
        </p:spPr>
        <p:txBody>
          <a:bodyPr wrap="square" lIns="0" tIns="0" rIns="0" bIns="0" rtlCol="0" anchor="ctr"/>
          <a:lstStyle/>
          <a:p>
            <a:pPr marL="0" indent="0" algn="ctr">
              <a:buNone/>
            </a:pPr>
            <a:r>
              <a:rPr lang="en-US" sz="2200" b="1" dirty="0">
                <a:solidFill>
                  <a:srgbClr val="071428"/>
                </a:solidFill>
              </a:rPr>
              <a:t>07</a:t>
            </a:r>
            <a:endParaRPr lang="en-US" sz="2200" dirty="0"/>
          </a:p>
        </p:txBody>
      </p:sp>
      <p:sp>
        <p:nvSpPr>
          <p:cNvPr id="3" name="Text 0"/>
          <p:cNvSpPr>
            <a:spLocks noGrp="1"/>
          </p:cNvSpPr>
          <p:nvPr>
            <p:ph type="title" idx="100" hasCustomPrompt="1"/>
          </p:nvPr>
        </p:nvSpPr>
        <p:spPr>
          <a:xfrm>
            <a:off x="1280160" y="256032"/>
            <a:ext cx="10424160" cy="685800"/>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What Each Slice Needs</a:t>
            </a:r>
            <a:endParaRPr lang="en-US" sz="3000" dirty="0"/>
          </a:p>
        </p:txBody>
      </p:sp>
      <p:graphicFrame>
        <p:nvGraphicFramePr>
          <p:cNvPr id="4" name="Chart 0"/>
          <p:cNvGraphicFramePr/>
          <p:nvPr/>
        </p:nvGraphicFramePr>
        <p:xfrm>
          <a:off x="457200" y="1188720"/>
          <a:ext cx="6766560" cy="502920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589520" y="1554480"/>
            <a:ext cx="4114800" cy="1234440"/>
          </a:xfrm>
          <a:prstGeom prst="roundRect">
            <a:avLst>
              <a:gd name="adj" fmla="val 8889"/>
            </a:avLst>
          </a:prstGeom>
          <a:solidFill>
            <a:srgbClr val="0E2748"/>
          </a:solidFill>
          <a:ln w="19050">
            <a:solidFill>
              <a:srgbClr val="22D3EE"/>
            </a:solidFill>
            <a:prstDash val="solid"/>
          </a:ln>
        </p:spPr>
      </p:sp>
      <p:pic>
        <p:nvPicPr>
          <p:cNvPr id="6" name="Image 0" descr="preencoded.png"/>
          <p:cNvPicPr>
            <a:picLocks noChangeAspect="1"/>
          </p:cNvPicPr>
          <p:nvPr/>
        </p:nvPicPr>
        <p:blipFill>
          <a:blip r:embed="rId4"/>
          <a:stretch>
            <a:fillRect/>
          </a:stretch>
        </p:blipFill>
        <p:spPr>
          <a:xfrm>
            <a:off x="7818120" y="1920240"/>
            <a:ext cx="457200" cy="457200"/>
          </a:xfrm>
          <a:prstGeom prst="rect">
            <a:avLst/>
          </a:prstGeom>
        </p:spPr>
      </p:pic>
      <p:sp>
        <p:nvSpPr>
          <p:cNvPr id="7" name="Text 3"/>
          <p:cNvSpPr txBox="1"/>
          <p:nvPr/>
        </p:nvSpPr>
        <p:spPr>
          <a:xfrm>
            <a:off x="8503920" y="1645920"/>
            <a:ext cx="3108960" cy="1051560"/>
          </a:xfrm>
          <a:prstGeom prst="rect">
            <a:avLst/>
          </a:prstGeom>
          <a:noFill/>
          <a:ln/>
        </p:spPr>
        <p:txBody>
          <a:bodyPr wrap="square" lIns="0" tIns="0" rIns="0" bIns="0" rtlCol="0" anchor="ctr"/>
          <a:lstStyle/>
          <a:p>
            <a:pPr marL="0" indent="0">
              <a:buNone/>
            </a:pPr>
            <a:r>
              <a:rPr lang="en-US" sz="2000" b="1" dirty="0">
                <a:solidFill>
                  <a:srgbClr val="22D3EE"/>
                </a:solidFill>
                <a:latin typeface="Calibri" pitchFamily="34" charset="0"/>
                <a:ea typeface="Calibri" pitchFamily="34" charset="-122"/>
                <a:cs typeface="Calibri" pitchFamily="34" charset="-120"/>
              </a:rPr>
              <a:t>eMBB</a:t>
            </a:r>
            <a:endParaRPr lang="en-US" sz="1600" dirty="0"/>
          </a:p>
          <a:p>
            <a:pPr marL="0" indent="0">
              <a:buNone/>
            </a:pPr>
            <a:r>
              <a:rPr lang="en-US" sz="1400" dirty="0">
                <a:solidFill>
                  <a:srgbClr val="BFD7EE"/>
                </a:solidFill>
                <a:latin typeface="Calibri" pitchFamily="34" charset="0"/>
                <a:ea typeface="Calibri" pitchFamily="34" charset="-122"/>
                <a:cs typeface="Calibri" pitchFamily="34" charset="-120"/>
              </a:rPr>
              <a:t>Needs the highest data rate</a:t>
            </a:r>
            <a:endParaRPr lang="en-US" sz="1600" dirty="0"/>
          </a:p>
        </p:txBody>
      </p:sp>
      <p:sp>
        <p:nvSpPr>
          <p:cNvPr id="8" name="Shape 4"/>
          <p:cNvSpPr/>
          <p:nvPr/>
        </p:nvSpPr>
        <p:spPr>
          <a:xfrm>
            <a:off x="7589520" y="3017520"/>
            <a:ext cx="4114800" cy="1234440"/>
          </a:xfrm>
          <a:prstGeom prst="roundRect">
            <a:avLst>
              <a:gd name="adj" fmla="val 8889"/>
            </a:avLst>
          </a:prstGeom>
          <a:solidFill>
            <a:srgbClr val="0E2748"/>
          </a:solidFill>
          <a:ln w="19050">
            <a:solidFill>
              <a:srgbClr val="A78BFA"/>
            </a:solidFill>
            <a:prstDash val="solid"/>
          </a:ln>
        </p:spPr>
      </p:sp>
      <p:pic>
        <p:nvPicPr>
          <p:cNvPr id="9" name="Image 1" descr="preencoded.png"/>
          <p:cNvPicPr>
            <a:picLocks noChangeAspect="1"/>
          </p:cNvPicPr>
          <p:nvPr/>
        </p:nvPicPr>
        <p:blipFill>
          <a:blip r:embed="rId5"/>
          <a:stretch>
            <a:fillRect/>
          </a:stretch>
        </p:blipFill>
        <p:spPr>
          <a:xfrm>
            <a:off x="7818120" y="3383280"/>
            <a:ext cx="457200" cy="457200"/>
          </a:xfrm>
          <a:prstGeom prst="rect">
            <a:avLst/>
          </a:prstGeom>
        </p:spPr>
      </p:pic>
      <p:sp>
        <p:nvSpPr>
          <p:cNvPr id="10" name="Text 5"/>
          <p:cNvSpPr txBox="1"/>
          <p:nvPr/>
        </p:nvSpPr>
        <p:spPr>
          <a:xfrm>
            <a:off x="8503920" y="3108960"/>
            <a:ext cx="3108960" cy="1051560"/>
          </a:xfrm>
          <a:prstGeom prst="rect">
            <a:avLst/>
          </a:prstGeom>
          <a:noFill/>
          <a:ln/>
        </p:spPr>
        <p:txBody>
          <a:bodyPr wrap="square" lIns="0" tIns="0" rIns="0" bIns="0" rtlCol="0" anchor="ctr"/>
          <a:lstStyle/>
          <a:p>
            <a:pPr marL="0" indent="0">
              <a:buNone/>
            </a:pPr>
            <a:r>
              <a:rPr lang="en-US" sz="2000" b="1" dirty="0">
                <a:solidFill>
                  <a:srgbClr val="A78BFA"/>
                </a:solidFill>
                <a:latin typeface="Calibri" pitchFamily="34" charset="0"/>
                <a:ea typeface="Calibri" pitchFamily="34" charset="-122"/>
                <a:cs typeface="Calibri" pitchFamily="34" charset="-120"/>
              </a:rPr>
              <a:t>URLLC</a:t>
            </a:r>
            <a:endParaRPr lang="en-US" sz="1600" dirty="0"/>
          </a:p>
          <a:p>
            <a:pPr marL="0" indent="0">
              <a:buNone/>
            </a:pPr>
            <a:r>
              <a:rPr lang="en-US" sz="1400" dirty="0">
                <a:solidFill>
                  <a:srgbClr val="BFD7EE"/>
                </a:solidFill>
                <a:latin typeface="Calibri" pitchFamily="34" charset="0"/>
                <a:ea typeface="Calibri" pitchFamily="34" charset="-122"/>
                <a:cs typeface="Calibri" pitchFamily="34" charset="-120"/>
              </a:rPr>
              <a:t>Needs lowest delay and top reliability</a:t>
            </a:r>
            <a:endParaRPr lang="en-US" sz="1600" dirty="0"/>
          </a:p>
        </p:txBody>
      </p:sp>
      <p:sp>
        <p:nvSpPr>
          <p:cNvPr id="11" name="Shape 6"/>
          <p:cNvSpPr/>
          <p:nvPr/>
        </p:nvSpPr>
        <p:spPr>
          <a:xfrm>
            <a:off x="7589520" y="4480560"/>
            <a:ext cx="4114800" cy="1234440"/>
          </a:xfrm>
          <a:prstGeom prst="roundRect">
            <a:avLst>
              <a:gd name="adj" fmla="val 8889"/>
            </a:avLst>
          </a:prstGeom>
          <a:solidFill>
            <a:srgbClr val="0E2748"/>
          </a:solidFill>
          <a:ln w="19050">
            <a:solidFill>
              <a:srgbClr val="34D399"/>
            </a:solidFill>
            <a:prstDash val="solid"/>
          </a:ln>
        </p:spPr>
      </p:sp>
      <p:pic>
        <p:nvPicPr>
          <p:cNvPr id="12" name="Image 2" descr="preencoded.png"/>
          <p:cNvPicPr>
            <a:picLocks noChangeAspect="1"/>
          </p:cNvPicPr>
          <p:nvPr/>
        </p:nvPicPr>
        <p:blipFill>
          <a:blip r:embed="rId6"/>
          <a:stretch>
            <a:fillRect/>
          </a:stretch>
        </p:blipFill>
        <p:spPr>
          <a:xfrm>
            <a:off x="7818120" y="4846320"/>
            <a:ext cx="457200" cy="457200"/>
          </a:xfrm>
          <a:prstGeom prst="rect">
            <a:avLst/>
          </a:prstGeom>
        </p:spPr>
      </p:pic>
      <p:sp>
        <p:nvSpPr>
          <p:cNvPr id="13" name="Text 7"/>
          <p:cNvSpPr txBox="1"/>
          <p:nvPr/>
        </p:nvSpPr>
        <p:spPr>
          <a:xfrm>
            <a:off x="8503920" y="4572000"/>
            <a:ext cx="3108960" cy="1051560"/>
          </a:xfrm>
          <a:prstGeom prst="rect">
            <a:avLst/>
          </a:prstGeom>
          <a:noFill/>
          <a:ln/>
        </p:spPr>
        <p:txBody>
          <a:bodyPr wrap="square" lIns="0" tIns="0" rIns="0" bIns="0" rtlCol="0" anchor="ctr"/>
          <a:lstStyle/>
          <a:p>
            <a:pPr marL="0" indent="0">
              <a:buNone/>
            </a:pPr>
            <a:r>
              <a:rPr lang="en-US" sz="2000" b="1" dirty="0">
                <a:solidFill>
                  <a:srgbClr val="34D399"/>
                </a:solidFill>
                <a:latin typeface="Calibri" pitchFamily="34" charset="0"/>
                <a:ea typeface="Calibri" pitchFamily="34" charset="-122"/>
                <a:cs typeface="Calibri" pitchFamily="34" charset="-120"/>
              </a:rPr>
              <a:t>mMTC</a:t>
            </a:r>
            <a:endParaRPr lang="en-US" sz="1600" dirty="0"/>
          </a:p>
          <a:p>
            <a:pPr marL="0" indent="0">
              <a:buNone/>
            </a:pPr>
            <a:r>
              <a:rPr lang="en-US" sz="1400" dirty="0">
                <a:solidFill>
                  <a:srgbClr val="BFD7EE"/>
                </a:solidFill>
                <a:latin typeface="Calibri" pitchFamily="34" charset="0"/>
                <a:ea typeface="Calibri" pitchFamily="34" charset="-122"/>
                <a:cs typeface="Calibri" pitchFamily="34" charset="-120"/>
              </a:rPr>
              <a:t>Needs the most connected devices</a:t>
            </a:r>
            <a:endParaRPr lang="en-US" sz="1600" dirty="0"/>
          </a:p>
        </p:txBody>
      </p:sp>
      <p:sp>
        <p:nvSpPr>
          <p:cNvPr id="14" name="Text 8"/>
          <p:cNvSpPr txBox="1"/>
          <p:nvPr/>
        </p:nvSpPr>
        <p:spPr>
          <a:xfrm>
            <a:off x="7589520" y="5943600"/>
            <a:ext cx="4114800" cy="320040"/>
          </a:xfrm>
          <a:prstGeom prst="rect">
            <a:avLst/>
          </a:prstGeom>
          <a:noFill/>
          <a:ln/>
        </p:spPr>
        <p:txBody>
          <a:bodyPr wrap="square" lIns="0" tIns="0" rIns="0" bIns="0" rtlCol="0" anchor="ctr"/>
          <a:lstStyle/>
          <a:p>
            <a:pPr marL="0" indent="0">
              <a:buNone/>
            </a:pPr>
            <a:r>
              <a:rPr lang="en-US" sz="1200" i="1" dirty="0">
                <a:solidFill>
                  <a:srgbClr val="8FB3D9"/>
                </a:solidFill>
                <a:latin typeface="Calibri" pitchFamily="34" charset="0"/>
                <a:ea typeface="Calibri" pitchFamily="34" charset="-122"/>
                <a:cs typeface="Calibri" pitchFamily="34" charset="-120"/>
              </a:rPr>
              <a:t>Illustrative relative scale (5 = highest need)</a:t>
            </a:r>
            <a:endParaRPr lang="en-US" sz="1200" dirty="0"/>
          </a:p>
        </p:txBody>
      </p:sp>
      <p:sp>
        <p:nvSpPr>
          <p:cNvPr id="25" name="Slide Number Placeholder 0"/>
          <p:cNvSpPr>
            <a:spLocks noGrp="1"/>
          </p:cNvSpPr>
          <p:nvPr>
            <p:ph type="sldNum" sz="quarter" idx="4294967295"/>
          </p:nvPr>
        </p:nvSpPr>
        <p:spPr>
          <a:xfrm>
            <a:off x="11064240" y="6473952"/>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B3D9"/>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lide chip"/>
          <p:cNvSpPr txBox="1"/>
          <p:nvPr/>
        </p:nvSpPr>
        <p:spPr>
          <a:xfrm>
            <a:off x="457200" y="274320"/>
            <a:ext cx="640080" cy="640080"/>
          </a:xfrm>
          <a:prstGeom prst="roundRect">
            <a:avLst>
              <a:gd name="adj" fmla="val 14286"/>
            </a:avLst>
          </a:prstGeom>
          <a:solidFill>
            <a:srgbClr val="22D3EE"/>
          </a:solidFill>
          <a:ln/>
        </p:spPr>
        <p:txBody>
          <a:bodyPr wrap="square" lIns="0" tIns="0" rIns="0" bIns="0" rtlCol="0" anchor="ctr"/>
          <a:lstStyle/>
          <a:p>
            <a:pPr marL="0" indent="0" algn="ctr">
              <a:buNone/>
            </a:pPr>
            <a:r>
              <a:rPr lang="en-US" sz="2200" b="1" dirty="0">
                <a:solidFill>
                  <a:srgbClr val="071428"/>
                </a:solidFill>
              </a:rPr>
              <a:t>08</a:t>
            </a:r>
            <a:endParaRPr lang="en-US" sz="2200" dirty="0"/>
          </a:p>
        </p:txBody>
      </p:sp>
      <p:sp>
        <p:nvSpPr>
          <p:cNvPr id="3" name="Text 0"/>
          <p:cNvSpPr>
            <a:spLocks noGrp="1"/>
          </p:cNvSpPr>
          <p:nvPr>
            <p:ph type="title" idx="100" hasCustomPrompt="1"/>
          </p:nvPr>
        </p:nvSpPr>
        <p:spPr>
          <a:xfrm>
            <a:off x="1280160" y="256032"/>
            <a:ext cx="10424160" cy="685800"/>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Network Slicing in 5G: End to End</a:t>
            </a:r>
            <a:endParaRPr lang="en-US" sz="3000" dirty="0"/>
          </a:p>
        </p:txBody>
      </p:sp>
      <p:sp>
        <p:nvSpPr>
          <p:cNvPr id="4" name="Shape 2"/>
          <p:cNvSpPr/>
          <p:nvPr/>
        </p:nvSpPr>
        <p:spPr>
          <a:xfrm>
            <a:off x="603504" y="1325880"/>
            <a:ext cx="1828800" cy="3566160"/>
          </a:xfrm>
          <a:prstGeom prst="roundRect">
            <a:avLst>
              <a:gd name="adj" fmla="val 6000"/>
            </a:avLst>
          </a:prstGeom>
          <a:solidFill>
            <a:srgbClr val="0A1F3C"/>
          </a:solidFill>
          <a:ln w="19050">
            <a:solidFill>
              <a:srgbClr val="3B82F6"/>
            </a:solidFill>
            <a:prstDash val="solid"/>
          </a:ln>
        </p:spPr>
      </p:sp>
      <p:pic>
        <p:nvPicPr>
          <p:cNvPr id="5" name="Image 0" descr="preencoded.png"/>
          <p:cNvPicPr>
            <a:picLocks noChangeAspect="1"/>
          </p:cNvPicPr>
          <p:nvPr/>
        </p:nvPicPr>
        <p:blipFill>
          <a:blip r:embed="rId3"/>
          <a:stretch>
            <a:fillRect/>
          </a:stretch>
        </p:blipFill>
        <p:spPr>
          <a:xfrm>
            <a:off x="1316736" y="1463040"/>
            <a:ext cx="402336" cy="402336"/>
          </a:xfrm>
          <a:prstGeom prst="rect">
            <a:avLst/>
          </a:prstGeom>
        </p:spPr>
      </p:pic>
      <p:sp>
        <p:nvSpPr>
          <p:cNvPr id="6" name="Text 3"/>
          <p:cNvSpPr txBox="1"/>
          <p:nvPr/>
        </p:nvSpPr>
        <p:spPr>
          <a:xfrm>
            <a:off x="603504" y="1920240"/>
            <a:ext cx="182880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Devices</a:t>
            </a:r>
            <a:endParaRPr lang="en-US" sz="1600" dirty="0"/>
          </a:p>
        </p:txBody>
      </p:sp>
      <p:sp>
        <p:nvSpPr>
          <p:cNvPr id="7" name="Shape 4"/>
          <p:cNvSpPr/>
          <p:nvPr/>
        </p:nvSpPr>
        <p:spPr>
          <a:xfrm>
            <a:off x="2889504" y="1325880"/>
            <a:ext cx="1828800" cy="3566160"/>
          </a:xfrm>
          <a:prstGeom prst="roundRect">
            <a:avLst>
              <a:gd name="adj" fmla="val 6000"/>
            </a:avLst>
          </a:prstGeom>
          <a:solidFill>
            <a:srgbClr val="0A1F3C"/>
          </a:solidFill>
          <a:ln w="19050">
            <a:solidFill>
              <a:srgbClr val="5B6B8C"/>
            </a:solidFill>
            <a:prstDash val="solid"/>
          </a:ln>
        </p:spPr>
      </p:sp>
      <p:pic>
        <p:nvPicPr>
          <p:cNvPr id="8" name="Image 1" descr="preencoded.png"/>
          <p:cNvPicPr>
            <a:picLocks noChangeAspect="1"/>
          </p:cNvPicPr>
          <p:nvPr/>
        </p:nvPicPr>
        <p:blipFill>
          <a:blip r:embed="rId4"/>
          <a:stretch>
            <a:fillRect/>
          </a:stretch>
        </p:blipFill>
        <p:spPr>
          <a:xfrm>
            <a:off x="3602736" y="1463040"/>
            <a:ext cx="402336" cy="402336"/>
          </a:xfrm>
          <a:prstGeom prst="rect">
            <a:avLst/>
          </a:prstGeom>
        </p:spPr>
      </p:pic>
      <p:sp>
        <p:nvSpPr>
          <p:cNvPr id="9" name="Text 5"/>
          <p:cNvSpPr txBox="1"/>
          <p:nvPr/>
        </p:nvSpPr>
        <p:spPr>
          <a:xfrm>
            <a:off x="2889504" y="1920240"/>
            <a:ext cx="182880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RAN</a:t>
            </a:r>
            <a:endParaRPr lang="en-US" sz="1600" dirty="0"/>
          </a:p>
        </p:txBody>
      </p:sp>
      <p:sp>
        <p:nvSpPr>
          <p:cNvPr id="10" name="Shape 6"/>
          <p:cNvSpPr/>
          <p:nvPr/>
        </p:nvSpPr>
        <p:spPr>
          <a:xfrm>
            <a:off x="5175504" y="1325880"/>
            <a:ext cx="1828800" cy="3566160"/>
          </a:xfrm>
          <a:prstGeom prst="roundRect">
            <a:avLst>
              <a:gd name="adj" fmla="val 6000"/>
            </a:avLst>
          </a:prstGeom>
          <a:solidFill>
            <a:srgbClr val="0A1F3C"/>
          </a:solidFill>
          <a:ln w="19050">
            <a:solidFill>
              <a:srgbClr val="5B6B8C"/>
            </a:solidFill>
            <a:prstDash val="solid"/>
          </a:ln>
        </p:spPr>
      </p:sp>
      <p:pic>
        <p:nvPicPr>
          <p:cNvPr id="11" name="Image 2" descr="preencoded.png"/>
          <p:cNvPicPr>
            <a:picLocks noChangeAspect="1"/>
          </p:cNvPicPr>
          <p:nvPr/>
        </p:nvPicPr>
        <p:blipFill>
          <a:blip r:embed="rId5"/>
          <a:stretch>
            <a:fillRect/>
          </a:stretch>
        </p:blipFill>
        <p:spPr>
          <a:xfrm>
            <a:off x="5888736" y="1463040"/>
            <a:ext cx="402336" cy="402336"/>
          </a:xfrm>
          <a:prstGeom prst="rect">
            <a:avLst/>
          </a:prstGeom>
        </p:spPr>
      </p:pic>
      <p:sp>
        <p:nvSpPr>
          <p:cNvPr id="12" name="Text 7"/>
          <p:cNvSpPr txBox="1"/>
          <p:nvPr/>
        </p:nvSpPr>
        <p:spPr>
          <a:xfrm>
            <a:off x="5175504" y="1920240"/>
            <a:ext cx="182880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Transport</a:t>
            </a:r>
            <a:endParaRPr lang="en-US" sz="1600" dirty="0"/>
          </a:p>
        </p:txBody>
      </p:sp>
      <p:sp>
        <p:nvSpPr>
          <p:cNvPr id="13" name="Shape 8"/>
          <p:cNvSpPr/>
          <p:nvPr/>
        </p:nvSpPr>
        <p:spPr>
          <a:xfrm>
            <a:off x="7461504" y="1325880"/>
            <a:ext cx="1828800" cy="3566160"/>
          </a:xfrm>
          <a:prstGeom prst="roundRect">
            <a:avLst>
              <a:gd name="adj" fmla="val 6000"/>
            </a:avLst>
          </a:prstGeom>
          <a:solidFill>
            <a:srgbClr val="0A1F3C"/>
          </a:solidFill>
          <a:ln w="19050">
            <a:solidFill>
              <a:srgbClr val="5B6B8C"/>
            </a:solidFill>
            <a:prstDash val="solid"/>
          </a:ln>
        </p:spPr>
      </p:sp>
      <p:pic>
        <p:nvPicPr>
          <p:cNvPr id="14" name="Image 3" descr="preencoded.png"/>
          <p:cNvPicPr>
            <a:picLocks noChangeAspect="1"/>
          </p:cNvPicPr>
          <p:nvPr/>
        </p:nvPicPr>
        <p:blipFill>
          <a:blip r:embed="rId6"/>
          <a:stretch>
            <a:fillRect/>
          </a:stretch>
        </p:blipFill>
        <p:spPr>
          <a:xfrm>
            <a:off x="8174736" y="1463040"/>
            <a:ext cx="402336" cy="402336"/>
          </a:xfrm>
          <a:prstGeom prst="rect">
            <a:avLst/>
          </a:prstGeom>
        </p:spPr>
      </p:pic>
      <p:sp>
        <p:nvSpPr>
          <p:cNvPr id="15" name="Text 9"/>
          <p:cNvSpPr txBox="1"/>
          <p:nvPr/>
        </p:nvSpPr>
        <p:spPr>
          <a:xfrm>
            <a:off x="7461504" y="1920240"/>
            <a:ext cx="182880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Core</a:t>
            </a:r>
            <a:endParaRPr lang="en-US" sz="1600" dirty="0"/>
          </a:p>
        </p:txBody>
      </p:sp>
      <p:sp>
        <p:nvSpPr>
          <p:cNvPr id="16" name="Shape 10"/>
          <p:cNvSpPr/>
          <p:nvPr/>
        </p:nvSpPr>
        <p:spPr>
          <a:xfrm>
            <a:off x="9747504" y="1325880"/>
            <a:ext cx="1828800" cy="3566160"/>
          </a:xfrm>
          <a:prstGeom prst="roundRect">
            <a:avLst>
              <a:gd name="adj" fmla="val 6000"/>
            </a:avLst>
          </a:prstGeom>
          <a:solidFill>
            <a:srgbClr val="0A1F3C"/>
          </a:solidFill>
          <a:ln w="19050">
            <a:solidFill>
              <a:srgbClr val="3B82F6"/>
            </a:solidFill>
            <a:prstDash val="solid"/>
          </a:ln>
        </p:spPr>
      </p:sp>
      <p:pic>
        <p:nvPicPr>
          <p:cNvPr id="17" name="Image 4" descr="preencoded.png"/>
          <p:cNvPicPr>
            <a:picLocks noChangeAspect="1"/>
          </p:cNvPicPr>
          <p:nvPr/>
        </p:nvPicPr>
        <p:blipFill>
          <a:blip r:embed="rId7"/>
          <a:stretch>
            <a:fillRect/>
          </a:stretch>
        </p:blipFill>
        <p:spPr>
          <a:xfrm>
            <a:off x="10460736" y="1463040"/>
            <a:ext cx="402336" cy="402336"/>
          </a:xfrm>
          <a:prstGeom prst="rect">
            <a:avLst/>
          </a:prstGeom>
        </p:spPr>
      </p:pic>
      <p:sp>
        <p:nvSpPr>
          <p:cNvPr id="18" name="Text 11"/>
          <p:cNvSpPr txBox="1"/>
          <p:nvPr/>
        </p:nvSpPr>
        <p:spPr>
          <a:xfrm>
            <a:off x="9747504" y="1920240"/>
            <a:ext cx="182880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Applications</a:t>
            </a:r>
            <a:endParaRPr lang="en-US" sz="1600" dirty="0"/>
          </a:p>
        </p:txBody>
      </p:sp>
      <p:sp>
        <p:nvSpPr>
          <p:cNvPr id="19" name="Shape 12"/>
          <p:cNvSpPr/>
          <p:nvPr/>
        </p:nvSpPr>
        <p:spPr>
          <a:xfrm>
            <a:off x="1883664" y="2743200"/>
            <a:ext cx="8412480" cy="0"/>
          </a:xfrm>
          <a:prstGeom prst="line">
            <a:avLst/>
          </a:prstGeom>
          <a:noFill/>
          <a:ln w="114300">
            <a:solidFill>
              <a:srgbClr val="22D3EE"/>
            </a:solidFill>
            <a:prstDash val="solid"/>
          </a:ln>
        </p:spPr>
      </p:sp>
      <p:sp>
        <p:nvSpPr>
          <p:cNvPr id="20" name="Shape 13"/>
          <p:cNvSpPr/>
          <p:nvPr/>
        </p:nvSpPr>
        <p:spPr>
          <a:xfrm>
            <a:off x="1883664" y="3611880"/>
            <a:ext cx="8412480" cy="0"/>
          </a:xfrm>
          <a:prstGeom prst="line">
            <a:avLst/>
          </a:prstGeom>
          <a:noFill/>
          <a:ln w="114300">
            <a:solidFill>
              <a:srgbClr val="A78BFA"/>
            </a:solidFill>
            <a:prstDash val="solid"/>
          </a:ln>
        </p:spPr>
      </p:sp>
      <p:sp>
        <p:nvSpPr>
          <p:cNvPr id="21" name="Shape 14"/>
          <p:cNvSpPr/>
          <p:nvPr/>
        </p:nvSpPr>
        <p:spPr>
          <a:xfrm>
            <a:off x="1883664" y="4480560"/>
            <a:ext cx="8412480" cy="0"/>
          </a:xfrm>
          <a:prstGeom prst="line">
            <a:avLst/>
          </a:prstGeom>
          <a:noFill/>
          <a:ln w="114300">
            <a:solidFill>
              <a:srgbClr val="34D399"/>
            </a:solidFill>
            <a:prstDash val="solid"/>
          </a:ln>
        </p:spPr>
      </p:sp>
      <p:sp>
        <p:nvSpPr>
          <p:cNvPr id="22" name="Shape 15"/>
          <p:cNvSpPr/>
          <p:nvPr/>
        </p:nvSpPr>
        <p:spPr>
          <a:xfrm>
            <a:off x="1197864" y="2423160"/>
            <a:ext cx="640080" cy="640080"/>
          </a:xfrm>
          <a:prstGeom prst="ellipse">
            <a:avLst/>
          </a:prstGeom>
          <a:solidFill>
            <a:srgbClr val="071428"/>
          </a:solidFill>
          <a:ln w="25400">
            <a:solidFill>
              <a:srgbClr val="22D3EE"/>
            </a:solidFill>
            <a:prstDash val="solid"/>
          </a:ln>
        </p:spPr>
      </p:sp>
      <p:pic>
        <p:nvPicPr>
          <p:cNvPr id="23" name="Image 5" descr="preencoded.png"/>
          <p:cNvPicPr>
            <a:picLocks noChangeAspect="1"/>
          </p:cNvPicPr>
          <p:nvPr/>
        </p:nvPicPr>
        <p:blipFill>
          <a:blip r:embed="rId8"/>
          <a:stretch>
            <a:fillRect/>
          </a:stretch>
        </p:blipFill>
        <p:spPr>
          <a:xfrm>
            <a:off x="1344168" y="2569464"/>
            <a:ext cx="347472" cy="347472"/>
          </a:xfrm>
          <a:prstGeom prst="rect">
            <a:avLst/>
          </a:prstGeom>
        </p:spPr>
      </p:pic>
      <p:sp>
        <p:nvSpPr>
          <p:cNvPr id="24" name="Shape 16"/>
          <p:cNvSpPr/>
          <p:nvPr/>
        </p:nvSpPr>
        <p:spPr>
          <a:xfrm>
            <a:off x="10341864" y="2423160"/>
            <a:ext cx="640080" cy="640080"/>
          </a:xfrm>
          <a:prstGeom prst="ellipse">
            <a:avLst/>
          </a:prstGeom>
          <a:solidFill>
            <a:srgbClr val="071428"/>
          </a:solidFill>
          <a:ln w="25400">
            <a:solidFill>
              <a:srgbClr val="22D3EE"/>
            </a:solidFill>
            <a:prstDash val="solid"/>
          </a:ln>
        </p:spPr>
      </p:sp>
      <p:pic>
        <p:nvPicPr>
          <p:cNvPr id="25" name="Image 6" descr="preencoded.png"/>
          <p:cNvPicPr>
            <a:picLocks noChangeAspect="1"/>
          </p:cNvPicPr>
          <p:nvPr/>
        </p:nvPicPr>
        <p:blipFill>
          <a:blip r:embed="rId9"/>
          <a:stretch>
            <a:fillRect/>
          </a:stretch>
        </p:blipFill>
        <p:spPr>
          <a:xfrm>
            <a:off x="10488168" y="2569464"/>
            <a:ext cx="347472" cy="347472"/>
          </a:xfrm>
          <a:prstGeom prst="rect">
            <a:avLst/>
          </a:prstGeom>
        </p:spPr>
      </p:pic>
      <p:sp>
        <p:nvSpPr>
          <p:cNvPr id="26" name="Shape 17"/>
          <p:cNvSpPr/>
          <p:nvPr/>
        </p:nvSpPr>
        <p:spPr>
          <a:xfrm>
            <a:off x="1197864" y="3291840"/>
            <a:ext cx="640080" cy="640080"/>
          </a:xfrm>
          <a:prstGeom prst="ellipse">
            <a:avLst/>
          </a:prstGeom>
          <a:solidFill>
            <a:srgbClr val="071428"/>
          </a:solidFill>
          <a:ln w="25400">
            <a:solidFill>
              <a:srgbClr val="A78BFA"/>
            </a:solidFill>
            <a:prstDash val="solid"/>
          </a:ln>
        </p:spPr>
      </p:sp>
      <p:pic>
        <p:nvPicPr>
          <p:cNvPr id="27" name="Image 7" descr="preencoded.png"/>
          <p:cNvPicPr>
            <a:picLocks noChangeAspect="1"/>
          </p:cNvPicPr>
          <p:nvPr/>
        </p:nvPicPr>
        <p:blipFill>
          <a:blip r:embed="rId10"/>
          <a:stretch>
            <a:fillRect/>
          </a:stretch>
        </p:blipFill>
        <p:spPr>
          <a:xfrm>
            <a:off x="1344168" y="3438144"/>
            <a:ext cx="347472" cy="347472"/>
          </a:xfrm>
          <a:prstGeom prst="rect">
            <a:avLst/>
          </a:prstGeom>
        </p:spPr>
      </p:pic>
      <p:sp>
        <p:nvSpPr>
          <p:cNvPr id="28" name="Shape 18"/>
          <p:cNvSpPr/>
          <p:nvPr/>
        </p:nvSpPr>
        <p:spPr>
          <a:xfrm>
            <a:off x="10341864" y="3291840"/>
            <a:ext cx="640080" cy="640080"/>
          </a:xfrm>
          <a:prstGeom prst="ellipse">
            <a:avLst/>
          </a:prstGeom>
          <a:solidFill>
            <a:srgbClr val="071428"/>
          </a:solidFill>
          <a:ln w="25400">
            <a:solidFill>
              <a:srgbClr val="A78BFA"/>
            </a:solidFill>
            <a:prstDash val="solid"/>
          </a:ln>
        </p:spPr>
      </p:sp>
      <p:pic>
        <p:nvPicPr>
          <p:cNvPr id="29" name="Image 8" descr="preencoded.png"/>
          <p:cNvPicPr>
            <a:picLocks noChangeAspect="1"/>
          </p:cNvPicPr>
          <p:nvPr/>
        </p:nvPicPr>
        <p:blipFill>
          <a:blip r:embed="rId11"/>
          <a:stretch>
            <a:fillRect/>
          </a:stretch>
        </p:blipFill>
        <p:spPr>
          <a:xfrm>
            <a:off x="10488168" y="3438144"/>
            <a:ext cx="347472" cy="347472"/>
          </a:xfrm>
          <a:prstGeom prst="rect">
            <a:avLst/>
          </a:prstGeom>
        </p:spPr>
      </p:pic>
      <p:sp>
        <p:nvSpPr>
          <p:cNvPr id="30" name="Shape 19"/>
          <p:cNvSpPr/>
          <p:nvPr/>
        </p:nvSpPr>
        <p:spPr>
          <a:xfrm>
            <a:off x="1197864" y="4160520"/>
            <a:ext cx="640080" cy="640080"/>
          </a:xfrm>
          <a:prstGeom prst="ellipse">
            <a:avLst/>
          </a:prstGeom>
          <a:solidFill>
            <a:srgbClr val="071428"/>
          </a:solidFill>
          <a:ln w="25400">
            <a:solidFill>
              <a:srgbClr val="34D399"/>
            </a:solidFill>
            <a:prstDash val="solid"/>
          </a:ln>
        </p:spPr>
      </p:sp>
      <p:pic>
        <p:nvPicPr>
          <p:cNvPr id="31" name="Image 9" descr="preencoded.png"/>
          <p:cNvPicPr>
            <a:picLocks noChangeAspect="1"/>
          </p:cNvPicPr>
          <p:nvPr/>
        </p:nvPicPr>
        <p:blipFill>
          <a:blip r:embed="rId12"/>
          <a:stretch>
            <a:fillRect/>
          </a:stretch>
        </p:blipFill>
        <p:spPr>
          <a:xfrm>
            <a:off x="1344168" y="4306824"/>
            <a:ext cx="347472" cy="347472"/>
          </a:xfrm>
          <a:prstGeom prst="rect">
            <a:avLst/>
          </a:prstGeom>
        </p:spPr>
      </p:pic>
      <p:sp>
        <p:nvSpPr>
          <p:cNvPr id="32" name="Shape 20"/>
          <p:cNvSpPr/>
          <p:nvPr/>
        </p:nvSpPr>
        <p:spPr>
          <a:xfrm>
            <a:off x="10341864" y="4160520"/>
            <a:ext cx="640080" cy="640080"/>
          </a:xfrm>
          <a:prstGeom prst="ellipse">
            <a:avLst/>
          </a:prstGeom>
          <a:solidFill>
            <a:srgbClr val="071428"/>
          </a:solidFill>
          <a:ln w="25400">
            <a:solidFill>
              <a:srgbClr val="34D399"/>
            </a:solidFill>
            <a:prstDash val="solid"/>
          </a:ln>
        </p:spPr>
      </p:sp>
      <p:pic>
        <p:nvPicPr>
          <p:cNvPr id="33" name="Image 10" descr="preencoded.png"/>
          <p:cNvPicPr>
            <a:picLocks noChangeAspect="1"/>
          </p:cNvPicPr>
          <p:nvPr/>
        </p:nvPicPr>
        <p:blipFill>
          <a:blip r:embed="rId13"/>
          <a:stretch>
            <a:fillRect/>
          </a:stretch>
        </p:blipFill>
        <p:spPr>
          <a:xfrm>
            <a:off x="10488168" y="4306824"/>
            <a:ext cx="347472" cy="347472"/>
          </a:xfrm>
          <a:prstGeom prst="rect">
            <a:avLst/>
          </a:prstGeom>
        </p:spPr>
      </p:pic>
      <p:sp>
        <p:nvSpPr>
          <p:cNvPr id="34" name="Shape 21"/>
          <p:cNvSpPr/>
          <p:nvPr/>
        </p:nvSpPr>
        <p:spPr>
          <a:xfrm>
            <a:off x="1463040" y="5257800"/>
            <a:ext cx="2926080" cy="502920"/>
          </a:xfrm>
          <a:prstGeom prst="roundRect">
            <a:avLst>
              <a:gd name="adj" fmla="val 18182"/>
            </a:avLst>
          </a:prstGeom>
          <a:solidFill>
            <a:srgbClr val="22D3EE"/>
          </a:solidFill>
          <a:ln w="12700">
            <a:solidFill>
              <a:srgbClr val="22D3EE"/>
            </a:solidFill>
            <a:prstDash val="solid"/>
          </a:ln>
        </p:spPr>
      </p:sp>
      <p:sp>
        <p:nvSpPr>
          <p:cNvPr id="35" name="Text 22"/>
          <p:cNvSpPr txBox="1"/>
          <p:nvPr/>
        </p:nvSpPr>
        <p:spPr>
          <a:xfrm>
            <a:off x="1463040" y="5257800"/>
            <a:ext cx="2926080" cy="502920"/>
          </a:xfrm>
          <a:prstGeom prst="rect">
            <a:avLst/>
          </a:prstGeom>
          <a:noFill/>
          <a:ln/>
        </p:spPr>
        <p:txBody>
          <a:bodyPr wrap="square" lIns="0" tIns="0" rIns="0" bIns="0" rtlCol="0" anchor="ctr"/>
          <a:lstStyle/>
          <a:p>
            <a:pPr marL="0" indent="0" algn="ctr">
              <a:buNone/>
            </a:pPr>
            <a:r>
              <a:rPr lang="en-US" sz="1700" b="1" dirty="0">
                <a:solidFill>
                  <a:srgbClr val="071428"/>
                </a:solidFill>
                <a:latin typeface="Calibri" pitchFamily="34" charset="0"/>
                <a:ea typeface="Calibri" pitchFamily="34" charset="-122"/>
                <a:cs typeface="Calibri" pitchFamily="34" charset="-120"/>
              </a:rPr>
              <a:t>eMBB slice</a:t>
            </a:r>
            <a:endParaRPr lang="en-US" sz="1700" dirty="0"/>
          </a:p>
        </p:txBody>
      </p:sp>
      <p:sp>
        <p:nvSpPr>
          <p:cNvPr id="36" name="Shape 23"/>
          <p:cNvSpPr/>
          <p:nvPr/>
        </p:nvSpPr>
        <p:spPr>
          <a:xfrm>
            <a:off x="4617720" y="5257800"/>
            <a:ext cx="2926080" cy="502920"/>
          </a:xfrm>
          <a:prstGeom prst="roundRect">
            <a:avLst>
              <a:gd name="adj" fmla="val 18182"/>
            </a:avLst>
          </a:prstGeom>
          <a:solidFill>
            <a:srgbClr val="A78BFA"/>
          </a:solidFill>
          <a:ln w="12700">
            <a:solidFill>
              <a:srgbClr val="A78BFA"/>
            </a:solidFill>
            <a:prstDash val="solid"/>
          </a:ln>
        </p:spPr>
      </p:sp>
      <p:sp>
        <p:nvSpPr>
          <p:cNvPr id="37" name="Text 24"/>
          <p:cNvSpPr txBox="1"/>
          <p:nvPr/>
        </p:nvSpPr>
        <p:spPr>
          <a:xfrm>
            <a:off x="4617720" y="5257800"/>
            <a:ext cx="2926080" cy="502920"/>
          </a:xfrm>
          <a:prstGeom prst="rect">
            <a:avLst/>
          </a:prstGeom>
          <a:noFill/>
          <a:ln/>
        </p:spPr>
        <p:txBody>
          <a:bodyPr wrap="square" lIns="0" tIns="0" rIns="0" bIns="0" rtlCol="0" anchor="ctr"/>
          <a:lstStyle/>
          <a:p>
            <a:pPr marL="0" indent="0" algn="ctr">
              <a:buNone/>
            </a:pPr>
            <a:r>
              <a:rPr lang="en-US" sz="1700" b="1" dirty="0">
                <a:solidFill>
                  <a:srgbClr val="071428"/>
                </a:solidFill>
                <a:latin typeface="Calibri" pitchFamily="34" charset="0"/>
                <a:ea typeface="Calibri" pitchFamily="34" charset="-122"/>
                <a:cs typeface="Calibri" pitchFamily="34" charset="-120"/>
              </a:rPr>
              <a:t>URLLC slice</a:t>
            </a:r>
            <a:endParaRPr lang="en-US" sz="1700" dirty="0"/>
          </a:p>
        </p:txBody>
      </p:sp>
      <p:sp>
        <p:nvSpPr>
          <p:cNvPr id="38" name="Shape 25"/>
          <p:cNvSpPr/>
          <p:nvPr/>
        </p:nvSpPr>
        <p:spPr>
          <a:xfrm>
            <a:off x="7772400" y="5257800"/>
            <a:ext cx="2926080" cy="502920"/>
          </a:xfrm>
          <a:prstGeom prst="roundRect">
            <a:avLst>
              <a:gd name="adj" fmla="val 18182"/>
            </a:avLst>
          </a:prstGeom>
          <a:solidFill>
            <a:srgbClr val="34D399"/>
          </a:solidFill>
          <a:ln w="12700">
            <a:solidFill>
              <a:srgbClr val="34D399"/>
            </a:solidFill>
            <a:prstDash val="solid"/>
          </a:ln>
        </p:spPr>
      </p:sp>
      <p:sp>
        <p:nvSpPr>
          <p:cNvPr id="39" name="Text 26"/>
          <p:cNvSpPr txBox="1"/>
          <p:nvPr/>
        </p:nvSpPr>
        <p:spPr>
          <a:xfrm>
            <a:off x="7772400" y="5257800"/>
            <a:ext cx="2926080" cy="502920"/>
          </a:xfrm>
          <a:prstGeom prst="rect">
            <a:avLst/>
          </a:prstGeom>
          <a:noFill/>
          <a:ln/>
        </p:spPr>
        <p:txBody>
          <a:bodyPr wrap="square" lIns="0" tIns="0" rIns="0" bIns="0" rtlCol="0" anchor="ctr"/>
          <a:lstStyle/>
          <a:p>
            <a:pPr marL="0" indent="0" algn="ctr">
              <a:buNone/>
            </a:pPr>
            <a:r>
              <a:rPr lang="en-US" sz="1700" b="1" dirty="0">
                <a:solidFill>
                  <a:srgbClr val="071428"/>
                </a:solidFill>
                <a:latin typeface="Calibri" pitchFamily="34" charset="0"/>
                <a:ea typeface="Calibri" pitchFamily="34" charset="-122"/>
                <a:cs typeface="Calibri" pitchFamily="34" charset="-120"/>
              </a:rPr>
              <a:t>mMTC slice</a:t>
            </a:r>
            <a:endParaRPr lang="en-US" sz="1700" dirty="0"/>
          </a:p>
        </p:txBody>
      </p:sp>
      <p:sp>
        <p:nvSpPr>
          <p:cNvPr id="40" name="Text 27"/>
          <p:cNvSpPr txBox="1"/>
          <p:nvPr/>
        </p:nvSpPr>
        <p:spPr>
          <a:xfrm>
            <a:off x="457200" y="5943600"/>
            <a:ext cx="11247120" cy="411480"/>
          </a:xfrm>
          <a:prstGeom prst="rect">
            <a:avLst/>
          </a:prstGeom>
          <a:noFill/>
          <a:ln/>
        </p:spPr>
        <p:txBody>
          <a:bodyPr wrap="square" lIns="0" tIns="0" rIns="0" bIns="0" rtlCol="0" anchor="ctr"/>
          <a:lstStyle/>
          <a:p>
            <a:pPr marL="0" indent="0" algn="ctr">
              <a:buNone/>
            </a:pPr>
            <a:r>
              <a:rPr lang="en-US" sz="1800" b="1" dirty="0">
                <a:solidFill>
                  <a:srgbClr val="FBBF24"/>
                </a:solidFill>
                <a:latin typeface="Calibri" pitchFamily="34" charset="0"/>
                <a:ea typeface="Calibri" pitchFamily="34" charset="-122"/>
                <a:cs typeface="Calibri" pitchFamily="34" charset="-120"/>
              </a:rPr>
              <a:t>Same infrastructure, isolated slices</a:t>
            </a:r>
            <a:endParaRPr lang="en-US" sz="1800" dirty="0"/>
          </a:p>
        </p:txBody>
      </p:sp>
      <p:sp>
        <p:nvSpPr>
          <p:cNvPr id="41" name="Slide Number Placeholder 0"/>
          <p:cNvSpPr>
            <a:spLocks noGrp="1"/>
          </p:cNvSpPr>
          <p:nvPr>
            <p:ph type="sldNum" sz="quarter" idx="4294967295"/>
          </p:nvPr>
        </p:nvSpPr>
        <p:spPr>
          <a:xfrm>
            <a:off x="11064240" y="6473952"/>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B3D9"/>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lide chip"/>
          <p:cNvSpPr txBox="1"/>
          <p:nvPr/>
        </p:nvSpPr>
        <p:spPr>
          <a:xfrm>
            <a:off x="457200" y="274320"/>
            <a:ext cx="640080" cy="640080"/>
          </a:xfrm>
          <a:prstGeom prst="roundRect">
            <a:avLst>
              <a:gd name="adj" fmla="val 14286"/>
            </a:avLst>
          </a:prstGeom>
          <a:solidFill>
            <a:srgbClr val="22D3EE"/>
          </a:solidFill>
          <a:ln/>
        </p:spPr>
        <p:txBody>
          <a:bodyPr wrap="square" lIns="0" tIns="0" rIns="0" bIns="0" rtlCol="0" anchor="ctr"/>
          <a:lstStyle/>
          <a:p>
            <a:pPr marL="0" indent="0" algn="ctr">
              <a:buNone/>
            </a:pPr>
            <a:r>
              <a:rPr lang="en-US" sz="2200" b="1" dirty="0">
                <a:solidFill>
                  <a:srgbClr val="071428"/>
                </a:solidFill>
              </a:rPr>
              <a:t>09</a:t>
            </a:r>
            <a:endParaRPr lang="en-US" sz="2200" dirty="0"/>
          </a:p>
        </p:txBody>
      </p:sp>
      <p:sp>
        <p:nvSpPr>
          <p:cNvPr id="3" name="Text 0"/>
          <p:cNvSpPr>
            <a:spLocks noGrp="1"/>
          </p:cNvSpPr>
          <p:nvPr>
            <p:ph type="title" idx="100" hasCustomPrompt="1"/>
          </p:nvPr>
        </p:nvSpPr>
        <p:spPr>
          <a:xfrm>
            <a:off x="1280160" y="256032"/>
            <a:ext cx="10424160" cy="685800"/>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Network Slicing in 6G</a:t>
            </a:r>
            <a:endParaRPr lang="en-US" sz="3000" dirty="0"/>
          </a:p>
        </p:txBody>
      </p:sp>
      <p:sp>
        <p:nvSpPr>
          <p:cNvPr id="4" name="Shape 2"/>
          <p:cNvSpPr/>
          <p:nvPr/>
        </p:nvSpPr>
        <p:spPr>
          <a:xfrm flipV="1">
            <a:off x="6099048" y="1920240"/>
            <a:ext cx="0" cy="1783080"/>
          </a:xfrm>
          <a:prstGeom prst="line">
            <a:avLst/>
          </a:prstGeom>
          <a:noFill/>
          <a:ln w="31750">
            <a:solidFill>
              <a:srgbClr val="A78BFA"/>
            </a:solidFill>
            <a:prstDash val="dash"/>
          </a:ln>
        </p:spPr>
      </p:sp>
      <p:sp>
        <p:nvSpPr>
          <p:cNvPr id="5" name="Shape 3"/>
          <p:cNvSpPr/>
          <p:nvPr/>
        </p:nvSpPr>
        <p:spPr>
          <a:xfrm flipV="1">
            <a:off x="6099048" y="2811780"/>
            <a:ext cx="3088385" cy="891540"/>
          </a:xfrm>
          <a:prstGeom prst="line">
            <a:avLst/>
          </a:prstGeom>
          <a:noFill/>
          <a:ln w="31750">
            <a:solidFill>
              <a:srgbClr val="22D3EE"/>
            </a:solidFill>
            <a:prstDash val="dash"/>
          </a:ln>
        </p:spPr>
      </p:sp>
      <p:sp>
        <p:nvSpPr>
          <p:cNvPr id="6" name="Shape 4"/>
          <p:cNvSpPr/>
          <p:nvPr/>
        </p:nvSpPr>
        <p:spPr>
          <a:xfrm>
            <a:off x="6099048" y="3703320"/>
            <a:ext cx="3088385" cy="891540"/>
          </a:xfrm>
          <a:prstGeom prst="line">
            <a:avLst/>
          </a:prstGeom>
          <a:noFill/>
          <a:ln w="31750">
            <a:solidFill>
              <a:srgbClr val="34D399"/>
            </a:solidFill>
            <a:prstDash val="dash"/>
          </a:ln>
        </p:spPr>
      </p:sp>
      <p:sp>
        <p:nvSpPr>
          <p:cNvPr id="7" name="Shape 5"/>
          <p:cNvSpPr/>
          <p:nvPr/>
        </p:nvSpPr>
        <p:spPr>
          <a:xfrm>
            <a:off x="6099048" y="3703320"/>
            <a:ext cx="0" cy="1783080"/>
          </a:xfrm>
          <a:prstGeom prst="line">
            <a:avLst/>
          </a:prstGeom>
          <a:noFill/>
          <a:ln w="31750">
            <a:solidFill>
              <a:srgbClr val="FBBF24"/>
            </a:solidFill>
            <a:prstDash val="dash"/>
          </a:ln>
        </p:spPr>
      </p:sp>
      <p:sp>
        <p:nvSpPr>
          <p:cNvPr id="8" name="Shape 6"/>
          <p:cNvSpPr/>
          <p:nvPr/>
        </p:nvSpPr>
        <p:spPr>
          <a:xfrm flipH="1">
            <a:off x="3010663" y="3703320"/>
            <a:ext cx="3088385" cy="891540"/>
          </a:xfrm>
          <a:prstGeom prst="line">
            <a:avLst/>
          </a:prstGeom>
          <a:noFill/>
          <a:ln w="31750">
            <a:solidFill>
              <a:srgbClr val="3B82F6"/>
            </a:solidFill>
            <a:prstDash val="dash"/>
          </a:ln>
        </p:spPr>
      </p:sp>
      <p:sp>
        <p:nvSpPr>
          <p:cNvPr id="9" name="Shape 7"/>
          <p:cNvSpPr/>
          <p:nvPr/>
        </p:nvSpPr>
        <p:spPr>
          <a:xfrm flipH="1" flipV="1">
            <a:off x="3010663" y="2811780"/>
            <a:ext cx="3088385" cy="891540"/>
          </a:xfrm>
          <a:prstGeom prst="line">
            <a:avLst/>
          </a:prstGeom>
          <a:noFill/>
          <a:ln w="31750">
            <a:solidFill>
              <a:srgbClr val="F87171"/>
            </a:solidFill>
            <a:prstDash val="dash"/>
          </a:ln>
        </p:spPr>
      </p:sp>
      <p:sp>
        <p:nvSpPr>
          <p:cNvPr id="10" name="Shape 8"/>
          <p:cNvSpPr/>
          <p:nvPr/>
        </p:nvSpPr>
        <p:spPr>
          <a:xfrm>
            <a:off x="5093208" y="2697480"/>
            <a:ext cx="2011680" cy="2011680"/>
          </a:xfrm>
          <a:prstGeom prst="ellipse">
            <a:avLst/>
          </a:prstGeom>
          <a:solidFill>
            <a:srgbClr val="0A1F3C"/>
          </a:solidFill>
          <a:ln w="31750">
            <a:solidFill>
              <a:srgbClr val="22D3EE"/>
            </a:solidFill>
            <a:prstDash val="solid"/>
          </a:ln>
        </p:spPr>
      </p:sp>
      <p:pic>
        <p:nvPicPr>
          <p:cNvPr id="11" name="Image 0" descr="preencoded.png"/>
          <p:cNvPicPr>
            <a:picLocks noChangeAspect="1"/>
          </p:cNvPicPr>
          <p:nvPr/>
        </p:nvPicPr>
        <p:blipFill>
          <a:blip r:embed="rId3"/>
          <a:stretch>
            <a:fillRect/>
          </a:stretch>
        </p:blipFill>
        <p:spPr>
          <a:xfrm>
            <a:off x="5779008" y="3063240"/>
            <a:ext cx="640080" cy="640080"/>
          </a:xfrm>
          <a:prstGeom prst="rect">
            <a:avLst/>
          </a:prstGeom>
        </p:spPr>
      </p:pic>
      <p:sp>
        <p:nvSpPr>
          <p:cNvPr id="12" name="Text 9"/>
          <p:cNvSpPr txBox="1"/>
          <p:nvPr/>
        </p:nvSpPr>
        <p:spPr>
          <a:xfrm>
            <a:off x="5184648" y="3749040"/>
            <a:ext cx="1828800" cy="6400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AI-driven slicing</a:t>
            </a:r>
            <a:endParaRPr lang="en-US" sz="1600" dirty="0"/>
          </a:p>
        </p:txBody>
      </p:sp>
      <p:sp>
        <p:nvSpPr>
          <p:cNvPr id="13" name="Shape 10"/>
          <p:cNvSpPr/>
          <p:nvPr/>
        </p:nvSpPr>
        <p:spPr>
          <a:xfrm>
            <a:off x="5596128" y="1417320"/>
            <a:ext cx="1005840" cy="1005840"/>
          </a:xfrm>
          <a:prstGeom prst="ellipse">
            <a:avLst/>
          </a:prstGeom>
          <a:solidFill>
            <a:srgbClr val="0E2748"/>
          </a:solidFill>
          <a:ln w="25400">
            <a:solidFill>
              <a:srgbClr val="A78BFA"/>
            </a:solidFill>
            <a:prstDash val="solid"/>
          </a:ln>
        </p:spPr>
      </p:sp>
      <p:pic>
        <p:nvPicPr>
          <p:cNvPr id="14" name="Image 1" descr="preencoded.png"/>
          <p:cNvPicPr>
            <a:picLocks noChangeAspect="1"/>
          </p:cNvPicPr>
          <p:nvPr/>
        </p:nvPicPr>
        <p:blipFill>
          <a:blip r:embed="rId4"/>
          <a:stretch>
            <a:fillRect/>
          </a:stretch>
        </p:blipFill>
        <p:spPr>
          <a:xfrm>
            <a:off x="5852160" y="1673352"/>
            <a:ext cx="493776" cy="493776"/>
          </a:xfrm>
          <a:prstGeom prst="rect">
            <a:avLst/>
          </a:prstGeom>
        </p:spPr>
      </p:pic>
      <p:sp>
        <p:nvSpPr>
          <p:cNvPr id="15" name="Text 11"/>
          <p:cNvSpPr txBox="1"/>
          <p:nvPr/>
        </p:nvSpPr>
        <p:spPr>
          <a:xfrm>
            <a:off x="5001768" y="1051560"/>
            <a:ext cx="2194560"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Satellite &amp; aerial</a:t>
            </a:r>
            <a:endParaRPr lang="en-US" sz="1500" dirty="0"/>
          </a:p>
        </p:txBody>
      </p:sp>
      <p:sp>
        <p:nvSpPr>
          <p:cNvPr id="16" name="Shape 12"/>
          <p:cNvSpPr/>
          <p:nvPr/>
        </p:nvSpPr>
        <p:spPr>
          <a:xfrm>
            <a:off x="8684513" y="2308860"/>
            <a:ext cx="1005840" cy="1005840"/>
          </a:xfrm>
          <a:prstGeom prst="ellipse">
            <a:avLst/>
          </a:prstGeom>
          <a:solidFill>
            <a:srgbClr val="0E2748"/>
          </a:solidFill>
          <a:ln w="25400">
            <a:solidFill>
              <a:srgbClr val="22D3EE"/>
            </a:solidFill>
            <a:prstDash val="solid"/>
          </a:ln>
        </p:spPr>
      </p:sp>
      <p:pic>
        <p:nvPicPr>
          <p:cNvPr id="17" name="Image 2" descr="preencoded.png"/>
          <p:cNvPicPr>
            <a:picLocks noChangeAspect="1"/>
          </p:cNvPicPr>
          <p:nvPr/>
        </p:nvPicPr>
        <p:blipFill>
          <a:blip r:embed="rId5"/>
          <a:stretch>
            <a:fillRect/>
          </a:stretch>
        </p:blipFill>
        <p:spPr>
          <a:xfrm>
            <a:off x="8940545" y="2564892"/>
            <a:ext cx="493776" cy="493776"/>
          </a:xfrm>
          <a:prstGeom prst="rect">
            <a:avLst/>
          </a:prstGeom>
        </p:spPr>
      </p:pic>
      <p:sp>
        <p:nvSpPr>
          <p:cNvPr id="18" name="Text 13"/>
          <p:cNvSpPr txBox="1"/>
          <p:nvPr/>
        </p:nvSpPr>
        <p:spPr>
          <a:xfrm>
            <a:off x="8090153" y="3360420"/>
            <a:ext cx="2194560"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Extended reality</a:t>
            </a:r>
            <a:endParaRPr lang="en-US" sz="1500" dirty="0"/>
          </a:p>
        </p:txBody>
      </p:sp>
      <p:sp>
        <p:nvSpPr>
          <p:cNvPr id="19" name="Shape 14"/>
          <p:cNvSpPr/>
          <p:nvPr/>
        </p:nvSpPr>
        <p:spPr>
          <a:xfrm>
            <a:off x="8684513" y="4091940"/>
            <a:ext cx="1005840" cy="1005840"/>
          </a:xfrm>
          <a:prstGeom prst="ellipse">
            <a:avLst/>
          </a:prstGeom>
          <a:solidFill>
            <a:srgbClr val="0E2748"/>
          </a:solidFill>
          <a:ln w="25400">
            <a:solidFill>
              <a:srgbClr val="34D399"/>
            </a:solidFill>
            <a:prstDash val="solid"/>
          </a:ln>
        </p:spPr>
      </p:sp>
      <p:pic>
        <p:nvPicPr>
          <p:cNvPr id="20" name="Image 3" descr="preencoded.png"/>
          <p:cNvPicPr>
            <a:picLocks noChangeAspect="1"/>
          </p:cNvPicPr>
          <p:nvPr/>
        </p:nvPicPr>
        <p:blipFill>
          <a:blip r:embed="rId6"/>
          <a:stretch>
            <a:fillRect/>
          </a:stretch>
        </p:blipFill>
        <p:spPr>
          <a:xfrm>
            <a:off x="8940545" y="4347972"/>
            <a:ext cx="493776" cy="493776"/>
          </a:xfrm>
          <a:prstGeom prst="rect">
            <a:avLst/>
          </a:prstGeom>
        </p:spPr>
      </p:pic>
      <p:sp>
        <p:nvSpPr>
          <p:cNvPr id="21" name="Text 15"/>
          <p:cNvSpPr txBox="1"/>
          <p:nvPr/>
        </p:nvSpPr>
        <p:spPr>
          <a:xfrm>
            <a:off x="8090153" y="5143500"/>
            <a:ext cx="2194560"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Digital twins</a:t>
            </a:r>
            <a:endParaRPr lang="en-US" sz="1500" dirty="0"/>
          </a:p>
        </p:txBody>
      </p:sp>
      <p:sp>
        <p:nvSpPr>
          <p:cNvPr id="22" name="Shape 16"/>
          <p:cNvSpPr/>
          <p:nvPr/>
        </p:nvSpPr>
        <p:spPr>
          <a:xfrm>
            <a:off x="5596128" y="4983480"/>
            <a:ext cx="1005840" cy="1005840"/>
          </a:xfrm>
          <a:prstGeom prst="ellipse">
            <a:avLst/>
          </a:prstGeom>
          <a:solidFill>
            <a:srgbClr val="0E2748"/>
          </a:solidFill>
          <a:ln w="25400">
            <a:solidFill>
              <a:srgbClr val="FBBF24"/>
            </a:solidFill>
            <a:prstDash val="solid"/>
          </a:ln>
        </p:spPr>
      </p:sp>
      <p:pic>
        <p:nvPicPr>
          <p:cNvPr id="23" name="Image 4" descr="preencoded.png"/>
          <p:cNvPicPr>
            <a:picLocks noChangeAspect="1"/>
          </p:cNvPicPr>
          <p:nvPr/>
        </p:nvPicPr>
        <p:blipFill>
          <a:blip r:embed="rId7"/>
          <a:stretch>
            <a:fillRect/>
          </a:stretch>
        </p:blipFill>
        <p:spPr>
          <a:xfrm>
            <a:off x="5852160" y="5239512"/>
            <a:ext cx="493776" cy="493776"/>
          </a:xfrm>
          <a:prstGeom prst="rect">
            <a:avLst/>
          </a:prstGeom>
        </p:spPr>
      </p:pic>
      <p:sp>
        <p:nvSpPr>
          <p:cNvPr id="24" name="Text 17"/>
          <p:cNvSpPr txBox="1"/>
          <p:nvPr/>
        </p:nvSpPr>
        <p:spPr>
          <a:xfrm>
            <a:off x="5001768" y="6035040"/>
            <a:ext cx="2194560"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Connected robotics</a:t>
            </a:r>
            <a:endParaRPr lang="en-US" sz="1500" dirty="0"/>
          </a:p>
        </p:txBody>
      </p:sp>
      <p:sp>
        <p:nvSpPr>
          <p:cNvPr id="25" name="Shape 18"/>
          <p:cNvSpPr/>
          <p:nvPr/>
        </p:nvSpPr>
        <p:spPr>
          <a:xfrm>
            <a:off x="2507743" y="4091940"/>
            <a:ext cx="1005840" cy="1005840"/>
          </a:xfrm>
          <a:prstGeom prst="ellipse">
            <a:avLst/>
          </a:prstGeom>
          <a:solidFill>
            <a:srgbClr val="0E2748"/>
          </a:solidFill>
          <a:ln w="25400">
            <a:solidFill>
              <a:srgbClr val="3B82F6"/>
            </a:solidFill>
            <a:prstDash val="solid"/>
          </a:ln>
        </p:spPr>
      </p:sp>
      <p:pic>
        <p:nvPicPr>
          <p:cNvPr id="26" name="Image 5" descr="preencoded.png"/>
          <p:cNvPicPr>
            <a:picLocks noChangeAspect="1"/>
          </p:cNvPicPr>
          <p:nvPr/>
        </p:nvPicPr>
        <p:blipFill>
          <a:blip r:embed="rId8"/>
          <a:stretch>
            <a:fillRect/>
          </a:stretch>
        </p:blipFill>
        <p:spPr>
          <a:xfrm>
            <a:off x="2763775" y="4347972"/>
            <a:ext cx="493776" cy="493776"/>
          </a:xfrm>
          <a:prstGeom prst="rect">
            <a:avLst/>
          </a:prstGeom>
        </p:spPr>
      </p:pic>
      <p:sp>
        <p:nvSpPr>
          <p:cNvPr id="27" name="Text 19"/>
          <p:cNvSpPr txBox="1"/>
          <p:nvPr/>
        </p:nvSpPr>
        <p:spPr>
          <a:xfrm>
            <a:off x="1913383" y="5143500"/>
            <a:ext cx="2194560"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Intelligent transport</a:t>
            </a:r>
            <a:endParaRPr lang="en-US" sz="1500" dirty="0"/>
          </a:p>
        </p:txBody>
      </p:sp>
      <p:sp>
        <p:nvSpPr>
          <p:cNvPr id="28" name="Shape 20"/>
          <p:cNvSpPr/>
          <p:nvPr/>
        </p:nvSpPr>
        <p:spPr>
          <a:xfrm>
            <a:off x="2507743" y="2308860"/>
            <a:ext cx="1005840" cy="1005840"/>
          </a:xfrm>
          <a:prstGeom prst="ellipse">
            <a:avLst/>
          </a:prstGeom>
          <a:solidFill>
            <a:srgbClr val="0E2748"/>
          </a:solidFill>
          <a:ln w="25400">
            <a:solidFill>
              <a:srgbClr val="F87171"/>
            </a:solidFill>
            <a:prstDash val="solid"/>
          </a:ln>
        </p:spPr>
      </p:sp>
      <p:pic>
        <p:nvPicPr>
          <p:cNvPr id="29" name="Image 6" descr="preencoded.png"/>
          <p:cNvPicPr>
            <a:picLocks noChangeAspect="1"/>
          </p:cNvPicPr>
          <p:nvPr/>
        </p:nvPicPr>
        <p:blipFill>
          <a:blip r:embed="rId9"/>
          <a:stretch>
            <a:fillRect/>
          </a:stretch>
        </p:blipFill>
        <p:spPr>
          <a:xfrm>
            <a:off x="2763775" y="2564892"/>
            <a:ext cx="493776" cy="493776"/>
          </a:xfrm>
          <a:prstGeom prst="rect">
            <a:avLst/>
          </a:prstGeom>
        </p:spPr>
      </p:pic>
      <p:sp>
        <p:nvSpPr>
          <p:cNvPr id="30" name="Text 21"/>
          <p:cNvSpPr txBox="1"/>
          <p:nvPr/>
        </p:nvSpPr>
        <p:spPr>
          <a:xfrm>
            <a:off x="1913383" y="3360420"/>
            <a:ext cx="2194560"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Terrestrial network</a:t>
            </a:r>
            <a:endParaRPr lang="en-US" sz="1500" dirty="0"/>
          </a:p>
        </p:txBody>
      </p:sp>
      <p:sp>
        <p:nvSpPr>
          <p:cNvPr id="31" name="Text 22"/>
          <p:cNvSpPr txBox="1"/>
          <p:nvPr/>
        </p:nvSpPr>
        <p:spPr>
          <a:xfrm>
            <a:off x="457200" y="6053328"/>
            <a:ext cx="4206240" cy="365760"/>
          </a:xfrm>
          <a:prstGeom prst="rect">
            <a:avLst/>
          </a:prstGeom>
          <a:noFill/>
          <a:ln/>
        </p:spPr>
        <p:txBody>
          <a:bodyPr wrap="square" lIns="0" tIns="0" rIns="0" bIns="0" rtlCol="0" anchor="ctr"/>
          <a:lstStyle/>
          <a:p>
            <a:pPr marL="0" indent="0">
              <a:buNone/>
            </a:pPr>
            <a:r>
              <a:rPr lang="en-US" sz="1200" i="1" dirty="0">
                <a:solidFill>
                  <a:srgbClr val="8FB3D9"/>
                </a:solidFill>
                <a:latin typeface="Calibri" pitchFamily="34" charset="0"/>
                <a:ea typeface="Calibri" pitchFamily="34" charset="-122"/>
                <a:cs typeface="Calibri" pitchFamily="34" charset="-120"/>
              </a:rPr>
              <a:t>Anticipated capabilities; 6G standards are still evolving</a:t>
            </a:r>
            <a:endParaRPr lang="en-US" sz="1200" dirty="0"/>
          </a:p>
        </p:txBody>
      </p:sp>
      <p:sp>
        <p:nvSpPr>
          <p:cNvPr id="32" name="Slide Number Placeholder 0"/>
          <p:cNvSpPr>
            <a:spLocks noGrp="1"/>
          </p:cNvSpPr>
          <p:nvPr>
            <p:ph type="sldNum" sz="quarter" idx="4294967295"/>
          </p:nvPr>
        </p:nvSpPr>
        <p:spPr>
          <a:xfrm>
            <a:off x="11064240" y="6473952"/>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B3D9"/>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lide chip"/>
          <p:cNvSpPr txBox="1"/>
          <p:nvPr/>
        </p:nvSpPr>
        <p:spPr>
          <a:xfrm>
            <a:off x="457200" y="274320"/>
            <a:ext cx="640080" cy="640080"/>
          </a:xfrm>
          <a:prstGeom prst="roundRect">
            <a:avLst>
              <a:gd name="adj" fmla="val 14286"/>
            </a:avLst>
          </a:prstGeom>
          <a:solidFill>
            <a:srgbClr val="22D3EE"/>
          </a:solidFill>
          <a:ln/>
        </p:spPr>
        <p:txBody>
          <a:bodyPr wrap="square" lIns="0" tIns="0" rIns="0" bIns="0" rtlCol="0" anchor="ctr"/>
          <a:lstStyle/>
          <a:p>
            <a:pPr marL="0" indent="0" algn="ctr">
              <a:buNone/>
            </a:pPr>
            <a:r>
              <a:rPr lang="en-US" sz="2200" b="1" dirty="0">
                <a:solidFill>
                  <a:srgbClr val="071428"/>
                </a:solidFill>
              </a:rPr>
              <a:t>10</a:t>
            </a:r>
            <a:endParaRPr lang="en-US" sz="2200" dirty="0"/>
          </a:p>
        </p:txBody>
      </p:sp>
      <p:sp>
        <p:nvSpPr>
          <p:cNvPr id="3" name="Text 0"/>
          <p:cNvSpPr>
            <a:spLocks noGrp="1"/>
          </p:cNvSpPr>
          <p:nvPr>
            <p:ph type="title" idx="100" hasCustomPrompt="1"/>
          </p:nvPr>
        </p:nvSpPr>
        <p:spPr>
          <a:xfrm>
            <a:off x="1280160" y="256032"/>
            <a:ext cx="10424160" cy="685800"/>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5G vs 6G Network Slicing</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4407408"/>
        </p:xfrm>
        <a:graphic>
          <a:graphicData uri="http://schemas.openxmlformats.org/drawingml/2006/table">
            <a:tbl>
              <a:tblPr/>
              <a:tblGrid>
                <a:gridCol w="274320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566928">
                <a:tc>
                  <a:txBody>
                    <a:bodyPr/>
                    <a:lstStyle/>
                    <a:p>
                      <a:pPr marL="0" indent="0" algn="ctr">
                        <a:buNone/>
                      </a:pPr>
                      <a:r>
                        <a:rPr lang="en-US" sz="2000" b="1" dirty="0">
                          <a:solidFill>
                            <a:srgbClr val="071428"/>
                          </a:solidFill>
                          <a:latin typeface="Calibri" pitchFamily="34" charset="0"/>
                          <a:ea typeface="Calibri" pitchFamily="34" charset="-122"/>
                          <a:cs typeface="Calibri" pitchFamily="34" charset="-120"/>
                        </a:rPr>
                        <a:t>Feature</a:t>
                      </a:r>
                      <a:endParaRPr lang="en-US" sz="2000" dirty="0">
                        <a:latin typeface="Calibri" charset="0"/>
                        <a:ea typeface="Calibri" charset="0"/>
                        <a:cs typeface="Calibri" charset="0"/>
                      </a:endParaRPr>
                    </a:p>
                  </a:txBody>
                  <a:tcPr anchor="ctr">
                    <a:lnL w="12700" cap="flat" cmpd="sng" algn="ctr">
                      <a:solidFill>
                        <a:srgbClr val="2A4A78"/>
                      </a:solidFill>
                      <a:prstDash val="solid"/>
                      <a:round/>
                      <a:headEnd type="none" w="med" len="med"/>
                      <a:tailEnd type="none" w="med" len="med"/>
                    </a:lnL>
                    <a:lnR w="12700" cap="flat" cmpd="sng" algn="ctr">
                      <a:solidFill>
                        <a:srgbClr val="2A4A78"/>
                      </a:solidFill>
                      <a:prstDash val="solid"/>
                      <a:round/>
                      <a:headEnd type="none" w="med" len="med"/>
                      <a:tailEnd type="none" w="med" len="med"/>
                    </a:lnR>
                    <a:lnT w="12700" cap="flat" cmpd="sng" algn="ctr">
                      <a:solidFill>
                        <a:srgbClr val="2A4A78"/>
                      </a:solidFill>
                      <a:prstDash val="solid"/>
                      <a:round/>
                      <a:headEnd type="none" w="med" len="med"/>
                      <a:tailEnd type="none" w="med" len="med"/>
                    </a:lnT>
                    <a:lnB w="12700" cap="flat" cmpd="sng" algn="ctr">
                      <a:solidFill>
                        <a:srgbClr val="2A4A78"/>
                      </a:solidFill>
                      <a:prstDash val="solid"/>
                      <a:round/>
                      <a:headEnd type="none" w="med" len="med"/>
                      <a:tailEnd type="none" w="med" len="med"/>
                    </a:lnB>
                    <a:solidFill>
                      <a:srgbClr val="BFD7EE"/>
                    </a:solidFill>
                  </a:tcPr>
                </a:tc>
                <a:tc>
                  <a:txBody>
                    <a:bodyPr/>
                    <a:lstStyle/>
                    <a:p>
                      <a:pPr marL="0" indent="0" algn="ctr">
                        <a:buNone/>
                      </a:pPr>
                      <a:r>
                        <a:rPr lang="en-US" sz="2000" b="1" dirty="0">
                          <a:solidFill>
                            <a:srgbClr val="071428"/>
                          </a:solidFill>
                          <a:latin typeface="Calibri" pitchFamily="34" charset="0"/>
                          <a:ea typeface="Calibri" pitchFamily="34" charset="-122"/>
                          <a:cs typeface="Calibri" pitchFamily="34" charset="-120"/>
                        </a:rPr>
                        <a:t>5G slicing</a:t>
                      </a:r>
                      <a:endParaRPr lang="en-US" sz="2000" dirty="0">
                        <a:latin typeface="Calibri" charset="0"/>
                        <a:ea typeface="Calibri" charset="0"/>
                        <a:cs typeface="Calibri" charset="0"/>
                      </a:endParaRPr>
                    </a:p>
                  </a:txBody>
                  <a:tcPr anchor="ctr">
                    <a:lnL w="12700" cap="flat" cmpd="sng" algn="ctr">
                      <a:solidFill>
                        <a:srgbClr val="2A4A78"/>
                      </a:solidFill>
                      <a:prstDash val="solid"/>
                      <a:round/>
                      <a:headEnd type="none" w="med" len="med"/>
                      <a:tailEnd type="none" w="med" len="med"/>
                    </a:lnL>
                    <a:lnR w="12700" cap="flat" cmpd="sng" algn="ctr">
                      <a:solidFill>
                        <a:srgbClr val="2A4A78"/>
                      </a:solidFill>
                      <a:prstDash val="solid"/>
                      <a:round/>
                      <a:headEnd type="none" w="med" len="med"/>
                      <a:tailEnd type="none" w="med" len="med"/>
                    </a:lnR>
                    <a:lnT w="12700" cap="flat" cmpd="sng" algn="ctr">
                      <a:solidFill>
                        <a:srgbClr val="2A4A78"/>
                      </a:solidFill>
                      <a:prstDash val="solid"/>
                      <a:round/>
                      <a:headEnd type="none" w="med" len="med"/>
                      <a:tailEnd type="none" w="med" len="med"/>
                    </a:lnT>
                    <a:lnB w="12700" cap="flat" cmpd="sng" algn="ctr">
                      <a:solidFill>
                        <a:srgbClr val="2A4A78"/>
                      </a:solidFill>
                      <a:prstDash val="solid"/>
                      <a:round/>
                      <a:headEnd type="none" w="med" len="med"/>
                      <a:tailEnd type="none" w="med" len="med"/>
                    </a:lnB>
                    <a:solidFill>
                      <a:srgbClr val="22D3EE"/>
                    </a:solidFill>
                  </a:tcPr>
                </a:tc>
                <a:tc>
                  <a:txBody>
                    <a:bodyPr/>
                    <a:lstStyle/>
                    <a:p>
                      <a:pPr marL="0" indent="0" algn="ctr">
                        <a:buNone/>
                      </a:pPr>
                      <a:r>
                        <a:rPr lang="en-US" sz="2000" b="1" dirty="0">
                          <a:solidFill>
                            <a:srgbClr val="071428"/>
                          </a:solidFill>
                          <a:latin typeface="Calibri" pitchFamily="34" charset="0"/>
                          <a:ea typeface="Calibri" pitchFamily="34" charset="-122"/>
                          <a:cs typeface="Calibri" pitchFamily="34" charset="-120"/>
                        </a:rPr>
                        <a:t>Expected 6G slicing</a:t>
                      </a:r>
                      <a:endParaRPr lang="en-US" sz="2000" dirty="0">
                        <a:latin typeface="Calibri" charset="0"/>
                        <a:ea typeface="Calibri" charset="0"/>
                        <a:cs typeface="Calibri" charset="0"/>
                      </a:endParaRPr>
                    </a:p>
                  </a:txBody>
                  <a:tcPr anchor="ctr">
                    <a:lnL w="12700" cap="flat" cmpd="sng" algn="ctr">
                      <a:solidFill>
                        <a:srgbClr val="2A4A78"/>
                      </a:solidFill>
                      <a:prstDash val="solid"/>
                      <a:round/>
                      <a:headEnd type="none" w="med" len="med"/>
                      <a:tailEnd type="none" w="med" len="med"/>
                    </a:lnL>
                    <a:lnR w="12700" cap="flat" cmpd="sng" algn="ctr">
                      <a:solidFill>
                        <a:srgbClr val="2A4A78"/>
                      </a:solidFill>
                      <a:prstDash val="solid"/>
                      <a:round/>
                      <a:headEnd type="none" w="med" len="med"/>
                      <a:tailEnd type="none" w="med" len="med"/>
                    </a:lnR>
                    <a:lnT w="12700" cap="flat" cmpd="sng" algn="ctr">
                      <a:solidFill>
                        <a:srgbClr val="2A4A78"/>
                      </a:solidFill>
                      <a:prstDash val="solid"/>
                      <a:round/>
                      <a:headEnd type="none" w="med" len="med"/>
                      <a:tailEnd type="none" w="med" len="med"/>
                    </a:lnT>
                    <a:lnB w="12700" cap="flat" cmpd="sng" algn="ctr">
                      <a:solidFill>
                        <a:srgbClr val="2A4A78"/>
                      </a:solidFill>
                      <a:prstDash val="solid"/>
                      <a:round/>
                      <a:headEnd type="none" w="med" len="med"/>
                      <a:tailEnd type="none" w="med" len="med"/>
                    </a:lnB>
                    <a:solidFill>
                      <a:srgbClr val="A78BFA"/>
                    </a:solidFill>
                  </a:tcPr>
                </a:tc>
                <a:extLst>
                  <a:ext uri="{0D108BD9-81ED-4DB2-BD59-A6C34878D82A}">
                    <a16:rowId xmlns:a16="http://schemas.microsoft.com/office/drawing/2014/main" val="10000"/>
                  </a:ext>
                </a:extLst>
              </a:tr>
              <a:tr h="640080">
                <a:tc>
                  <a:txBody>
                    <a:bodyPr/>
                    <a:lstStyle/>
                    <a:p>
                      <a:pPr marL="0" indent="0">
                        <a:buNone/>
                      </a:pPr>
                      <a:r>
                        <a:rPr lang="en-US" sz="1800" b="1" dirty="0">
                          <a:solidFill>
                            <a:srgbClr val="BFD7EE"/>
                          </a:solidFill>
                          <a:latin typeface="Calibri" pitchFamily="34" charset="0"/>
                          <a:ea typeface="Calibri" pitchFamily="34" charset="-122"/>
                          <a:cs typeface="Calibri" pitchFamily="34" charset="-120"/>
                        </a:rPr>
                        <a:t>Management</a:t>
                      </a:r>
                      <a:endParaRPr lang="en-US" sz="1800" dirty="0">
                        <a:latin typeface="Calibri" charset="0"/>
                        <a:ea typeface="Calibri" charset="0"/>
                        <a:cs typeface="Calibri" charset="0"/>
                      </a:endParaRPr>
                    </a:p>
                  </a:txBody>
                  <a:tcPr anchor="ctr">
                    <a:lnL w="12700" cap="flat" cmpd="sng" algn="ctr">
                      <a:solidFill>
                        <a:srgbClr val="2A4A78"/>
                      </a:solidFill>
                      <a:prstDash val="solid"/>
                      <a:round/>
                      <a:headEnd type="none" w="med" len="med"/>
                      <a:tailEnd type="none" w="med" len="med"/>
                    </a:lnL>
                    <a:lnR w="12700" cap="flat" cmpd="sng" algn="ctr">
                      <a:solidFill>
                        <a:srgbClr val="2A4A78"/>
                      </a:solidFill>
                      <a:prstDash val="solid"/>
                      <a:round/>
                      <a:headEnd type="none" w="med" len="med"/>
                      <a:tailEnd type="none" w="med" len="med"/>
                    </a:lnR>
                    <a:lnT w="12700" cap="flat" cmpd="sng" algn="ctr">
                      <a:solidFill>
                        <a:srgbClr val="2A4A78"/>
                      </a:solidFill>
                      <a:prstDash val="solid"/>
                      <a:round/>
                      <a:headEnd type="none" w="med" len="med"/>
                      <a:tailEnd type="none" w="med" len="med"/>
                    </a:lnT>
                    <a:lnB w="12700" cap="flat" cmpd="sng" algn="ctr">
                      <a:solidFill>
                        <a:srgbClr val="2A4A78"/>
                      </a:solidFill>
                      <a:prstDash val="solid"/>
                      <a:round/>
                      <a:headEnd type="none" w="med" len="med"/>
                      <a:tailEnd type="none" w="med" len="med"/>
                    </a:lnB>
                    <a:solidFill>
                      <a:srgbClr val="0A1F3C"/>
                    </a:solidFill>
                  </a:tcPr>
                </a:tc>
                <a:tc>
                  <a:txBody>
                    <a:bodyPr/>
                    <a:lstStyle/>
                    <a:p>
                      <a:pPr marL="0" indent="0" algn="ctr">
                        <a:buNone/>
                      </a:pPr>
                      <a:r>
                        <a:rPr lang="en-US" sz="1800" dirty="0">
                          <a:solidFill>
                            <a:srgbClr val="22D3EE"/>
                          </a:solidFill>
                          <a:latin typeface="Calibri" pitchFamily="34" charset="0"/>
                          <a:ea typeface="Calibri" pitchFamily="34" charset="-122"/>
                          <a:cs typeface="Calibri" pitchFamily="34" charset="-120"/>
                        </a:rPr>
                        <a:t>Policy-based automation</a:t>
                      </a:r>
                      <a:endParaRPr lang="en-US" sz="1800" dirty="0">
                        <a:latin typeface="Calibri" charset="0"/>
                        <a:ea typeface="Calibri" charset="0"/>
                        <a:cs typeface="Calibri" charset="0"/>
                      </a:endParaRPr>
                    </a:p>
                  </a:txBody>
                  <a:tcPr anchor="ctr">
                    <a:lnL w="12700" cap="flat" cmpd="sng" algn="ctr">
                      <a:solidFill>
                        <a:srgbClr val="2A4A78"/>
                      </a:solidFill>
                      <a:prstDash val="solid"/>
                      <a:round/>
                      <a:headEnd type="none" w="med" len="med"/>
                      <a:tailEnd type="none" w="med" len="med"/>
                    </a:lnL>
                    <a:lnR w="12700" cap="flat" cmpd="sng" algn="ctr">
                      <a:solidFill>
                        <a:srgbClr val="2A4A78"/>
                      </a:solidFill>
                      <a:prstDash val="solid"/>
                      <a:round/>
                      <a:headEnd type="none" w="med" len="med"/>
                      <a:tailEnd type="none" w="med" len="med"/>
                    </a:lnR>
                    <a:lnT w="12700" cap="flat" cmpd="sng" algn="ctr">
                      <a:solidFill>
                        <a:srgbClr val="2A4A78"/>
                      </a:solidFill>
                      <a:prstDash val="solid"/>
                      <a:round/>
                      <a:headEnd type="none" w="med" len="med"/>
                      <a:tailEnd type="none" w="med" len="med"/>
                    </a:lnT>
                    <a:lnB w="12700" cap="flat" cmpd="sng" algn="ctr">
                      <a:solidFill>
                        <a:srgbClr val="2A4A78"/>
                      </a:solidFill>
                      <a:prstDash val="solid"/>
                      <a:round/>
                      <a:headEnd type="none" w="med" len="med"/>
                      <a:tailEnd type="none" w="med" len="med"/>
                    </a:lnB>
                    <a:solidFill>
                      <a:srgbClr val="0A1F3C"/>
                    </a:solidFill>
                  </a:tcPr>
                </a:tc>
                <a:tc>
                  <a:txBody>
                    <a:bodyPr/>
                    <a:lstStyle/>
                    <a:p>
                      <a:pPr marL="0" indent="0" algn="ctr">
                        <a:buNone/>
                      </a:pPr>
                      <a:r>
                        <a:rPr lang="en-US" sz="1800" dirty="0">
                          <a:solidFill>
                            <a:srgbClr val="A78BFA"/>
                          </a:solidFill>
                          <a:latin typeface="Calibri" pitchFamily="34" charset="0"/>
                          <a:ea typeface="Calibri" pitchFamily="34" charset="-122"/>
                          <a:cs typeface="Calibri" pitchFamily="34" charset="-120"/>
                        </a:rPr>
                        <a:t>AI-driven automation</a:t>
                      </a:r>
                      <a:endParaRPr lang="en-US" sz="1800" dirty="0">
                        <a:latin typeface="Calibri" charset="0"/>
                        <a:ea typeface="Calibri" charset="0"/>
                        <a:cs typeface="Calibri" charset="0"/>
                      </a:endParaRPr>
                    </a:p>
                  </a:txBody>
                  <a:tcPr anchor="ctr">
                    <a:lnL w="12700" cap="flat" cmpd="sng" algn="ctr">
                      <a:solidFill>
                        <a:srgbClr val="2A4A78"/>
                      </a:solidFill>
                      <a:prstDash val="solid"/>
                      <a:round/>
                      <a:headEnd type="none" w="med" len="med"/>
                      <a:tailEnd type="none" w="med" len="med"/>
                    </a:lnL>
                    <a:lnR w="12700" cap="flat" cmpd="sng" algn="ctr">
                      <a:solidFill>
                        <a:srgbClr val="2A4A78"/>
                      </a:solidFill>
                      <a:prstDash val="solid"/>
                      <a:round/>
                      <a:headEnd type="none" w="med" len="med"/>
                      <a:tailEnd type="none" w="med" len="med"/>
                    </a:lnR>
                    <a:lnT w="12700" cap="flat" cmpd="sng" algn="ctr">
                      <a:solidFill>
                        <a:srgbClr val="2A4A78"/>
                      </a:solidFill>
                      <a:prstDash val="solid"/>
                      <a:round/>
                      <a:headEnd type="none" w="med" len="med"/>
                      <a:tailEnd type="none" w="med" len="med"/>
                    </a:lnT>
                    <a:lnB w="12700" cap="flat" cmpd="sng" algn="ctr">
                      <a:solidFill>
                        <a:srgbClr val="2A4A78"/>
                      </a:solidFill>
                      <a:prstDash val="solid"/>
                      <a:round/>
                      <a:headEnd type="none" w="med" len="med"/>
                      <a:tailEnd type="none" w="med" len="med"/>
                    </a:lnB>
                    <a:solidFill>
                      <a:srgbClr val="0A1F3C"/>
                    </a:solidFill>
                  </a:tcPr>
                </a:tc>
                <a:extLst>
                  <a:ext uri="{0D108BD9-81ED-4DB2-BD59-A6C34878D82A}">
                    <a16:rowId xmlns:a16="http://schemas.microsoft.com/office/drawing/2014/main" val="10001"/>
                  </a:ext>
                </a:extLst>
              </a:tr>
              <a:tr h="640080">
                <a:tc>
                  <a:txBody>
                    <a:bodyPr/>
                    <a:lstStyle/>
                    <a:p>
                      <a:pPr marL="0" indent="0">
                        <a:buNone/>
                      </a:pPr>
                      <a:r>
                        <a:rPr lang="en-US" sz="1800" b="1" dirty="0">
                          <a:solidFill>
                            <a:srgbClr val="BFD7EE"/>
                          </a:solidFill>
                          <a:latin typeface="Calibri" pitchFamily="34" charset="0"/>
                          <a:ea typeface="Calibri" pitchFamily="34" charset="-122"/>
                          <a:cs typeface="Calibri" pitchFamily="34" charset="-120"/>
                        </a:rPr>
                        <a:t>Resources</a:t>
                      </a:r>
                      <a:endParaRPr lang="en-US" sz="1800" dirty="0">
                        <a:latin typeface="Calibri" charset="0"/>
                        <a:ea typeface="Calibri" charset="0"/>
                        <a:cs typeface="Calibri" charset="0"/>
                      </a:endParaRPr>
                    </a:p>
                  </a:txBody>
                  <a:tcPr anchor="ctr">
                    <a:lnL w="12700" cap="flat" cmpd="sng" algn="ctr">
                      <a:solidFill>
                        <a:srgbClr val="2A4A78"/>
                      </a:solidFill>
                      <a:prstDash val="solid"/>
                      <a:round/>
                      <a:headEnd type="none" w="med" len="med"/>
                      <a:tailEnd type="none" w="med" len="med"/>
                    </a:lnL>
                    <a:lnR w="12700" cap="flat" cmpd="sng" algn="ctr">
                      <a:solidFill>
                        <a:srgbClr val="2A4A78"/>
                      </a:solidFill>
                      <a:prstDash val="solid"/>
                      <a:round/>
                      <a:headEnd type="none" w="med" len="med"/>
                      <a:tailEnd type="none" w="med" len="med"/>
                    </a:lnR>
                    <a:lnT w="12700" cap="flat" cmpd="sng" algn="ctr">
                      <a:solidFill>
                        <a:srgbClr val="2A4A78"/>
                      </a:solidFill>
                      <a:prstDash val="solid"/>
                      <a:round/>
                      <a:headEnd type="none" w="med" len="med"/>
                      <a:tailEnd type="none" w="med" len="med"/>
                    </a:lnT>
                    <a:lnB w="12700" cap="flat" cmpd="sng" algn="ctr">
                      <a:solidFill>
                        <a:srgbClr val="2A4A78"/>
                      </a:solidFill>
                      <a:prstDash val="solid"/>
                      <a:round/>
                      <a:headEnd type="none" w="med" len="med"/>
                      <a:tailEnd type="none" w="med" len="med"/>
                    </a:lnB>
                    <a:solidFill>
                      <a:srgbClr val="0E2748"/>
                    </a:solidFill>
                  </a:tcPr>
                </a:tc>
                <a:tc>
                  <a:txBody>
                    <a:bodyPr/>
                    <a:lstStyle/>
                    <a:p>
                      <a:pPr marL="0" indent="0" algn="ctr">
                        <a:buNone/>
                      </a:pPr>
                      <a:r>
                        <a:rPr lang="en-US" sz="1800" dirty="0">
                          <a:solidFill>
                            <a:srgbClr val="22D3EE"/>
                          </a:solidFill>
                          <a:latin typeface="Calibri" pitchFamily="34" charset="0"/>
                          <a:ea typeface="Calibri" pitchFamily="34" charset="-122"/>
                          <a:cs typeface="Calibri" pitchFamily="34" charset="-120"/>
                        </a:rPr>
                        <a:t>Flexible, service-oriented</a:t>
                      </a:r>
                      <a:endParaRPr lang="en-US" sz="1800" dirty="0">
                        <a:latin typeface="Calibri" charset="0"/>
                        <a:ea typeface="Calibri" charset="0"/>
                        <a:cs typeface="Calibri" charset="0"/>
                      </a:endParaRPr>
                    </a:p>
                  </a:txBody>
                  <a:tcPr anchor="ctr">
                    <a:lnL w="12700" cap="flat" cmpd="sng" algn="ctr">
                      <a:solidFill>
                        <a:srgbClr val="2A4A78"/>
                      </a:solidFill>
                      <a:prstDash val="solid"/>
                      <a:round/>
                      <a:headEnd type="none" w="med" len="med"/>
                      <a:tailEnd type="none" w="med" len="med"/>
                    </a:lnL>
                    <a:lnR w="12700" cap="flat" cmpd="sng" algn="ctr">
                      <a:solidFill>
                        <a:srgbClr val="2A4A78"/>
                      </a:solidFill>
                      <a:prstDash val="solid"/>
                      <a:round/>
                      <a:headEnd type="none" w="med" len="med"/>
                      <a:tailEnd type="none" w="med" len="med"/>
                    </a:lnR>
                    <a:lnT w="12700" cap="flat" cmpd="sng" algn="ctr">
                      <a:solidFill>
                        <a:srgbClr val="2A4A78"/>
                      </a:solidFill>
                      <a:prstDash val="solid"/>
                      <a:round/>
                      <a:headEnd type="none" w="med" len="med"/>
                      <a:tailEnd type="none" w="med" len="med"/>
                    </a:lnT>
                    <a:lnB w="12700" cap="flat" cmpd="sng" algn="ctr">
                      <a:solidFill>
                        <a:srgbClr val="2A4A78"/>
                      </a:solidFill>
                      <a:prstDash val="solid"/>
                      <a:round/>
                      <a:headEnd type="none" w="med" len="med"/>
                      <a:tailEnd type="none" w="med" len="med"/>
                    </a:lnB>
                    <a:solidFill>
                      <a:srgbClr val="0E2748"/>
                    </a:solidFill>
                  </a:tcPr>
                </a:tc>
                <a:tc>
                  <a:txBody>
                    <a:bodyPr/>
                    <a:lstStyle/>
                    <a:p>
                      <a:pPr marL="0" indent="0" algn="ctr">
                        <a:buNone/>
                      </a:pPr>
                      <a:r>
                        <a:rPr lang="en-US" sz="1800" dirty="0">
                          <a:solidFill>
                            <a:srgbClr val="A78BFA"/>
                          </a:solidFill>
                          <a:latin typeface="Calibri" pitchFamily="34" charset="0"/>
                          <a:ea typeface="Calibri" pitchFamily="34" charset="-122"/>
                          <a:cs typeface="Calibri" pitchFamily="34" charset="-120"/>
                        </a:rPr>
                        <a:t>Adaptive, predictive</a:t>
                      </a:r>
                      <a:endParaRPr lang="en-US" sz="1800" dirty="0">
                        <a:latin typeface="Calibri" charset="0"/>
                        <a:ea typeface="Calibri" charset="0"/>
                        <a:cs typeface="Calibri" charset="0"/>
                      </a:endParaRPr>
                    </a:p>
                  </a:txBody>
                  <a:tcPr anchor="ctr">
                    <a:lnL w="12700" cap="flat" cmpd="sng" algn="ctr">
                      <a:solidFill>
                        <a:srgbClr val="2A4A78"/>
                      </a:solidFill>
                      <a:prstDash val="solid"/>
                      <a:round/>
                      <a:headEnd type="none" w="med" len="med"/>
                      <a:tailEnd type="none" w="med" len="med"/>
                    </a:lnL>
                    <a:lnR w="12700" cap="flat" cmpd="sng" algn="ctr">
                      <a:solidFill>
                        <a:srgbClr val="2A4A78"/>
                      </a:solidFill>
                      <a:prstDash val="solid"/>
                      <a:round/>
                      <a:headEnd type="none" w="med" len="med"/>
                      <a:tailEnd type="none" w="med" len="med"/>
                    </a:lnR>
                    <a:lnT w="12700" cap="flat" cmpd="sng" algn="ctr">
                      <a:solidFill>
                        <a:srgbClr val="2A4A78"/>
                      </a:solidFill>
                      <a:prstDash val="solid"/>
                      <a:round/>
                      <a:headEnd type="none" w="med" len="med"/>
                      <a:tailEnd type="none" w="med" len="med"/>
                    </a:lnT>
                    <a:lnB w="12700" cap="flat" cmpd="sng" algn="ctr">
                      <a:solidFill>
                        <a:srgbClr val="2A4A78"/>
                      </a:solidFill>
                      <a:prstDash val="solid"/>
                      <a:round/>
                      <a:headEnd type="none" w="med" len="med"/>
                      <a:tailEnd type="none" w="med" len="med"/>
                    </a:lnB>
                    <a:solidFill>
                      <a:srgbClr val="0E2748"/>
                    </a:solidFill>
                  </a:tcPr>
                </a:tc>
                <a:extLst>
                  <a:ext uri="{0D108BD9-81ED-4DB2-BD59-A6C34878D82A}">
                    <a16:rowId xmlns:a16="http://schemas.microsoft.com/office/drawing/2014/main" val="10002"/>
                  </a:ext>
                </a:extLst>
              </a:tr>
              <a:tr h="640080">
                <a:tc>
                  <a:txBody>
                    <a:bodyPr/>
                    <a:lstStyle/>
                    <a:p>
                      <a:pPr marL="0" indent="0">
                        <a:buNone/>
                      </a:pPr>
                      <a:r>
                        <a:rPr lang="en-US" sz="1800" b="1" dirty="0">
                          <a:solidFill>
                            <a:srgbClr val="BFD7EE"/>
                          </a:solidFill>
                          <a:latin typeface="Calibri" pitchFamily="34" charset="0"/>
                          <a:ea typeface="Calibri" pitchFamily="34" charset="-122"/>
                          <a:cs typeface="Calibri" pitchFamily="34" charset="-120"/>
                        </a:rPr>
                        <a:t>Coverage</a:t>
                      </a:r>
                      <a:endParaRPr lang="en-US" sz="1800" dirty="0">
                        <a:latin typeface="Calibri" charset="0"/>
                        <a:ea typeface="Calibri" charset="0"/>
                        <a:cs typeface="Calibri" charset="0"/>
                      </a:endParaRPr>
                    </a:p>
                  </a:txBody>
                  <a:tcPr anchor="ctr">
                    <a:lnL w="12700" cap="flat" cmpd="sng" algn="ctr">
                      <a:solidFill>
                        <a:srgbClr val="2A4A78"/>
                      </a:solidFill>
                      <a:prstDash val="solid"/>
                      <a:round/>
                      <a:headEnd type="none" w="med" len="med"/>
                      <a:tailEnd type="none" w="med" len="med"/>
                    </a:lnL>
                    <a:lnR w="12700" cap="flat" cmpd="sng" algn="ctr">
                      <a:solidFill>
                        <a:srgbClr val="2A4A78"/>
                      </a:solidFill>
                      <a:prstDash val="solid"/>
                      <a:round/>
                      <a:headEnd type="none" w="med" len="med"/>
                      <a:tailEnd type="none" w="med" len="med"/>
                    </a:lnR>
                    <a:lnT w="12700" cap="flat" cmpd="sng" algn="ctr">
                      <a:solidFill>
                        <a:srgbClr val="2A4A78"/>
                      </a:solidFill>
                      <a:prstDash val="solid"/>
                      <a:round/>
                      <a:headEnd type="none" w="med" len="med"/>
                      <a:tailEnd type="none" w="med" len="med"/>
                    </a:lnT>
                    <a:lnB w="12700" cap="flat" cmpd="sng" algn="ctr">
                      <a:solidFill>
                        <a:srgbClr val="2A4A78"/>
                      </a:solidFill>
                      <a:prstDash val="solid"/>
                      <a:round/>
                      <a:headEnd type="none" w="med" len="med"/>
                      <a:tailEnd type="none" w="med" len="med"/>
                    </a:lnB>
                    <a:solidFill>
                      <a:srgbClr val="0A1F3C"/>
                    </a:solidFill>
                  </a:tcPr>
                </a:tc>
                <a:tc>
                  <a:txBody>
                    <a:bodyPr/>
                    <a:lstStyle/>
                    <a:p>
                      <a:pPr marL="0" indent="0" algn="ctr">
                        <a:buNone/>
                      </a:pPr>
                      <a:r>
                        <a:rPr lang="en-US" sz="1800" dirty="0">
                          <a:solidFill>
                            <a:srgbClr val="22D3EE"/>
                          </a:solidFill>
                          <a:latin typeface="Calibri" pitchFamily="34" charset="0"/>
                          <a:ea typeface="Calibri" pitchFamily="34" charset="-122"/>
                          <a:cs typeface="Calibri" pitchFamily="34" charset="-120"/>
                        </a:rPr>
                        <a:t>Terrestrial networks</a:t>
                      </a:r>
                      <a:endParaRPr lang="en-US" sz="1800" dirty="0">
                        <a:latin typeface="Calibri" charset="0"/>
                        <a:ea typeface="Calibri" charset="0"/>
                        <a:cs typeface="Calibri" charset="0"/>
                      </a:endParaRPr>
                    </a:p>
                  </a:txBody>
                  <a:tcPr anchor="ctr">
                    <a:lnL w="12700" cap="flat" cmpd="sng" algn="ctr">
                      <a:solidFill>
                        <a:srgbClr val="2A4A78"/>
                      </a:solidFill>
                      <a:prstDash val="solid"/>
                      <a:round/>
                      <a:headEnd type="none" w="med" len="med"/>
                      <a:tailEnd type="none" w="med" len="med"/>
                    </a:lnL>
                    <a:lnR w="12700" cap="flat" cmpd="sng" algn="ctr">
                      <a:solidFill>
                        <a:srgbClr val="2A4A78"/>
                      </a:solidFill>
                      <a:prstDash val="solid"/>
                      <a:round/>
                      <a:headEnd type="none" w="med" len="med"/>
                      <a:tailEnd type="none" w="med" len="med"/>
                    </a:lnR>
                    <a:lnT w="12700" cap="flat" cmpd="sng" algn="ctr">
                      <a:solidFill>
                        <a:srgbClr val="2A4A78"/>
                      </a:solidFill>
                      <a:prstDash val="solid"/>
                      <a:round/>
                      <a:headEnd type="none" w="med" len="med"/>
                      <a:tailEnd type="none" w="med" len="med"/>
                    </a:lnT>
                    <a:lnB w="12700" cap="flat" cmpd="sng" algn="ctr">
                      <a:solidFill>
                        <a:srgbClr val="2A4A78"/>
                      </a:solidFill>
                      <a:prstDash val="solid"/>
                      <a:round/>
                      <a:headEnd type="none" w="med" len="med"/>
                      <a:tailEnd type="none" w="med" len="med"/>
                    </a:lnB>
                    <a:solidFill>
                      <a:srgbClr val="0A1F3C"/>
                    </a:solidFill>
                  </a:tcPr>
                </a:tc>
                <a:tc>
                  <a:txBody>
                    <a:bodyPr/>
                    <a:lstStyle/>
                    <a:p>
                      <a:pPr marL="0" indent="0" algn="ctr">
                        <a:buNone/>
                      </a:pPr>
                      <a:r>
                        <a:rPr lang="en-US" sz="1800" dirty="0">
                          <a:solidFill>
                            <a:srgbClr val="A78BFA"/>
                          </a:solidFill>
                          <a:latin typeface="Calibri" pitchFamily="34" charset="0"/>
                          <a:ea typeface="Calibri" pitchFamily="34" charset="-122"/>
                          <a:cs typeface="Calibri" pitchFamily="34" charset="-120"/>
                        </a:rPr>
                        <a:t>Terrestrial + non-terrestrial</a:t>
                      </a:r>
                      <a:endParaRPr lang="en-US" sz="1800" dirty="0">
                        <a:latin typeface="Calibri" charset="0"/>
                        <a:ea typeface="Calibri" charset="0"/>
                        <a:cs typeface="Calibri" charset="0"/>
                      </a:endParaRPr>
                    </a:p>
                  </a:txBody>
                  <a:tcPr anchor="ctr">
                    <a:lnL w="12700" cap="flat" cmpd="sng" algn="ctr">
                      <a:solidFill>
                        <a:srgbClr val="2A4A78"/>
                      </a:solidFill>
                      <a:prstDash val="solid"/>
                      <a:round/>
                      <a:headEnd type="none" w="med" len="med"/>
                      <a:tailEnd type="none" w="med" len="med"/>
                    </a:lnL>
                    <a:lnR w="12700" cap="flat" cmpd="sng" algn="ctr">
                      <a:solidFill>
                        <a:srgbClr val="2A4A78"/>
                      </a:solidFill>
                      <a:prstDash val="solid"/>
                      <a:round/>
                      <a:headEnd type="none" w="med" len="med"/>
                      <a:tailEnd type="none" w="med" len="med"/>
                    </a:lnR>
                    <a:lnT w="12700" cap="flat" cmpd="sng" algn="ctr">
                      <a:solidFill>
                        <a:srgbClr val="2A4A78"/>
                      </a:solidFill>
                      <a:prstDash val="solid"/>
                      <a:round/>
                      <a:headEnd type="none" w="med" len="med"/>
                      <a:tailEnd type="none" w="med" len="med"/>
                    </a:lnT>
                    <a:lnB w="12700" cap="flat" cmpd="sng" algn="ctr">
                      <a:solidFill>
                        <a:srgbClr val="2A4A78"/>
                      </a:solidFill>
                      <a:prstDash val="solid"/>
                      <a:round/>
                      <a:headEnd type="none" w="med" len="med"/>
                      <a:tailEnd type="none" w="med" len="med"/>
                    </a:lnB>
                    <a:solidFill>
                      <a:srgbClr val="0A1F3C"/>
                    </a:solidFill>
                  </a:tcPr>
                </a:tc>
                <a:extLst>
                  <a:ext uri="{0D108BD9-81ED-4DB2-BD59-A6C34878D82A}">
                    <a16:rowId xmlns:a16="http://schemas.microsoft.com/office/drawing/2014/main" val="10003"/>
                  </a:ext>
                </a:extLst>
              </a:tr>
              <a:tr h="640080">
                <a:tc>
                  <a:txBody>
                    <a:bodyPr/>
                    <a:lstStyle/>
                    <a:p>
                      <a:pPr marL="0" indent="0">
                        <a:buNone/>
                      </a:pPr>
                      <a:r>
                        <a:rPr lang="en-US" sz="1800" b="1" dirty="0">
                          <a:solidFill>
                            <a:srgbClr val="BFD7EE"/>
                          </a:solidFill>
                          <a:latin typeface="Calibri" pitchFamily="34" charset="0"/>
                          <a:ea typeface="Calibri" pitchFamily="34" charset="-122"/>
                          <a:cs typeface="Calibri" pitchFamily="34" charset="-120"/>
                        </a:rPr>
                        <a:t>Applications</a:t>
                      </a:r>
                      <a:endParaRPr lang="en-US" sz="1800" dirty="0">
                        <a:latin typeface="Calibri" charset="0"/>
                        <a:ea typeface="Calibri" charset="0"/>
                        <a:cs typeface="Calibri" charset="0"/>
                      </a:endParaRPr>
                    </a:p>
                  </a:txBody>
                  <a:tcPr anchor="ctr">
                    <a:lnL w="12700" cap="flat" cmpd="sng" algn="ctr">
                      <a:solidFill>
                        <a:srgbClr val="2A4A78"/>
                      </a:solidFill>
                      <a:prstDash val="solid"/>
                      <a:round/>
                      <a:headEnd type="none" w="med" len="med"/>
                      <a:tailEnd type="none" w="med" len="med"/>
                    </a:lnL>
                    <a:lnR w="12700" cap="flat" cmpd="sng" algn="ctr">
                      <a:solidFill>
                        <a:srgbClr val="2A4A78"/>
                      </a:solidFill>
                      <a:prstDash val="solid"/>
                      <a:round/>
                      <a:headEnd type="none" w="med" len="med"/>
                      <a:tailEnd type="none" w="med" len="med"/>
                    </a:lnR>
                    <a:lnT w="12700" cap="flat" cmpd="sng" algn="ctr">
                      <a:solidFill>
                        <a:srgbClr val="2A4A78"/>
                      </a:solidFill>
                      <a:prstDash val="solid"/>
                      <a:round/>
                      <a:headEnd type="none" w="med" len="med"/>
                      <a:tailEnd type="none" w="med" len="med"/>
                    </a:lnT>
                    <a:lnB w="12700" cap="flat" cmpd="sng" algn="ctr">
                      <a:solidFill>
                        <a:srgbClr val="2A4A78"/>
                      </a:solidFill>
                      <a:prstDash val="solid"/>
                      <a:round/>
                      <a:headEnd type="none" w="med" len="med"/>
                      <a:tailEnd type="none" w="med" len="med"/>
                    </a:lnB>
                    <a:solidFill>
                      <a:srgbClr val="0E2748"/>
                    </a:solidFill>
                  </a:tcPr>
                </a:tc>
                <a:tc>
                  <a:txBody>
                    <a:bodyPr/>
                    <a:lstStyle/>
                    <a:p>
                      <a:pPr marL="0" indent="0" algn="ctr">
                        <a:buNone/>
                      </a:pPr>
                      <a:r>
                        <a:rPr lang="en-US" sz="1800" dirty="0">
                          <a:solidFill>
                            <a:srgbClr val="22D3EE"/>
                          </a:solidFill>
                          <a:latin typeface="Calibri" pitchFamily="34" charset="0"/>
                          <a:ea typeface="Calibri" pitchFamily="34" charset="-122"/>
                          <a:cs typeface="Calibri" pitchFamily="34" charset="-120"/>
                        </a:rPr>
                        <a:t>IoT, streaming, industry</a:t>
                      </a:r>
                      <a:endParaRPr lang="en-US" sz="1800" dirty="0">
                        <a:latin typeface="Calibri" charset="0"/>
                        <a:ea typeface="Calibri" charset="0"/>
                        <a:cs typeface="Calibri" charset="0"/>
                      </a:endParaRPr>
                    </a:p>
                  </a:txBody>
                  <a:tcPr anchor="ctr">
                    <a:lnL w="12700" cap="flat" cmpd="sng" algn="ctr">
                      <a:solidFill>
                        <a:srgbClr val="2A4A78"/>
                      </a:solidFill>
                      <a:prstDash val="solid"/>
                      <a:round/>
                      <a:headEnd type="none" w="med" len="med"/>
                      <a:tailEnd type="none" w="med" len="med"/>
                    </a:lnL>
                    <a:lnR w="12700" cap="flat" cmpd="sng" algn="ctr">
                      <a:solidFill>
                        <a:srgbClr val="2A4A78"/>
                      </a:solidFill>
                      <a:prstDash val="solid"/>
                      <a:round/>
                      <a:headEnd type="none" w="med" len="med"/>
                      <a:tailEnd type="none" w="med" len="med"/>
                    </a:lnR>
                    <a:lnT w="12700" cap="flat" cmpd="sng" algn="ctr">
                      <a:solidFill>
                        <a:srgbClr val="2A4A78"/>
                      </a:solidFill>
                      <a:prstDash val="solid"/>
                      <a:round/>
                      <a:headEnd type="none" w="med" len="med"/>
                      <a:tailEnd type="none" w="med" len="med"/>
                    </a:lnT>
                    <a:lnB w="12700" cap="flat" cmpd="sng" algn="ctr">
                      <a:solidFill>
                        <a:srgbClr val="2A4A78"/>
                      </a:solidFill>
                      <a:prstDash val="solid"/>
                      <a:round/>
                      <a:headEnd type="none" w="med" len="med"/>
                      <a:tailEnd type="none" w="med" len="med"/>
                    </a:lnB>
                    <a:solidFill>
                      <a:srgbClr val="0E2748"/>
                    </a:solidFill>
                  </a:tcPr>
                </a:tc>
                <a:tc>
                  <a:txBody>
                    <a:bodyPr/>
                    <a:lstStyle/>
                    <a:p>
                      <a:pPr marL="0" indent="0" algn="ctr">
                        <a:buNone/>
                      </a:pPr>
                      <a:r>
                        <a:rPr lang="en-US" sz="1800" dirty="0">
                          <a:solidFill>
                            <a:srgbClr val="A78BFA"/>
                          </a:solidFill>
                          <a:latin typeface="Calibri" pitchFamily="34" charset="0"/>
                          <a:ea typeface="Calibri" pitchFamily="34" charset="-122"/>
                          <a:cs typeface="Calibri" pitchFamily="34" charset="-120"/>
                        </a:rPr>
                        <a:t>XR, digital twins, robotics</a:t>
                      </a:r>
                      <a:endParaRPr lang="en-US" sz="1800" dirty="0">
                        <a:latin typeface="Calibri" charset="0"/>
                        <a:ea typeface="Calibri" charset="0"/>
                        <a:cs typeface="Calibri" charset="0"/>
                      </a:endParaRPr>
                    </a:p>
                  </a:txBody>
                  <a:tcPr anchor="ctr">
                    <a:lnL w="12700" cap="flat" cmpd="sng" algn="ctr">
                      <a:solidFill>
                        <a:srgbClr val="2A4A78"/>
                      </a:solidFill>
                      <a:prstDash val="solid"/>
                      <a:round/>
                      <a:headEnd type="none" w="med" len="med"/>
                      <a:tailEnd type="none" w="med" len="med"/>
                    </a:lnL>
                    <a:lnR w="12700" cap="flat" cmpd="sng" algn="ctr">
                      <a:solidFill>
                        <a:srgbClr val="2A4A78"/>
                      </a:solidFill>
                      <a:prstDash val="solid"/>
                      <a:round/>
                      <a:headEnd type="none" w="med" len="med"/>
                      <a:tailEnd type="none" w="med" len="med"/>
                    </a:lnR>
                    <a:lnT w="12700" cap="flat" cmpd="sng" algn="ctr">
                      <a:solidFill>
                        <a:srgbClr val="2A4A78"/>
                      </a:solidFill>
                      <a:prstDash val="solid"/>
                      <a:round/>
                      <a:headEnd type="none" w="med" len="med"/>
                      <a:tailEnd type="none" w="med" len="med"/>
                    </a:lnT>
                    <a:lnB w="12700" cap="flat" cmpd="sng" algn="ctr">
                      <a:solidFill>
                        <a:srgbClr val="2A4A78"/>
                      </a:solidFill>
                      <a:prstDash val="solid"/>
                      <a:round/>
                      <a:headEnd type="none" w="med" len="med"/>
                      <a:tailEnd type="none" w="med" len="med"/>
                    </a:lnB>
                    <a:solidFill>
                      <a:srgbClr val="0E2748"/>
                    </a:solidFill>
                  </a:tcPr>
                </a:tc>
                <a:extLst>
                  <a:ext uri="{0D108BD9-81ED-4DB2-BD59-A6C34878D82A}">
                    <a16:rowId xmlns:a16="http://schemas.microsoft.com/office/drawing/2014/main" val="10004"/>
                  </a:ext>
                </a:extLst>
              </a:tr>
              <a:tr h="640080">
                <a:tc>
                  <a:txBody>
                    <a:bodyPr/>
                    <a:lstStyle/>
                    <a:p>
                      <a:pPr marL="0" indent="0">
                        <a:buNone/>
                      </a:pPr>
                      <a:r>
                        <a:rPr lang="en-US" sz="1800" b="1" dirty="0">
                          <a:solidFill>
                            <a:srgbClr val="BFD7EE"/>
                          </a:solidFill>
                          <a:latin typeface="Calibri" pitchFamily="34" charset="0"/>
                          <a:ea typeface="Calibri" pitchFamily="34" charset="-122"/>
                          <a:cs typeface="Calibri" pitchFamily="34" charset="-120"/>
                        </a:rPr>
                        <a:t>Optimization</a:t>
                      </a:r>
                      <a:endParaRPr lang="en-US" sz="1800" dirty="0">
                        <a:latin typeface="Calibri" charset="0"/>
                        <a:ea typeface="Calibri" charset="0"/>
                        <a:cs typeface="Calibri" charset="0"/>
                      </a:endParaRPr>
                    </a:p>
                  </a:txBody>
                  <a:tcPr anchor="ctr">
                    <a:lnL w="12700" cap="flat" cmpd="sng" algn="ctr">
                      <a:solidFill>
                        <a:srgbClr val="2A4A78"/>
                      </a:solidFill>
                      <a:prstDash val="solid"/>
                      <a:round/>
                      <a:headEnd type="none" w="med" len="med"/>
                      <a:tailEnd type="none" w="med" len="med"/>
                    </a:lnL>
                    <a:lnR w="12700" cap="flat" cmpd="sng" algn="ctr">
                      <a:solidFill>
                        <a:srgbClr val="2A4A78"/>
                      </a:solidFill>
                      <a:prstDash val="solid"/>
                      <a:round/>
                      <a:headEnd type="none" w="med" len="med"/>
                      <a:tailEnd type="none" w="med" len="med"/>
                    </a:lnR>
                    <a:lnT w="12700" cap="flat" cmpd="sng" algn="ctr">
                      <a:solidFill>
                        <a:srgbClr val="2A4A78"/>
                      </a:solidFill>
                      <a:prstDash val="solid"/>
                      <a:round/>
                      <a:headEnd type="none" w="med" len="med"/>
                      <a:tailEnd type="none" w="med" len="med"/>
                    </a:lnT>
                    <a:lnB w="12700" cap="flat" cmpd="sng" algn="ctr">
                      <a:solidFill>
                        <a:srgbClr val="2A4A78"/>
                      </a:solidFill>
                      <a:prstDash val="solid"/>
                      <a:round/>
                      <a:headEnd type="none" w="med" len="med"/>
                      <a:tailEnd type="none" w="med" len="med"/>
                    </a:lnB>
                    <a:solidFill>
                      <a:srgbClr val="0A1F3C"/>
                    </a:solidFill>
                  </a:tcPr>
                </a:tc>
                <a:tc>
                  <a:txBody>
                    <a:bodyPr/>
                    <a:lstStyle/>
                    <a:p>
                      <a:pPr marL="0" indent="0" algn="ctr">
                        <a:buNone/>
                      </a:pPr>
                      <a:r>
                        <a:rPr lang="en-US" sz="1800" dirty="0">
                          <a:solidFill>
                            <a:srgbClr val="22D3EE"/>
                          </a:solidFill>
                          <a:latin typeface="Calibri" pitchFamily="34" charset="0"/>
                          <a:ea typeface="Calibri" pitchFamily="34" charset="-122"/>
                          <a:cs typeface="Calibri" pitchFamily="34" charset="-120"/>
                        </a:rPr>
                        <a:t>Policy-based, automated</a:t>
                      </a:r>
                      <a:endParaRPr lang="en-US" sz="1800" dirty="0">
                        <a:latin typeface="Calibri" charset="0"/>
                        <a:ea typeface="Calibri" charset="0"/>
                        <a:cs typeface="Calibri" charset="0"/>
                      </a:endParaRPr>
                    </a:p>
                  </a:txBody>
                  <a:tcPr anchor="ctr">
                    <a:lnL w="12700" cap="flat" cmpd="sng" algn="ctr">
                      <a:solidFill>
                        <a:srgbClr val="2A4A78"/>
                      </a:solidFill>
                      <a:prstDash val="solid"/>
                      <a:round/>
                      <a:headEnd type="none" w="med" len="med"/>
                      <a:tailEnd type="none" w="med" len="med"/>
                    </a:lnL>
                    <a:lnR w="12700" cap="flat" cmpd="sng" algn="ctr">
                      <a:solidFill>
                        <a:srgbClr val="2A4A78"/>
                      </a:solidFill>
                      <a:prstDash val="solid"/>
                      <a:round/>
                      <a:headEnd type="none" w="med" len="med"/>
                      <a:tailEnd type="none" w="med" len="med"/>
                    </a:lnR>
                    <a:lnT w="12700" cap="flat" cmpd="sng" algn="ctr">
                      <a:solidFill>
                        <a:srgbClr val="2A4A78"/>
                      </a:solidFill>
                      <a:prstDash val="solid"/>
                      <a:round/>
                      <a:headEnd type="none" w="med" len="med"/>
                      <a:tailEnd type="none" w="med" len="med"/>
                    </a:lnT>
                    <a:lnB w="12700" cap="flat" cmpd="sng" algn="ctr">
                      <a:solidFill>
                        <a:srgbClr val="2A4A78"/>
                      </a:solidFill>
                      <a:prstDash val="solid"/>
                      <a:round/>
                      <a:headEnd type="none" w="med" len="med"/>
                      <a:tailEnd type="none" w="med" len="med"/>
                    </a:lnB>
                    <a:solidFill>
                      <a:srgbClr val="0A1F3C"/>
                    </a:solidFill>
                  </a:tcPr>
                </a:tc>
                <a:tc>
                  <a:txBody>
                    <a:bodyPr/>
                    <a:lstStyle/>
                    <a:p>
                      <a:pPr marL="0" indent="0" algn="ctr">
                        <a:buNone/>
                      </a:pPr>
                      <a:r>
                        <a:rPr lang="en-US" sz="1800" dirty="0">
                          <a:solidFill>
                            <a:srgbClr val="A78BFA"/>
                          </a:solidFill>
                          <a:latin typeface="Calibri" pitchFamily="34" charset="0"/>
                          <a:ea typeface="Calibri" pitchFamily="34" charset="-122"/>
                          <a:cs typeface="Calibri" pitchFamily="34" charset="-120"/>
                        </a:rPr>
                        <a:t>Real-time, intelligent</a:t>
                      </a:r>
                      <a:endParaRPr lang="en-US" sz="1800" dirty="0">
                        <a:latin typeface="Calibri" charset="0"/>
                        <a:ea typeface="Calibri" charset="0"/>
                        <a:cs typeface="Calibri" charset="0"/>
                      </a:endParaRPr>
                    </a:p>
                  </a:txBody>
                  <a:tcPr anchor="ctr">
                    <a:lnL w="12700" cap="flat" cmpd="sng" algn="ctr">
                      <a:solidFill>
                        <a:srgbClr val="2A4A78"/>
                      </a:solidFill>
                      <a:prstDash val="solid"/>
                      <a:round/>
                      <a:headEnd type="none" w="med" len="med"/>
                      <a:tailEnd type="none" w="med" len="med"/>
                    </a:lnL>
                    <a:lnR w="12700" cap="flat" cmpd="sng" algn="ctr">
                      <a:solidFill>
                        <a:srgbClr val="2A4A78"/>
                      </a:solidFill>
                      <a:prstDash val="solid"/>
                      <a:round/>
                      <a:headEnd type="none" w="med" len="med"/>
                      <a:tailEnd type="none" w="med" len="med"/>
                    </a:lnR>
                    <a:lnT w="12700" cap="flat" cmpd="sng" algn="ctr">
                      <a:solidFill>
                        <a:srgbClr val="2A4A78"/>
                      </a:solidFill>
                      <a:prstDash val="solid"/>
                      <a:round/>
                      <a:headEnd type="none" w="med" len="med"/>
                      <a:tailEnd type="none" w="med" len="med"/>
                    </a:lnT>
                    <a:lnB w="12700" cap="flat" cmpd="sng" algn="ctr">
                      <a:solidFill>
                        <a:srgbClr val="2A4A78"/>
                      </a:solidFill>
                      <a:prstDash val="solid"/>
                      <a:round/>
                      <a:headEnd type="none" w="med" len="med"/>
                      <a:tailEnd type="none" w="med" len="med"/>
                    </a:lnB>
                    <a:solidFill>
                      <a:srgbClr val="0A1F3C"/>
                    </a:solidFill>
                  </a:tcPr>
                </a:tc>
                <a:extLst>
                  <a:ext uri="{0D108BD9-81ED-4DB2-BD59-A6C34878D82A}">
                    <a16:rowId xmlns:a16="http://schemas.microsoft.com/office/drawing/2014/main" val="10005"/>
                  </a:ext>
                </a:extLst>
              </a:tr>
              <a:tr h="640080">
                <a:tc>
                  <a:txBody>
                    <a:bodyPr/>
                    <a:lstStyle/>
                    <a:p>
                      <a:pPr marL="0" indent="0">
                        <a:buNone/>
                      </a:pPr>
                      <a:r>
                        <a:rPr lang="en-US" sz="1800" b="1" dirty="0">
                          <a:solidFill>
                            <a:srgbClr val="BFD7EE"/>
                          </a:solidFill>
                          <a:latin typeface="Calibri" pitchFamily="34" charset="0"/>
                          <a:ea typeface="Calibri" pitchFamily="34" charset="-122"/>
                          <a:cs typeface="Calibri" pitchFamily="34" charset="-120"/>
                        </a:rPr>
                        <a:t>Status</a:t>
                      </a:r>
                      <a:endParaRPr lang="en-US" sz="1800" dirty="0">
                        <a:latin typeface="Calibri" charset="0"/>
                        <a:ea typeface="Calibri" charset="0"/>
                        <a:cs typeface="Calibri" charset="0"/>
                      </a:endParaRPr>
                    </a:p>
                  </a:txBody>
                  <a:tcPr anchor="ctr">
                    <a:lnL w="12700" cap="flat" cmpd="sng" algn="ctr">
                      <a:solidFill>
                        <a:srgbClr val="2A4A78"/>
                      </a:solidFill>
                      <a:prstDash val="solid"/>
                      <a:round/>
                      <a:headEnd type="none" w="med" len="med"/>
                      <a:tailEnd type="none" w="med" len="med"/>
                    </a:lnL>
                    <a:lnR w="12700" cap="flat" cmpd="sng" algn="ctr">
                      <a:solidFill>
                        <a:srgbClr val="2A4A78"/>
                      </a:solidFill>
                      <a:prstDash val="solid"/>
                      <a:round/>
                      <a:headEnd type="none" w="med" len="med"/>
                      <a:tailEnd type="none" w="med" len="med"/>
                    </a:lnR>
                    <a:lnT w="12700" cap="flat" cmpd="sng" algn="ctr">
                      <a:solidFill>
                        <a:srgbClr val="2A4A78"/>
                      </a:solidFill>
                      <a:prstDash val="solid"/>
                      <a:round/>
                      <a:headEnd type="none" w="med" len="med"/>
                      <a:tailEnd type="none" w="med" len="med"/>
                    </a:lnT>
                    <a:lnB w="12700" cap="flat" cmpd="sng" algn="ctr">
                      <a:solidFill>
                        <a:srgbClr val="2A4A78"/>
                      </a:solidFill>
                      <a:prstDash val="solid"/>
                      <a:round/>
                      <a:headEnd type="none" w="med" len="med"/>
                      <a:tailEnd type="none" w="med" len="med"/>
                    </a:lnB>
                    <a:solidFill>
                      <a:srgbClr val="0E2748"/>
                    </a:solidFill>
                  </a:tcPr>
                </a:tc>
                <a:tc>
                  <a:txBody>
                    <a:bodyPr/>
                    <a:lstStyle/>
                    <a:p>
                      <a:pPr marL="0" indent="0" algn="ctr">
                        <a:buNone/>
                      </a:pPr>
                      <a:r>
                        <a:rPr lang="en-US" sz="1800" dirty="0">
                          <a:solidFill>
                            <a:srgbClr val="22D3EE"/>
                          </a:solidFill>
                          <a:latin typeface="Calibri" pitchFamily="34" charset="0"/>
                          <a:ea typeface="Calibri" pitchFamily="34" charset="-122"/>
                          <a:cs typeface="Calibri" pitchFamily="34" charset="-120"/>
                        </a:rPr>
                        <a:t>Commercially deployed</a:t>
                      </a:r>
                      <a:endParaRPr lang="en-US" sz="1800" dirty="0">
                        <a:latin typeface="Calibri" charset="0"/>
                        <a:ea typeface="Calibri" charset="0"/>
                        <a:cs typeface="Calibri" charset="0"/>
                      </a:endParaRPr>
                    </a:p>
                  </a:txBody>
                  <a:tcPr anchor="ctr">
                    <a:lnL w="12700" cap="flat" cmpd="sng" algn="ctr">
                      <a:solidFill>
                        <a:srgbClr val="2A4A78"/>
                      </a:solidFill>
                      <a:prstDash val="solid"/>
                      <a:round/>
                      <a:headEnd type="none" w="med" len="med"/>
                      <a:tailEnd type="none" w="med" len="med"/>
                    </a:lnL>
                    <a:lnR w="12700" cap="flat" cmpd="sng" algn="ctr">
                      <a:solidFill>
                        <a:srgbClr val="2A4A78"/>
                      </a:solidFill>
                      <a:prstDash val="solid"/>
                      <a:round/>
                      <a:headEnd type="none" w="med" len="med"/>
                      <a:tailEnd type="none" w="med" len="med"/>
                    </a:lnR>
                    <a:lnT w="12700" cap="flat" cmpd="sng" algn="ctr">
                      <a:solidFill>
                        <a:srgbClr val="2A4A78"/>
                      </a:solidFill>
                      <a:prstDash val="solid"/>
                      <a:round/>
                      <a:headEnd type="none" w="med" len="med"/>
                      <a:tailEnd type="none" w="med" len="med"/>
                    </a:lnT>
                    <a:lnB w="12700" cap="flat" cmpd="sng" algn="ctr">
                      <a:solidFill>
                        <a:srgbClr val="2A4A78"/>
                      </a:solidFill>
                      <a:prstDash val="solid"/>
                      <a:round/>
                      <a:headEnd type="none" w="med" len="med"/>
                      <a:tailEnd type="none" w="med" len="med"/>
                    </a:lnB>
                    <a:solidFill>
                      <a:srgbClr val="0E2748"/>
                    </a:solidFill>
                  </a:tcPr>
                </a:tc>
                <a:tc>
                  <a:txBody>
                    <a:bodyPr/>
                    <a:lstStyle/>
                    <a:p>
                      <a:pPr marL="0" indent="0" algn="ctr">
                        <a:buNone/>
                      </a:pPr>
                      <a:r>
                        <a:rPr lang="en-US" sz="1800" dirty="0">
                          <a:solidFill>
                            <a:srgbClr val="A78BFA"/>
                          </a:solidFill>
                          <a:latin typeface="Calibri" pitchFamily="34" charset="0"/>
                          <a:ea typeface="Calibri" pitchFamily="34" charset="-122"/>
                          <a:cs typeface="Calibri" pitchFamily="34" charset="-120"/>
                        </a:rPr>
                        <a:t>Research &amp; standardization</a:t>
                      </a:r>
                      <a:endParaRPr lang="en-US" sz="1800" dirty="0">
                        <a:latin typeface="Calibri" charset="0"/>
                        <a:ea typeface="Calibri" charset="0"/>
                        <a:cs typeface="Calibri" charset="0"/>
                      </a:endParaRPr>
                    </a:p>
                  </a:txBody>
                  <a:tcPr anchor="ctr">
                    <a:lnL w="12700" cap="flat" cmpd="sng" algn="ctr">
                      <a:solidFill>
                        <a:srgbClr val="2A4A78"/>
                      </a:solidFill>
                      <a:prstDash val="solid"/>
                      <a:round/>
                      <a:headEnd type="none" w="med" len="med"/>
                      <a:tailEnd type="none" w="med" len="med"/>
                    </a:lnL>
                    <a:lnR w="12700" cap="flat" cmpd="sng" algn="ctr">
                      <a:solidFill>
                        <a:srgbClr val="2A4A78"/>
                      </a:solidFill>
                      <a:prstDash val="solid"/>
                      <a:round/>
                      <a:headEnd type="none" w="med" len="med"/>
                      <a:tailEnd type="none" w="med" len="med"/>
                    </a:lnR>
                    <a:lnT w="12700" cap="flat" cmpd="sng" algn="ctr">
                      <a:solidFill>
                        <a:srgbClr val="2A4A78"/>
                      </a:solidFill>
                      <a:prstDash val="solid"/>
                      <a:round/>
                      <a:headEnd type="none" w="med" len="med"/>
                      <a:tailEnd type="none" w="med" len="med"/>
                    </a:lnT>
                    <a:lnB w="12700" cap="flat" cmpd="sng" algn="ctr">
                      <a:solidFill>
                        <a:srgbClr val="2A4A78"/>
                      </a:solidFill>
                      <a:prstDash val="solid"/>
                      <a:round/>
                      <a:headEnd type="none" w="med" len="med"/>
                      <a:tailEnd type="none" w="med" len="med"/>
                    </a:lnB>
                    <a:solidFill>
                      <a:srgbClr val="0E2748"/>
                    </a:solidFill>
                  </a:tcPr>
                </a:tc>
                <a:extLst>
                  <a:ext uri="{0D108BD9-81ED-4DB2-BD59-A6C34878D82A}">
                    <a16:rowId xmlns:a16="http://schemas.microsoft.com/office/drawing/2014/main" val="10006"/>
                  </a:ext>
                </a:extLst>
              </a:tr>
            </a:tbl>
          </a:graphicData>
        </a:graphic>
      </p:graphicFrame>
      <p:sp>
        <p:nvSpPr>
          <p:cNvPr id="5" name="Text 2"/>
          <p:cNvSpPr txBox="1"/>
          <p:nvPr/>
        </p:nvSpPr>
        <p:spPr>
          <a:xfrm>
            <a:off x="548640" y="6126480"/>
            <a:ext cx="5486400" cy="274320"/>
          </a:xfrm>
          <a:prstGeom prst="rect">
            <a:avLst/>
          </a:prstGeom>
          <a:noFill/>
          <a:ln/>
        </p:spPr>
        <p:txBody>
          <a:bodyPr wrap="square" lIns="0" tIns="0" rIns="0" bIns="0" rtlCol="0" anchor="ctr"/>
          <a:lstStyle/>
          <a:p>
            <a:pPr marL="0" indent="0">
              <a:buNone/>
            </a:pPr>
            <a:r>
              <a:rPr lang="en-US" sz="1200" i="1" dirty="0">
                <a:solidFill>
                  <a:srgbClr val="8FB3D9"/>
                </a:solidFill>
                <a:latin typeface="Calibri" pitchFamily="34" charset="0"/>
                <a:ea typeface="Calibri" pitchFamily="34" charset="-122"/>
                <a:cs typeface="Calibri" pitchFamily="34" charset="-120"/>
              </a:rPr>
              <a:t>6G column shows expected capabilities</a:t>
            </a:r>
            <a:endParaRPr lang="en-US" sz="1200" dirty="0"/>
          </a:p>
        </p:txBody>
      </p:sp>
      <p:sp>
        <p:nvSpPr>
          <p:cNvPr id="25" name="Slide Number Placeholder 0"/>
          <p:cNvSpPr>
            <a:spLocks noGrp="1"/>
          </p:cNvSpPr>
          <p:nvPr>
            <p:ph type="sldNum" sz="quarter" idx="4294967295"/>
          </p:nvPr>
        </p:nvSpPr>
        <p:spPr>
          <a:xfrm>
            <a:off x="11064240" y="6473952"/>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B3D9"/>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lide chip"/>
          <p:cNvSpPr txBox="1"/>
          <p:nvPr/>
        </p:nvSpPr>
        <p:spPr>
          <a:xfrm>
            <a:off x="457200" y="274320"/>
            <a:ext cx="640080" cy="640080"/>
          </a:xfrm>
          <a:prstGeom prst="roundRect">
            <a:avLst>
              <a:gd name="adj" fmla="val 14286"/>
            </a:avLst>
          </a:prstGeom>
          <a:solidFill>
            <a:srgbClr val="22D3EE"/>
          </a:solidFill>
          <a:ln/>
        </p:spPr>
        <p:txBody>
          <a:bodyPr wrap="square" lIns="0" tIns="0" rIns="0" bIns="0" rtlCol="0" anchor="ctr"/>
          <a:lstStyle/>
          <a:p>
            <a:pPr marL="0" indent="0" algn="ctr">
              <a:buNone/>
            </a:pPr>
            <a:r>
              <a:rPr lang="en-US" sz="2200" b="1" dirty="0">
                <a:solidFill>
                  <a:srgbClr val="071428"/>
                </a:solidFill>
              </a:rPr>
              <a:t>11</a:t>
            </a:r>
            <a:endParaRPr lang="en-US" sz="2200" dirty="0"/>
          </a:p>
        </p:txBody>
      </p:sp>
      <p:sp>
        <p:nvSpPr>
          <p:cNvPr id="3" name="Text 0"/>
          <p:cNvSpPr>
            <a:spLocks noGrp="1"/>
          </p:cNvSpPr>
          <p:nvPr>
            <p:ph type="title" idx="100" hasCustomPrompt="1"/>
          </p:nvPr>
        </p:nvSpPr>
        <p:spPr>
          <a:xfrm>
            <a:off x="1280160" y="256032"/>
            <a:ext cx="10424160" cy="685800"/>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Advantages of Network Slicing</a:t>
            </a:r>
            <a:endParaRPr lang="en-US" sz="3000" dirty="0"/>
          </a:p>
        </p:txBody>
      </p:sp>
      <p:sp>
        <p:nvSpPr>
          <p:cNvPr id="4" name="Shape 2"/>
          <p:cNvSpPr/>
          <p:nvPr/>
        </p:nvSpPr>
        <p:spPr>
          <a:xfrm>
            <a:off x="457200" y="1371600"/>
            <a:ext cx="3611880" cy="2240280"/>
          </a:xfrm>
          <a:prstGeom prst="roundRect">
            <a:avLst>
              <a:gd name="adj" fmla="val 4898"/>
            </a:avLst>
          </a:prstGeom>
          <a:solidFill>
            <a:srgbClr val="0E2748"/>
          </a:solidFill>
          <a:ln w="19050">
            <a:solidFill>
              <a:srgbClr val="22D3EE"/>
            </a:solidFill>
            <a:prstDash val="solid"/>
          </a:ln>
        </p:spPr>
      </p:sp>
      <p:sp>
        <p:nvSpPr>
          <p:cNvPr id="5" name="Shape 3"/>
          <p:cNvSpPr/>
          <p:nvPr/>
        </p:nvSpPr>
        <p:spPr>
          <a:xfrm>
            <a:off x="731520" y="1691640"/>
            <a:ext cx="914400" cy="914400"/>
          </a:xfrm>
          <a:prstGeom prst="ellipse">
            <a:avLst/>
          </a:prstGeom>
          <a:solidFill>
            <a:srgbClr val="0A1F3C"/>
          </a:solidFill>
          <a:ln w="22225">
            <a:solidFill>
              <a:srgbClr val="22D3EE"/>
            </a:solidFill>
            <a:prstDash val="solid"/>
          </a:ln>
        </p:spPr>
      </p:sp>
      <p:pic>
        <p:nvPicPr>
          <p:cNvPr id="6" name="Image 0" descr="preencoded.png"/>
          <p:cNvPicPr>
            <a:picLocks noChangeAspect="1"/>
          </p:cNvPicPr>
          <p:nvPr/>
        </p:nvPicPr>
        <p:blipFill>
          <a:blip r:embed="rId3"/>
          <a:stretch>
            <a:fillRect/>
          </a:stretch>
        </p:blipFill>
        <p:spPr>
          <a:xfrm>
            <a:off x="1005840" y="1965960"/>
            <a:ext cx="365760" cy="365760"/>
          </a:xfrm>
          <a:prstGeom prst="rect">
            <a:avLst/>
          </a:prstGeom>
        </p:spPr>
      </p:pic>
      <p:sp>
        <p:nvSpPr>
          <p:cNvPr id="7" name="Text 4"/>
          <p:cNvSpPr txBox="1"/>
          <p:nvPr/>
        </p:nvSpPr>
        <p:spPr>
          <a:xfrm>
            <a:off x="1828800" y="1691640"/>
            <a:ext cx="2103120" cy="914400"/>
          </a:xfrm>
          <a:prstGeom prst="rect">
            <a:avLst/>
          </a:prstGeom>
          <a:noFill/>
          <a:ln/>
        </p:spPr>
        <p:txBody>
          <a:bodyPr wrap="square" lIns="0" tIns="0" rIns="0" bIns="0" rtlCol="0" anchor="ctr"/>
          <a:lstStyle/>
          <a:p>
            <a:pPr marL="0" indent="0">
              <a:buNone/>
            </a:pPr>
            <a:r>
              <a:rPr lang="en-US" sz="2200" b="1" dirty="0">
                <a:solidFill>
                  <a:srgbClr val="22D3EE"/>
                </a:solidFill>
                <a:latin typeface="Calibri" pitchFamily="34" charset="0"/>
                <a:ea typeface="Calibri" pitchFamily="34" charset="-122"/>
                <a:cs typeface="Calibri" pitchFamily="34" charset="-120"/>
              </a:rPr>
              <a:t>Flexibility</a:t>
            </a:r>
            <a:endParaRPr lang="en-US" sz="2200" dirty="0"/>
          </a:p>
        </p:txBody>
      </p:sp>
      <p:sp>
        <p:nvSpPr>
          <p:cNvPr id="8" name="Text 5"/>
          <p:cNvSpPr txBox="1"/>
          <p:nvPr/>
        </p:nvSpPr>
        <p:spPr>
          <a:xfrm>
            <a:off x="731520" y="2743200"/>
            <a:ext cx="3108960" cy="640080"/>
          </a:xfrm>
          <a:prstGeom prst="rect">
            <a:avLst/>
          </a:prstGeom>
          <a:noFill/>
          <a:ln/>
        </p:spPr>
        <p:txBody>
          <a:bodyPr wrap="square" lIns="0" tIns="0" rIns="0" bIns="0" rtlCol="0" anchor="ctr"/>
          <a:lstStyle/>
          <a:p>
            <a:pPr marL="0" indent="0">
              <a:buNone/>
            </a:pPr>
            <a:r>
              <a:rPr lang="en-US" sz="1600" dirty="0">
                <a:solidFill>
                  <a:srgbClr val="BFD7EE"/>
                </a:solidFill>
                <a:latin typeface="Calibri" pitchFamily="34" charset="0"/>
                <a:ea typeface="Calibri" pitchFamily="34" charset="-122"/>
                <a:cs typeface="Calibri" pitchFamily="34" charset="-120"/>
              </a:rPr>
              <a:t>Customized virtual networks</a:t>
            </a:r>
            <a:endParaRPr lang="en-US" sz="1600" dirty="0"/>
          </a:p>
        </p:txBody>
      </p:sp>
      <p:sp>
        <p:nvSpPr>
          <p:cNvPr id="9" name="Shape 6"/>
          <p:cNvSpPr/>
          <p:nvPr/>
        </p:nvSpPr>
        <p:spPr>
          <a:xfrm>
            <a:off x="4288536" y="1371600"/>
            <a:ext cx="3611880" cy="2240280"/>
          </a:xfrm>
          <a:prstGeom prst="roundRect">
            <a:avLst>
              <a:gd name="adj" fmla="val 4898"/>
            </a:avLst>
          </a:prstGeom>
          <a:solidFill>
            <a:srgbClr val="0E2748"/>
          </a:solidFill>
          <a:ln w="19050">
            <a:solidFill>
              <a:srgbClr val="34D399"/>
            </a:solidFill>
            <a:prstDash val="solid"/>
          </a:ln>
        </p:spPr>
      </p:sp>
      <p:sp>
        <p:nvSpPr>
          <p:cNvPr id="10" name="Shape 7"/>
          <p:cNvSpPr/>
          <p:nvPr/>
        </p:nvSpPr>
        <p:spPr>
          <a:xfrm>
            <a:off x="4562856" y="1691640"/>
            <a:ext cx="914400" cy="914400"/>
          </a:xfrm>
          <a:prstGeom prst="ellipse">
            <a:avLst/>
          </a:prstGeom>
          <a:solidFill>
            <a:srgbClr val="0A1F3C"/>
          </a:solidFill>
          <a:ln w="22225">
            <a:solidFill>
              <a:srgbClr val="34D399"/>
            </a:solidFill>
            <a:prstDash val="solid"/>
          </a:ln>
        </p:spPr>
      </p:sp>
      <p:pic>
        <p:nvPicPr>
          <p:cNvPr id="11" name="Image 1" descr="preencoded.png"/>
          <p:cNvPicPr>
            <a:picLocks noChangeAspect="1"/>
          </p:cNvPicPr>
          <p:nvPr/>
        </p:nvPicPr>
        <p:blipFill>
          <a:blip r:embed="rId4"/>
          <a:stretch>
            <a:fillRect/>
          </a:stretch>
        </p:blipFill>
        <p:spPr>
          <a:xfrm>
            <a:off x="4837176" y="1965960"/>
            <a:ext cx="365760" cy="365760"/>
          </a:xfrm>
          <a:prstGeom prst="rect">
            <a:avLst/>
          </a:prstGeom>
        </p:spPr>
      </p:pic>
      <p:sp>
        <p:nvSpPr>
          <p:cNvPr id="12" name="Text 8"/>
          <p:cNvSpPr txBox="1"/>
          <p:nvPr/>
        </p:nvSpPr>
        <p:spPr>
          <a:xfrm>
            <a:off x="5660136" y="1691640"/>
            <a:ext cx="2103120" cy="914400"/>
          </a:xfrm>
          <a:prstGeom prst="rect">
            <a:avLst/>
          </a:prstGeom>
          <a:noFill/>
          <a:ln/>
        </p:spPr>
        <p:txBody>
          <a:bodyPr wrap="square" lIns="0" tIns="0" rIns="0" bIns="0" rtlCol="0" anchor="ctr"/>
          <a:lstStyle/>
          <a:p>
            <a:pPr marL="0" indent="0">
              <a:buNone/>
            </a:pPr>
            <a:r>
              <a:rPr lang="en-US" sz="2200" b="1" dirty="0">
                <a:solidFill>
                  <a:srgbClr val="34D399"/>
                </a:solidFill>
                <a:latin typeface="Calibri" pitchFamily="34" charset="0"/>
                <a:ea typeface="Calibri" pitchFamily="34" charset="-122"/>
                <a:cs typeface="Calibri" pitchFamily="34" charset="-120"/>
              </a:rPr>
              <a:t>Efficiency</a:t>
            </a:r>
            <a:endParaRPr lang="en-US" sz="2200" dirty="0"/>
          </a:p>
        </p:txBody>
      </p:sp>
      <p:sp>
        <p:nvSpPr>
          <p:cNvPr id="13" name="Text 9"/>
          <p:cNvSpPr txBox="1"/>
          <p:nvPr/>
        </p:nvSpPr>
        <p:spPr>
          <a:xfrm>
            <a:off x="4562856" y="2743200"/>
            <a:ext cx="3108960" cy="640080"/>
          </a:xfrm>
          <a:prstGeom prst="rect">
            <a:avLst/>
          </a:prstGeom>
          <a:noFill/>
          <a:ln/>
        </p:spPr>
        <p:txBody>
          <a:bodyPr wrap="square" lIns="0" tIns="0" rIns="0" bIns="0" rtlCol="0" anchor="ctr"/>
          <a:lstStyle/>
          <a:p>
            <a:pPr marL="0" indent="0">
              <a:buNone/>
            </a:pPr>
            <a:r>
              <a:rPr lang="en-US" sz="1600" dirty="0">
                <a:solidFill>
                  <a:srgbClr val="BFD7EE"/>
                </a:solidFill>
                <a:latin typeface="Calibri" pitchFamily="34" charset="0"/>
                <a:ea typeface="Calibri" pitchFamily="34" charset="-122"/>
                <a:cs typeface="Calibri" pitchFamily="34" charset="-120"/>
              </a:rPr>
              <a:t>Shared physical infrastructure</a:t>
            </a:r>
            <a:endParaRPr lang="en-US" sz="1600" dirty="0"/>
          </a:p>
        </p:txBody>
      </p:sp>
      <p:sp>
        <p:nvSpPr>
          <p:cNvPr id="14" name="Shape 10"/>
          <p:cNvSpPr/>
          <p:nvPr/>
        </p:nvSpPr>
        <p:spPr>
          <a:xfrm>
            <a:off x="8119872" y="1371600"/>
            <a:ext cx="3611880" cy="2240280"/>
          </a:xfrm>
          <a:prstGeom prst="roundRect">
            <a:avLst>
              <a:gd name="adj" fmla="val 4898"/>
            </a:avLst>
          </a:prstGeom>
          <a:solidFill>
            <a:srgbClr val="0E2748"/>
          </a:solidFill>
          <a:ln w="19050">
            <a:solidFill>
              <a:srgbClr val="3B82F6"/>
            </a:solidFill>
            <a:prstDash val="solid"/>
          </a:ln>
        </p:spPr>
      </p:sp>
      <p:sp>
        <p:nvSpPr>
          <p:cNvPr id="15" name="Shape 11"/>
          <p:cNvSpPr/>
          <p:nvPr/>
        </p:nvSpPr>
        <p:spPr>
          <a:xfrm>
            <a:off x="8394192" y="1691640"/>
            <a:ext cx="914400" cy="914400"/>
          </a:xfrm>
          <a:prstGeom prst="ellipse">
            <a:avLst/>
          </a:prstGeom>
          <a:solidFill>
            <a:srgbClr val="0A1F3C"/>
          </a:solidFill>
          <a:ln w="22225">
            <a:solidFill>
              <a:srgbClr val="3B82F6"/>
            </a:solidFill>
            <a:prstDash val="solid"/>
          </a:ln>
        </p:spPr>
      </p:sp>
      <p:pic>
        <p:nvPicPr>
          <p:cNvPr id="16" name="Image 2" descr="preencoded.png"/>
          <p:cNvPicPr>
            <a:picLocks noChangeAspect="1"/>
          </p:cNvPicPr>
          <p:nvPr/>
        </p:nvPicPr>
        <p:blipFill>
          <a:blip r:embed="rId5"/>
          <a:stretch>
            <a:fillRect/>
          </a:stretch>
        </p:blipFill>
        <p:spPr>
          <a:xfrm>
            <a:off x="8668512" y="1965960"/>
            <a:ext cx="365760" cy="365760"/>
          </a:xfrm>
          <a:prstGeom prst="rect">
            <a:avLst/>
          </a:prstGeom>
        </p:spPr>
      </p:pic>
      <p:sp>
        <p:nvSpPr>
          <p:cNvPr id="17" name="Text 12"/>
          <p:cNvSpPr txBox="1"/>
          <p:nvPr/>
        </p:nvSpPr>
        <p:spPr>
          <a:xfrm>
            <a:off x="9491472" y="1691640"/>
            <a:ext cx="2103120" cy="914400"/>
          </a:xfrm>
          <a:prstGeom prst="rect">
            <a:avLst/>
          </a:prstGeom>
          <a:noFill/>
          <a:ln/>
        </p:spPr>
        <p:txBody>
          <a:bodyPr wrap="square" lIns="0" tIns="0" rIns="0" bIns="0" rtlCol="0" anchor="ctr"/>
          <a:lstStyle/>
          <a:p>
            <a:pPr marL="0" indent="0">
              <a:buNone/>
            </a:pPr>
            <a:r>
              <a:rPr lang="en-US" sz="2200" b="1" dirty="0">
                <a:solidFill>
                  <a:srgbClr val="3B82F6"/>
                </a:solidFill>
                <a:latin typeface="Calibri" pitchFamily="34" charset="0"/>
                <a:ea typeface="Calibri" pitchFamily="34" charset="-122"/>
                <a:cs typeface="Calibri" pitchFamily="34" charset="-120"/>
              </a:rPr>
              <a:t>Scalability</a:t>
            </a:r>
            <a:endParaRPr lang="en-US" sz="2200" dirty="0"/>
          </a:p>
        </p:txBody>
      </p:sp>
      <p:sp>
        <p:nvSpPr>
          <p:cNvPr id="18" name="Text 13"/>
          <p:cNvSpPr txBox="1"/>
          <p:nvPr/>
        </p:nvSpPr>
        <p:spPr>
          <a:xfrm>
            <a:off x="8394192" y="2743200"/>
            <a:ext cx="3108960" cy="640080"/>
          </a:xfrm>
          <a:prstGeom prst="rect">
            <a:avLst/>
          </a:prstGeom>
          <a:noFill/>
          <a:ln/>
        </p:spPr>
        <p:txBody>
          <a:bodyPr wrap="square" lIns="0" tIns="0" rIns="0" bIns="0" rtlCol="0" anchor="ctr"/>
          <a:lstStyle/>
          <a:p>
            <a:pPr marL="0" indent="0">
              <a:buNone/>
            </a:pPr>
            <a:r>
              <a:rPr lang="en-US" sz="1600" dirty="0">
                <a:solidFill>
                  <a:srgbClr val="BFD7EE"/>
                </a:solidFill>
                <a:latin typeface="Calibri" pitchFamily="34" charset="0"/>
                <a:ea typeface="Calibri" pitchFamily="34" charset="-122"/>
                <a:cs typeface="Calibri" pitchFamily="34" charset="-120"/>
              </a:rPr>
              <a:t>Adapts to changing demand</a:t>
            </a:r>
            <a:endParaRPr lang="en-US" sz="1600" dirty="0"/>
          </a:p>
        </p:txBody>
      </p:sp>
      <p:sp>
        <p:nvSpPr>
          <p:cNvPr id="19" name="Shape 14"/>
          <p:cNvSpPr/>
          <p:nvPr/>
        </p:nvSpPr>
        <p:spPr>
          <a:xfrm>
            <a:off x="457200" y="3886200"/>
            <a:ext cx="3611880" cy="2240280"/>
          </a:xfrm>
          <a:prstGeom prst="roundRect">
            <a:avLst>
              <a:gd name="adj" fmla="val 4898"/>
            </a:avLst>
          </a:prstGeom>
          <a:solidFill>
            <a:srgbClr val="0E2748"/>
          </a:solidFill>
          <a:ln w="19050">
            <a:solidFill>
              <a:srgbClr val="A78BFA"/>
            </a:solidFill>
            <a:prstDash val="solid"/>
          </a:ln>
        </p:spPr>
      </p:sp>
      <p:sp>
        <p:nvSpPr>
          <p:cNvPr id="20" name="Shape 15"/>
          <p:cNvSpPr/>
          <p:nvPr/>
        </p:nvSpPr>
        <p:spPr>
          <a:xfrm>
            <a:off x="731520" y="4206240"/>
            <a:ext cx="914400" cy="914400"/>
          </a:xfrm>
          <a:prstGeom prst="ellipse">
            <a:avLst/>
          </a:prstGeom>
          <a:solidFill>
            <a:srgbClr val="0A1F3C"/>
          </a:solidFill>
          <a:ln w="22225">
            <a:solidFill>
              <a:srgbClr val="A78BFA"/>
            </a:solidFill>
            <a:prstDash val="solid"/>
          </a:ln>
        </p:spPr>
      </p:sp>
      <p:pic>
        <p:nvPicPr>
          <p:cNvPr id="21" name="Image 3" descr="preencoded.png"/>
          <p:cNvPicPr>
            <a:picLocks noChangeAspect="1"/>
          </p:cNvPicPr>
          <p:nvPr/>
        </p:nvPicPr>
        <p:blipFill>
          <a:blip r:embed="rId6"/>
          <a:stretch>
            <a:fillRect/>
          </a:stretch>
        </p:blipFill>
        <p:spPr>
          <a:xfrm>
            <a:off x="1005840" y="4480560"/>
            <a:ext cx="365760" cy="365760"/>
          </a:xfrm>
          <a:prstGeom prst="rect">
            <a:avLst/>
          </a:prstGeom>
        </p:spPr>
      </p:pic>
      <p:sp>
        <p:nvSpPr>
          <p:cNvPr id="22" name="Text 16"/>
          <p:cNvSpPr txBox="1"/>
          <p:nvPr/>
        </p:nvSpPr>
        <p:spPr>
          <a:xfrm>
            <a:off x="1828800" y="4206240"/>
            <a:ext cx="2103120" cy="914400"/>
          </a:xfrm>
          <a:prstGeom prst="rect">
            <a:avLst/>
          </a:prstGeom>
          <a:noFill/>
          <a:ln/>
        </p:spPr>
        <p:txBody>
          <a:bodyPr wrap="square" lIns="0" tIns="0" rIns="0" bIns="0" rtlCol="0" anchor="ctr"/>
          <a:lstStyle/>
          <a:p>
            <a:pPr marL="0" indent="0">
              <a:buNone/>
            </a:pPr>
            <a:r>
              <a:rPr lang="en-US" sz="2200" b="1" dirty="0">
                <a:solidFill>
                  <a:srgbClr val="A78BFA"/>
                </a:solidFill>
                <a:latin typeface="Calibri" pitchFamily="34" charset="0"/>
                <a:ea typeface="Calibri" pitchFamily="34" charset="-122"/>
                <a:cs typeface="Calibri" pitchFamily="34" charset="-120"/>
              </a:rPr>
              <a:t>Performance</a:t>
            </a:r>
            <a:endParaRPr lang="en-US" sz="2200" dirty="0"/>
          </a:p>
        </p:txBody>
      </p:sp>
      <p:sp>
        <p:nvSpPr>
          <p:cNvPr id="23" name="Text 17"/>
          <p:cNvSpPr txBox="1"/>
          <p:nvPr/>
        </p:nvSpPr>
        <p:spPr>
          <a:xfrm>
            <a:off x="731520" y="5257800"/>
            <a:ext cx="3108960" cy="640080"/>
          </a:xfrm>
          <a:prstGeom prst="rect">
            <a:avLst/>
          </a:prstGeom>
          <a:noFill/>
          <a:ln/>
        </p:spPr>
        <p:txBody>
          <a:bodyPr wrap="square" lIns="0" tIns="0" rIns="0" bIns="0" rtlCol="0" anchor="ctr"/>
          <a:lstStyle/>
          <a:p>
            <a:pPr marL="0" indent="0">
              <a:buNone/>
            </a:pPr>
            <a:r>
              <a:rPr lang="en-US" sz="1600" dirty="0">
                <a:solidFill>
                  <a:srgbClr val="BFD7EE"/>
                </a:solidFill>
                <a:latin typeface="Calibri" pitchFamily="34" charset="0"/>
                <a:ea typeface="Calibri" pitchFamily="34" charset="-122"/>
                <a:cs typeface="Calibri" pitchFamily="34" charset="-120"/>
              </a:rPr>
              <a:t>Per-service speed and latency</a:t>
            </a:r>
            <a:endParaRPr lang="en-US" sz="1600" dirty="0"/>
          </a:p>
        </p:txBody>
      </p:sp>
      <p:sp>
        <p:nvSpPr>
          <p:cNvPr id="24" name="Shape 18"/>
          <p:cNvSpPr/>
          <p:nvPr/>
        </p:nvSpPr>
        <p:spPr>
          <a:xfrm>
            <a:off x="4288536" y="3886200"/>
            <a:ext cx="3611880" cy="2240280"/>
          </a:xfrm>
          <a:prstGeom prst="roundRect">
            <a:avLst>
              <a:gd name="adj" fmla="val 4898"/>
            </a:avLst>
          </a:prstGeom>
          <a:solidFill>
            <a:srgbClr val="0E2748"/>
          </a:solidFill>
          <a:ln w="19050">
            <a:solidFill>
              <a:srgbClr val="FBBF24"/>
            </a:solidFill>
            <a:prstDash val="solid"/>
          </a:ln>
        </p:spPr>
      </p:sp>
      <p:sp>
        <p:nvSpPr>
          <p:cNvPr id="25" name="Shape 19"/>
          <p:cNvSpPr/>
          <p:nvPr/>
        </p:nvSpPr>
        <p:spPr>
          <a:xfrm>
            <a:off x="4562856" y="4206240"/>
            <a:ext cx="914400" cy="914400"/>
          </a:xfrm>
          <a:prstGeom prst="ellipse">
            <a:avLst/>
          </a:prstGeom>
          <a:solidFill>
            <a:srgbClr val="0A1F3C"/>
          </a:solidFill>
          <a:ln w="22225">
            <a:solidFill>
              <a:srgbClr val="FBBF24"/>
            </a:solidFill>
            <a:prstDash val="solid"/>
          </a:ln>
        </p:spPr>
      </p:sp>
      <p:pic>
        <p:nvPicPr>
          <p:cNvPr id="26" name="Image 4" descr="preencoded.png"/>
          <p:cNvPicPr>
            <a:picLocks noChangeAspect="1"/>
          </p:cNvPicPr>
          <p:nvPr/>
        </p:nvPicPr>
        <p:blipFill>
          <a:blip r:embed="rId7"/>
          <a:stretch>
            <a:fillRect/>
          </a:stretch>
        </p:blipFill>
        <p:spPr>
          <a:xfrm>
            <a:off x="4837176" y="4480560"/>
            <a:ext cx="365760" cy="365760"/>
          </a:xfrm>
          <a:prstGeom prst="rect">
            <a:avLst/>
          </a:prstGeom>
        </p:spPr>
      </p:pic>
      <p:sp>
        <p:nvSpPr>
          <p:cNvPr id="27" name="Text 20"/>
          <p:cNvSpPr txBox="1"/>
          <p:nvPr/>
        </p:nvSpPr>
        <p:spPr>
          <a:xfrm>
            <a:off x="5660136" y="4206240"/>
            <a:ext cx="2103120" cy="914400"/>
          </a:xfrm>
          <a:prstGeom prst="rect">
            <a:avLst/>
          </a:prstGeom>
          <a:noFill/>
          <a:ln/>
        </p:spPr>
        <p:txBody>
          <a:bodyPr wrap="square" lIns="0" tIns="0" rIns="0" bIns="0" rtlCol="0" anchor="ctr"/>
          <a:lstStyle/>
          <a:p>
            <a:pPr marL="0" indent="0">
              <a:buNone/>
            </a:pPr>
            <a:r>
              <a:rPr lang="en-US" sz="2200" b="1" dirty="0">
                <a:solidFill>
                  <a:srgbClr val="FBBF24"/>
                </a:solidFill>
                <a:latin typeface="Calibri" pitchFamily="34" charset="0"/>
                <a:ea typeface="Calibri" pitchFamily="34" charset="-122"/>
                <a:cs typeface="Calibri" pitchFamily="34" charset="-120"/>
              </a:rPr>
              <a:t>Isolation</a:t>
            </a:r>
            <a:endParaRPr lang="en-US" sz="2200" dirty="0"/>
          </a:p>
        </p:txBody>
      </p:sp>
      <p:sp>
        <p:nvSpPr>
          <p:cNvPr id="28" name="Text 21"/>
          <p:cNvSpPr txBox="1"/>
          <p:nvPr/>
        </p:nvSpPr>
        <p:spPr>
          <a:xfrm>
            <a:off x="4562856" y="5257800"/>
            <a:ext cx="3108960" cy="640080"/>
          </a:xfrm>
          <a:prstGeom prst="rect">
            <a:avLst/>
          </a:prstGeom>
          <a:noFill/>
          <a:ln/>
        </p:spPr>
        <p:txBody>
          <a:bodyPr wrap="square" lIns="0" tIns="0" rIns="0" bIns="0" rtlCol="0" anchor="ctr"/>
          <a:lstStyle/>
          <a:p>
            <a:pPr marL="0" indent="0">
              <a:buNone/>
            </a:pPr>
            <a:r>
              <a:rPr lang="en-US" sz="1600" dirty="0">
                <a:solidFill>
                  <a:srgbClr val="BFD7EE"/>
                </a:solidFill>
                <a:latin typeface="Calibri" pitchFamily="34" charset="0"/>
                <a:ea typeface="Calibri" pitchFamily="34" charset="-122"/>
                <a:cs typeface="Calibri" pitchFamily="34" charset="-120"/>
              </a:rPr>
              <a:t>Traffic managed independently</a:t>
            </a:r>
            <a:endParaRPr lang="en-US" sz="1600" dirty="0"/>
          </a:p>
        </p:txBody>
      </p:sp>
      <p:sp>
        <p:nvSpPr>
          <p:cNvPr id="29" name="Shape 22"/>
          <p:cNvSpPr/>
          <p:nvPr/>
        </p:nvSpPr>
        <p:spPr>
          <a:xfrm>
            <a:off x="8119872" y="3886200"/>
            <a:ext cx="3611880" cy="2240280"/>
          </a:xfrm>
          <a:prstGeom prst="roundRect">
            <a:avLst>
              <a:gd name="adj" fmla="val 4898"/>
            </a:avLst>
          </a:prstGeom>
          <a:solidFill>
            <a:srgbClr val="0E2748"/>
          </a:solidFill>
          <a:ln w="19050">
            <a:solidFill>
              <a:srgbClr val="F87171"/>
            </a:solidFill>
            <a:prstDash val="solid"/>
          </a:ln>
        </p:spPr>
      </p:sp>
      <p:sp>
        <p:nvSpPr>
          <p:cNvPr id="30" name="Shape 23"/>
          <p:cNvSpPr/>
          <p:nvPr/>
        </p:nvSpPr>
        <p:spPr>
          <a:xfrm>
            <a:off x="8394192" y="4206240"/>
            <a:ext cx="914400" cy="914400"/>
          </a:xfrm>
          <a:prstGeom prst="ellipse">
            <a:avLst/>
          </a:prstGeom>
          <a:solidFill>
            <a:srgbClr val="0A1F3C"/>
          </a:solidFill>
          <a:ln w="22225">
            <a:solidFill>
              <a:srgbClr val="F87171"/>
            </a:solidFill>
            <a:prstDash val="solid"/>
          </a:ln>
        </p:spPr>
      </p:sp>
      <p:pic>
        <p:nvPicPr>
          <p:cNvPr id="31" name="Image 5" descr="preencoded.png"/>
          <p:cNvPicPr>
            <a:picLocks noChangeAspect="1"/>
          </p:cNvPicPr>
          <p:nvPr/>
        </p:nvPicPr>
        <p:blipFill>
          <a:blip r:embed="rId8"/>
          <a:stretch>
            <a:fillRect/>
          </a:stretch>
        </p:blipFill>
        <p:spPr>
          <a:xfrm>
            <a:off x="8668512" y="4480560"/>
            <a:ext cx="365760" cy="365760"/>
          </a:xfrm>
          <a:prstGeom prst="rect">
            <a:avLst/>
          </a:prstGeom>
        </p:spPr>
      </p:pic>
      <p:sp>
        <p:nvSpPr>
          <p:cNvPr id="32" name="Text 24"/>
          <p:cNvSpPr txBox="1"/>
          <p:nvPr/>
        </p:nvSpPr>
        <p:spPr>
          <a:xfrm>
            <a:off x="9491472" y="4206240"/>
            <a:ext cx="2103120" cy="914400"/>
          </a:xfrm>
          <a:prstGeom prst="rect">
            <a:avLst/>
          </a:prstGeom>
          <a:noFill/>
          <a:ln/>
        </p:spPr>
        <p:txBody>
          <a:bodyPr wrap="square" lIns="0" tIns="0" rIns="0" bIns="0" rtlCol="0" anchor="ctr"/>
          <a:lstStyle/>
          <a:p>
            <a:pPr marL="0" indent="0">
              <a:buNone/>
            </a:pPr>
            <a:r>
              <a:rPr lang="en-US" sz="2200" b="1" dirty="0">
                <a:solidFill>
                  <a:srgbClr val="F87171"/>
                </a:solidFill>
                <a:latin typeface="Calibri" pitchFamily="34" charset="0"/>
                <a:ea typeface="Calibri" pitchFamily="34" charset="-122"/>
                <a:cs typeface="Calibri" pitchFamily="34" charset="-120"/>
              </a:rPr>
              <a:t>Cost-effective</a:t>
            </a:r>
            <a:endParaRPr lang="en-US" sz="2200" dirty="0"/>
          </a:p>
        </p:txBody>
      </p:sp>
      <p:sp>
        <p:nvSpPr>
          <p:cNvPr id="33" name="Text 25"/>
          <p:cNvSpPr txBox="1"/>
          <p:nvPr/>
        </p:nvSpPr>
        <p:spPr>
          <a:xfrm>
            <a:off x="8394192" y="5257800"/>
            <a:ext cx="3108960" cy="640080"/>
          </a:xfrm>
          <a:prstGeom prst="rect">
            <a:avLst/>
          </a:prstGeom>
          <a:noFill/>
          <a:ln/>
        </p:spPr>
        <p:txBody>
          <a:bodyPr wrap="square" lIns="0" tIns="0" rIns="0" bIns="0" rtlCol="0" anchor="ctr"/>
          <a:lstStyle/>
          <a:p>
            <a:pPr marL="0" indent="0">
              <a:buNone/>
            </a:pPr>
            <a:r>
              <a:rPr lang="en-US" sz="1600" dirty="0">
                <a:solidFill>
                  <a:srgbClr val="BFD7EE"/>
                </a:solidFill>
                <a:latin typeface="Calibri" pitchFamily="34" charset="0"/>
                <a:ea typeface="Calibri" pitchFamily="34" charset="-122"/>
                <a:cs typeface="Calibri" pitchFamily="34" charset="-120"/>
              </a:rPr>
              <a:t>No separate network per service</a:t>
            </a:r>
            <a:endParaRPr lang="en-US" sz="1600" dirty="0"/>
          </a:p>
        </p:txBody>
      </p:sp>
      <p:sp>
        <p:nvSpPr>
          <p:cNvPr id="34" name="Slide Number Placeholder 0"/>
          <p:cNvSpPr>
            <a:spLocks noGrp="1"/>
          </p:cNvSpPr>
          <p:nvPr>
            <p:ph type="sldNum" sz="quarter" idx="4294967295"/>
          </p:nvPr>
        </p:nvSpPr>
        <p:spPr>
          <a:xfrm>
            <a:off x="11064240" y="6473952"/>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B3D9"/>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lide chip"/>
          <p:cNvSpPr txBox="1"/>
          <p:nvPr/>
        </p:nvSpPr>
        <p:spPr>
          <a:xfrm>
            <a:off x="457200" y="274320"/>
            <a:ext cx="640080" cy="640080"/>
          </a:xfrm>
          <a:prstGeom prst="roundRect">
            <a:avLst>
              <a:gd name="adj" fmla="val 14286"/>
            </a:avLst>
          </a:prstGeom>
          <a:solidFill>
            <a:srgbClr val="22D3EE"/>
          </a:solidFill>
          <a:ln/>
        </p:spPr>
        <p:txBody>
          <a:bodyPr wrap="square" lIns="0" tIns="0" rIns="0" bIns="0" rtlCol="0" anchor="ctr"/>
          <a:lstStyle/>
          <a:p>
            <a:pPr marL="0" indent="0" algn="ctr">
              <a:buNone/>
            </a:pPr>
            <a:r>
              <a:rPr lang="en-US" sz="2200" b="1" dirty="0">
                <a:solidFill>
                  <a:srgbClr val="071428"/>
                </a:solidFill>
              </a:rPr>
              <a:t>12</a:t>
            </a:r>
            <a:endParaRPr lang="en-US" sz="2200" dirty="0"/>
          </a:p>
        </p:txBody>
      </p:sp>
      <p:sp>
        <p:nvSpPr>
          <p:cNvPr id="3" name="Text 0"/>
          <p:cNvSpPr>
            <a:spLocks noGrp="1"/>
          </p:cNvSpPr>
          <p:nvPr>
            <p:ph type="title" idx="100" hasCustomPrompt="1"/>
          </p:nvPr>
        </p:nvSpPr>
        <p:spPr>
          <a:xfrm>
            <a:off x="1280160" y="256032"/>
            <a:ext cx="10424160" cy="685800"/>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Challenges &amp; Security</a:t>
            </a:r>
            <a:endParaRPr lang="en-US" sz="3000" dirty="0"/>
          </a:p>
        </p:txBody>
      </p:sp>
      <p:sp>
        <p:nvSpPr>
          <p:cNvPr id="4" name="Shape 2"/>
          <p:cNvSpPr/>
          <p:nvPr/>
        </p:nvSpPr>
        <p:spPr>
          <a:xfrm>
            <a:off x="457200" y="1280160"/>
            <a:ext cx="5394960" cy="4937760"/>
          </a:xfrm>
          <a:prstGeom prst="roundRect">
            <a:avLst>
              <a:gd name="adj" fmla="val 2222"/>
            </a:avLst>
          </a:prstGeom>
          <a:solidFill>
            <a:srgbClr val="0E2748"/>
          </a:solidFill>
          <a:ln w="19050">
            <a:solidFill>
              <a:srgbClr val="F87171"/>
            </a:solidFill>
            <a:prstDash val="solid"/>
          </a:ln>
        </p:spPr>
      </p:sp>
      <p:sp>
        <p:nvSpPr>
          <p:cNvPr id="5" name="Shape 3"/>
          <p:cNvSpPr/>
          <p:nvPr/>
        </p:nvSpPr>
        <p:spPr>
          <a:xfrm>
            <a:off x="6336792" y="1280160"/>
            <a:ext cx="5394960" cy="4937760"/>
          </a:xfrm>
          <a:prstGeom prst="roundRect">
            <a:avLst>
              <a:gd name="adj" fmla="val 2222"/>
            </a:avLst>
          </a:prstGeom>
          <a:solidFill>
            <a:srgbClr val="0E2748"/>
          </a:solidFill>
          <a:ln w="19050">
            <a:solidFill>
              <a:srgbClr val="34D399"/>
            </a:solidFill>
            <a:prstDash val="solid"/>
          </a:ln>
        </p:spPr>
      </p:sp>
      <p:pic>
        <p:nvPicPr>
          <p:cNvPr id="6" name="Image 0" descr="preencoded.png"/>
          <p:cNvPicPr>
            <a:picLocks noChangeAspect="1"/>
          </p:cNvPicPr>
          <p:nvPr/>
        </p:nvPicPr>
        <p:blipFill>
          <a:blip r:embed="rId3"/>
          <a:stretch>
            <a:fillRect/>
          </a:stretch>
        </p:blipFill>
        <p:spPr>
          <a:xfrm>
            <a:off x="731520" y="1463040"/>
            <a:ext cx="457200" cy="457200"/>
          </a:xfrm>
          <a:prstGeom prst="rect">
            <a:avLst/>
          </a:prstGeom>
        </p:spPr>
      </p:pic>
      <p:sp>
        <p:nvSpPr>
          <p:cNvPr id="7" name="Text 4"/>
          <p:cNvSpPr txBox="1"/>
          <p:nvPr/>
        </p:nvSpPr>
        <p:spPr>
          <a:xfrm>
            <a:off x="1371600" y="1417320"/>
            <a:ext cx="4114800" cy="548640"/>
          </a:xfrm>
          <a:prstGeom prst="rect">
            <a:avLst/>
          </a:prstGeom>
          <a:noFill/>
          <a:ln/>
        </p:spPr>
        <p:txBody>
          <a:bodyPr wrap="square" lIns="0" tIns="0" rIns="0" bIns="0" rtlCol="0" anchor="ctr"/>
          <a:lstStyle/>
          <a:p>
            <a:pPr marL="0" indent="0">
              <a:buNone/>
            </a:pPr>
            <a:r>
              <a:rPr lang="en-US" sz="2600" b="1" dirty="0">
                <a:solidFill>
                  <a:srgbClr val="F87171"/>
                </a:solidFill>
                <a:latin typeface="Calibri" pitchFamily="34" charset="0"/>
                <a:ea typeface="Calibri" pitchFamily="34" charset="-122"/>
                <a:cs typeface="Calibri" pitchFamily="34" charset="-120"/>
              </a:rPr>
              <a:t>Challenges</a:t>
            </a:r>
            <a:endParaRPr lang="en-US" sz="2600" dirty="0"/>
          </a:p>
        </p:txBody>
      </p:sp>
      <p:pic>
        <p:nvPicPr>
          <p:cNvPr id="8" name="Image 1" descr="preencoded.png"/>
          <p:cNvPicPr>
            <a:picLocks noChangeAspect="1"/>
          </p:cNvPicPr>
          <p:nvPr/>
        </p:nvPicPr>
        <p:blipFill>
          <a:blip r:embed="rId4"/>
          <a:stretch>
            <a:fillRect/>
          </a:stretch>
        </p:blipFill>
        <p:spPr>
          <a:xfrm>
            <a:off x="6611112" y="1463040"/>
            <a:ext cx="457200" cy="457200"/>
          </a:xfrm>
          <a:prstGeom prst="rect">
            <a:avLst/>
          </a:prstGeom>
        </p:spPr>
      </p:pic>
      <p:sp>
        <p:nvSpPr>
          <p:cNvPr id="9" name="Text 5"/>
          <p:cNvSpPr txBox="1"/>
          <p:nvPr/>
        </p:nvSpPr>
        <p:spPr>
          <a:xfrm>
            <a:off x="7251192" y="1417320"/>
            <a:ext cx="4114800" cy="548640"/>
          </a:xfrm>
          <a:prstGeom prst="rect">
            <a:avLst/>
          </a:prstGeom>
          <a:noFill/>
          <a:ln/>
        </p:spPr>
        <p:txBody>
          <a:bodyPr wrap="square" lIns="0" tIns="0" rIns="0" bIns="0" rtlCol="0" anchor="ctr"/>
          <a:lstStyle/>
          <a:p>
            <a:pPr marL="0" indent="0">
              <a:buNone/>
            </a:pPr>
            <a:r>
              <a:rPr lang="en-US" sz="2600" b="1" dirty="0">
                <a:solidFill>
                  <a:srgbClr val="34D399"/>
                </a:solidFill>
                <a:latin typeface="Calibri" pitchFamily="34" charset="0"/>
                <a:ea typeface="Calibri" pitchFamily="34" charset="-122"/>
                <a:cs typeface="Calibri" pitchFamily="34" charset="-120"/>
              </a:rPr>
              <a:t>Security measures</a:t>
            </a:r>
            <a:endParaRPr lang="en-US" sz="2600" dirty="0"/>
          </a:p>
        </p:txBody>
      </p:sp>
      <p:pic>
        <p:nvPicPr>
          <p:cNvPr id="10" name="Image 2" descr="preencoded.png"/>
          <p:cNvPicPr>
            <a:picLocks noChangeAspect="1"/>
          </p:cNvPicPr>
          <p:nvPr/>
        </p:nvPicPr>
        <p:blipFill>
          <a:blip r:embed="rId5"/>
          <a:stretch>
            <a:fillRect/>
          </a:stretch>
        </p:blipFill>
        <p:spPr>
          <a:xfrm>
            <a:off x="777240" y="2359152"/>
            <a:ext cx="384048" cy="384048"/>
          </a:xfrm>
          <a:prstGeom prst="rect">
            <a:avLst/>
          </a:prstGeom>
        </p:spPr>
      </p:pic>
      <p:sp>
        <p:nvSpPr>
          <p:cNvPr id="11" name="Text 6"/>
          <p:cNvSpPr txBox="1"/>
          <p:nvPr/>
        </p:nvSpPr>
        <p:spPr>
          <a:xfrm>
            <a:off x="1371600" y="2286000"/>
            <a:ext cx="4297680" cy="530352"/>
          </a:xfrm>
          <a:prstGeom prst="rect">
            <a:avLst/>
          </a:prstGeom>
          <a:noFill/>
          <a:ln/>
        </p:spPr>
        <p:txBody>
          <a:bodyPr wrap="square" lIns="0" tIns="0" rIns="0" bIns="0" rtlCol="0" anchor="ctr"/>
          <a:lstStyle/>
          <a:p>
            <a:pPr marL="0" indent="0">
              <a:buNone/>
            </a:pPr>
            <a:r>
              <a:rPr lang="en-US" sz="1900" dirty="0">
                <a:solidFill>
                  <a:srgbClr val="FFFFFF"/>
                </a:solidFill>
                <a:latin typeface="Calibri" pitchFamily="34" charset="0"/>
                <a:ea typeface="Calibri" pitchFamily="34" charset="-122"/>
                <a:cs typeface="Calibri" pitchFamily="34" charset="-120"/>
              </a:rPr>
              <a:t>Complex orchestration</a:t>
            </a:r>
            <a:endParaRPr lang="en-US" sz="1900" dirty="0"/>
          </a:p>
        </p:txBody>
      </p:sp>
      <p:pic>
        <p:nvPicPr>
          <p:cNvPr id="12" name="Image 3" descr="preencoded.png"/>
          <p:cNvPicPr>
            <a:picLocks noChangeAspect="1"/>
          </p:cNvPicPr>
          <p:nvPr/>
        </p:nvPicPr>
        <p:blipFill>
          <a:blip r:embed="rId6"/>
          <a:stretch>
            <a:fillRect/>
          </a:stretch>
        </p:blipFill>
        <p:spPr>
          <a:xfrm>
            <a:off x="6656832" y="2359152"/>
            <a:ext cx="384048" cy="384048"/>
          </a:xfrm>
          <a:prstGeom prst="rect">
            <a:avLst/>
          </a:prstGeom>
        </p:spPr>
      </p:pic>
      <p:sp>
        <p:nvSpPr>
          <p:cNvPr id="13" name="Text 7"/>
          <p:cNvSpPr txBox="1"/>
          <p:nvPr/>
        </p:nvSpPr>
        <p:spPr>
          <a:xfrm>
            <a:off x="7251192" y="2286000"/>
            <a:ext cx="4297680" cy="530352"/>
          </a:xfrm>
          <a:prstGeom prst="rect">
            <a:avLst/>
          </a:prstGeom>
          <a:noFill/>
          <a:ln/>
        </p:spPr>
        <p:txBody>
          <a:bodyPr wrap="square" lIns="0" tIns="0" rIns="0" bIns="0" rtlCol="0" anchor="ctr"/>
          <a:lstStyle/>
          <a:p>
            <a:pPr marL="0" indent="0">
              <a:buNone/>
            </a:pPr>
            <a:r>
              <a:rPr lang="en-US" sz="1900" dirty="0">
                <a:solidFill>
                  <a:srgbClr val="FFFFFF"/>
                </a:solidFill>
                <a:latin typeface="Calibri" pitchFamily="34" charset="0"/>
                <a:ea typeface="Calibri" pitchFamily="34" charset="-122"/>
                <a:cs typeface="Calibri" pitchFamily="34" charset="-120"/>
              </a:rPr>
              <a:t>Authentication &amp; access control</a:t>
            </a:r>
            <a:endParaRPr lang="en-US" sz="1900" dirty="0"/>
          </a:p>
        </p:txBody>
      </p:sp>
      <p:pic>
        <p:nvPicPr>
          <p:cNvPr id="14" name="Image 4" descr="preencoded.png"/>
          <p:cNvPicPr>
            <a:picLocks noChangeAspect="1"/>
          </p:cNvPicPr>
          <p:nvPr/>
        </p:nvPicPr>
        <p:blipFill>
          <a:blip r:embed="rId5"/>
          <a:stretch>
            <a:fillRect/>
          </a:stretch>
        </p:blipFill>
        <p:spPr>
          <a:xfrm>
            <a:off x="777240" y="3136392"/>
            <a:ext cx="384048" cy="384048"/>
          </a:xfrm>
          <a:prstGeom prst="rect">
            <a:avLst/>
          </a:prstGeom>
        </p:spPr>
      </p:pic>
      <p:sp>
        <p:nvSpPr>
          <p:cNvPr id="15" name="Text 8"/>
          <p:cNvSpPr txBox="1"/>
          <p:nvPr/>
        </p:nvSpPr>
        <p:spPr>
          <a:xfrm>
            <a:off x="1371600" y="3063240"/>
            <a:ext cx="4297680" cy="530352"/>
          </a:xfrm>
          <a:prstGeom prst="rect">
            <a:avLst/>
          </a:prstGeom>
          <a:noFill/>
          <a:ln/>
        </p:spPr>
        <p:txBody>
          <a:bodyPr wrap="square" lIns="0" tIns="0" rIns="0" bIns="0" rtlCol="0" anchor="ctr"/>
          <a:lstStyle/>
          <a:p>
            <a:pPr marL="0" indent="0">
              <a:buNone/>
            </a:pPr>
            <a:r>
              <a:rPr lang="en-US" sz="1900" dirty="0">
                <a:solidFill>
                  <a:srgbClr val="FFFFFF"/>
                </a:solidFill>
                <a:latin typeface="Calibri" pitchFamily="34" charset="0"/>
                <a:ea typeface="Calibri" pitchFamily="34" charset="-122"/>
                <a:cs typeface="Calibri" pitchFamily="34" charset="-120"/>
              </a:rPr>
              <a:t>Fair resource sharing</a:t>
            </a:r>
            <a:endParaRPr lang="en-US" sz="1900" dirty="0"/>
          </a:p>
        </p:txBody>
      </p:sp>
      <p:pic>
        <p:nvPicPr>
          <p:cNvPr id="16" name="Image 5" descr="preencoded.png"/>
          <p:cNvPicPr>
            <a:picLocks noChangeAspect="1"/>
          </p:cNvPicPr>
          <p:nvPr/>
        </p:nvPicPr>
        <p:blipFill>
          <a:blip r:embed="rId6"/>
          <a:stretch>
            <a:fillRect/>
          </a:stretch>
        </p:blipFill>
        <p:spPr>
          <a:xfrm>
            <a:off x="6656832" y="3136392"/>
            <a:ext cx="384048" cy="384048"/>
          </a:xfrm>
          <a:prstGeom prst="rect">
            <a:avLst/>
          </a:prstGeom>
        </p:spPr>
      </p:pic>
      <p:sp>
        <p:nvSpPr>
          <p:cNvPr id="17" name="Text 9"/>
          <p:cNvSpPr txBox="1"/>
          <p:nvPr/>
        </p:nvSpPr>
        <p:spPr>
          <a:xfrm>
            <a:off x="7251192" y="3063240"/>
            <a:ext cx="4297680" cy="530352"/>
          </a:xfrm>
          <a:prstGeom prst="rect">
            <a:avLst/>
          </a:prstGeom>
          <a:noFill/>
          <a:ln/>
        </p:spPr>
        <p:txBody>
          <a:bodyPr wrap="square" lIns="0" tIns="0" rIns="0" bIns="0" rtlCol="0" anchor="ctr"/>
          <a:lstStyle/>
          <a:p>
            <a:pPr marL="0" indent="0">
              <a:buNone/>
            </a:pPr>
            <a:r>
              <a:rPr lang="en-US" sz="1900" dirty="0">
                <a:solidFill>
                  <a:srgbClr val="FFFFFF"/>
                </a:solidFill>
                <a:latin typeface="Calibri" pitchFamily="34" charset="0"/>
                <a:ea typeface="Calibri" pitchFamily="34" charset="-122"/>
                <a:cs typeface="Calibri" pitchFamily="34" charset="-120"/>
              </a:rPr>
              <a:t>Traffic isolation</a:t>
            </a:r>
            <a:endParaRPr lang="en-US" sz="1900" dirty="0"/>
          </a:p>
        </p:txBody>
      </p:sp>
      <p:pic>
        <p:nvPicPr>
          <p:cNvPr id="18" name="Image 6" descr="preencoded.png"/>
          <p:cNvPicPr>
            <a:picLocks noChangeAspect="1"/>
          </p:cNvPicPr>
          <p:nvPr/>
        </p:nvPicPr>
        <p:blipFill>
          <a:blip r:embed="rId5"/>
          <a:stretch>
            <a:fillRect/>
          </a:stretch>
        </p:blipFill>
        <p:spPr>
          <a:xfrm>
            <a:off x="777240" y="3913632"/>
            <a:ext cx="384048" cy="384048"/>
          </a:xfrm>
          <a:prstGeom prst="rect">
            <a:avLst/>
          </a:prstGeom>
        </p:spPr>
      </p:pic>
      <p:sp>
        <p:nvSpPr>
          <p:cNvPr id="19" name="Text 10"/>
          <p:cNvSpPr txBox="1"/>
          <p:nvPr/>
        </p:nvSpPr>
        <p:spPr>
          <a:xfrm>
            <a:off x="1371600" y="3840480"/>
            <a:ext cx="4297680" cy="530352"/>
          </a:xfrm>
          <a:prstGeom prst="rect">
            <a:avLst/>
          </a:prstGeom>
          <a:noFill/>
          <a:ln/>
        </p:spPr>
        <p:txBody>
          <a:bodyPr wrap="square" lIns="0" tIns="0" rIns="0" bIns="0" rtlCol="0" anchor="ctr"/>
          <a:lstStyle/>
          <a:p>
            <a:pPr marL="0" indent="0">
              <a:buNone/>
            </a:pPr>
            <a:r>
              <a:rPr lang="en-US" sz="1900" dirty="0">
                <a:solidFill>
                  <a:srgbClr val="FFFFFF"/>
                </a:solidFill>
                <a:latin typeface="Calibri" pitchFamily="34" charset="0"/>
                <a:ea typeface="Calibri" pitchFamily="34" charset="-122"/>
                <a:cs typeface="Calibri" pitchFamily="34" charset="-120"/>
              </a:rPr>
              <a:t>Keeping slices isolated</a:t>
            </a:r>
            <a:endParaRPr lang="en-US" sz="1900" dirty="0"/>
          </a:p>
        </p:txBody>
      </p:sp>
      <p:pic>
        <p:nvPicPr>
          <p:cNvPr id="20" name="Image 7" descr="preencoded.png"/>
          <p:cNvPicPr>
            <a:picLocks noChangeAspect="1"/>
          </p:cNvPicPr>
          <p:nvPr/>
        </p:nvPicPr>
        <p:blipFill>
          <a:blip r:embed="rId6"/>
          <a:stretch>
            <a:fillRect/>
          </a:stretch>
        </p:blipFill>
        <p:spPr>
          <a:xfrm>
            <a:off x="6656832" y="3913632"/>
            <a:ext cx="384048" cy="384048"/>
          </a:xfrm>
          <a:prstGeom prst="rect">
            <a:avLst/>
          </a:prstGeom>
        </p:spPr>
      </p:pic>
      <p:sp>
        <p:nvSpPr>
          <p:cNvPr id="21" name="Text 11"/>
          <p:cNvSpPr txBox="1"/>
          <p:nvPr/>
        </p:nvSpPr>
        <p:spPr>
          <a:xfrm>
            <a:off x="7251192" y="3840480"/>
            <a:ext cx="4297680" cy="530352"/>
          </a:xfrm>
          <a:prstGeom prst="rect">
            <a:avLst/>
          </a:prstGeom>
          <a:noFill/>
          <a:ln/>
        </p:spPr>
        <p:txBody>
          <a:bodyPr wrap="square" lIns="0" tIns="0" rIns="0" bIns="0" rtlCol="0" anchor="ctr"/>
          <a:lstStyle/>
          <a:p>
            <a:pPr marL="0" indent="0">
              <a:buNone/>
            </a:pPr>
            <a:r>
              <a:rPr lang="en-US" sz="1900" dirty="0">
                <a:solidFill>
                  <a:srgbClr val="FFFFFF"/>
                </a:solidFill>
                <a:latin typeface="Calibri" pitchFamily="34" charset="0"/>
                <a:ea typeface="Calibri" pitchFamily="34" charset="-122"/>
                <a:cs typeface="Calibri" pitchFamily="34" charset="-120"/>
              </a:rPr>
              <a:t>Threat monitoring</a:t>
            </a:r>
            <a:endParaRPr lang="en-US" sz="1900" dirty="0"/>
          </a:p>
        </p:txBody>
      </p:sp>
      <p:pic>
        <p:nvPicPr>
          <p:cNvPr id="22" name="Image 8" descr="preencoded.png"/>
          <p:cNvPicPr>
            <a:picLocks noChangeAspect="1"/>
          </p:cNvPicPr>
          <p:nvPr/>
        </p:nvPicPr>
        <p:blipFill>
          <a:blip r:embed="rId5"/>
          <a:stretch>
            <a:fillRect/>
          </a:stretch>
        </p:blipFill>
        <p:spPr>
          <a:xfrm>
            <a:off x="777240" y="4690872"/>
            <a:ext cx="384048" cy="384048"/>
          </a:xfrm>
          <a:prstGeom prst="rect">
            <a:avLst/>
          </a:prstGeom>
        </p:spPr>
      </p:pic>
      <p:sp>
        <p:nvSpPr>
          <p:cNvPr id="23" name="Text 12"/>
          <p:cNvSpPr txBox="1"/>
          <p:nvPr/>
        </p:nvSpPr>
        <p:spPr>
          <a:xfrm>
            <a:off x="1371600" y="4617720"/>
            <a:ext cx="4297680" cy="530352"/>
          </a:xfrm>
          <a:prstGeom prst="rect">
            <a:avLst/>
          </a:prstGeom>
          <a:noFill/>
          <a:ln/>
        </p:spPr>
        <p:txBody>
          <a:bodyPr wrap="square" lIns="0" tIns="0" rIns="0" bIns="0" rtlCol="0" anchor="ctr"/>
          <a:lstStyle/>
          <a:p>
            <a:pPr marL="0" indent="0">
              <a:buNone/>
            </a:pPr>
            <a:r>
              <a:rPr lang="en-US" sz="1900" dirty="0">
                <a:solidFill>
                  <a:srgbClr val="FFFFFF"/>
                </a:solidFill>
                <a:latin typeface="Calibri" pitchFamily="34" charset="0"/>
                <a:ea typeface="Calibri" pitchFamily="34" charset="-122"/>
                <a:cs typeface="Calibri" pitchFamily="34" charset="-120"/>
              </a:rPr>
              <a:t>SLA monitoring</a:t>
            </a:r>
            <a:endParaRPr lang="en-US" sz="1900" dirty="0"/>
          </a:p>
        </p:txBody>
      </p:sp>
      <p:pic>
        <p:nvPicPr>
          <p:cNvPr id="24" name="Image 9" descr="preencoded.png"/>
          <p:cNvPicPr>
            <a:picLocks noChangeAspect="1"/>
          </p:cNvPicPr>
          <p:nvPr/>
        </p:nvPicPr>
        <p:blipFill>
          <a:blip r:embed="rId6"/>
          <a:stretch>
            <a:fillRect/>
          </a:stretch>
        </p:blipFill>
        <p:spPr>
          <a:xfrm>
            <a:off x="6656832" y="4690872"/>
            <a:ext cx="384048" cy="384048"/>
          </a:xfrm>
          <a:prstGeom prst="rect">
            <a:avLst/>
          </a:prstGeom>
        </p:spPr>
      </p:pic>
      <p:sp>
        <p:nvSpPr>
          <p:cNvPr id="25" name="Text 13"/>
          <p:cNvSpPr txBox="1"/>
          <p:nvPr/>
        </p:nvSpPr>
        <p:spPr>
          <a:xfrm>
            <a:off x="7251192" y="4617720"/>
            <a:ext cx="4297680" cy="530352"/>
          </a:xfrm>
          <a:prstGeom prst="rect">
            <a:avLst/>
          </a:prstGeom>
          <a:noFill/>
          <a:ln/>
        </p:spPr>
        <p:txBody>
          <a:bodyPr wrap="square" lIns="0" tIns="0" rIns="0" bIns="0" rtlCol="0" anchor="ctr"/>
          <a:lstStyle/>
          <a:p>
            <a:pPr marL="0" indent="0">
              <a:buNone/>
            </a:pPr>
            <a:r>
              <a:rPr lang="en-US" sz="1900" dirty="0">
                <a:solidFill>
                  <a:srgbClr val="FFFFFF"/>
                </a:solidFill>
                <a:latin typeface="Calibri" pitchFamily="34" charset="0"/>
                <a:ea typeface="Calibri" pitchFamily="34" charset="-122"/>
                <a:cs typeface="Calibri" pitchFamily="34" charset="-120"/>
              </a:rPr>
              <a:t>Encryption</a:t>
            </a:r>
            <a:endParaRPr lang="en-US" sz="1900" dirty="0"/>
          </a:p>
        </p:txBody>
      </p:sp>
      <p:pic>
        <p:nvPicPr>
          <p:cNvPr id="26" name="Image 10" descr="preencoded.png"/>
          <p:cNvPicPr>
            <a:picLocks noChangeAspect="1"/>
          </p:cNvPicPr>
          <p:nvPr/>
        </p:nvPicPr>
        <p:blipFill>
          <a:blip r:embed="rId5"/>
          <a:stretch>
            <a:fillRect/>
          </a:stretch>
        </p:blipFill>
        <p:spPr>
          <a:xfrm>
            <a:off x="777240" y="5468112"/>
            <a:ext cx="384048" cy="384048"/>
          </a:xfrm>
          <a:prstGeom prst="rect">
            <a:avLst/>
          </a:prstGeom>
        </p:spPr>
      </p:pic>
      <p:sp>
        <p:nvSpPr>
          <p:cNvPr id="27" name="Text 14"/>
          <p:cNvSpPr txBox="1"/>
          <p:nvPr/>
        </p:nvSpPr>
        <p:spPr>
          <a:xfrm>
            <a:off x="1371600" y="5394960"/>
            <a:ext cx="4297680" cy="530352"/>
          </a:xfrm>
          <a:prstGeom prst="rect">
            <a:avLst/>
          </a:prstGeom>
          <a:noFill/>
          <a:ln/>
        </p:spPr>
        <p:txBody>
          <a:bodyPr wrap="square" lIns="0" tIns="0" rIns="0" bIns="0" rtlCol="0" anchor="ctr"/>
          <a:lstStyle/>
          <a:p>
            <a:pPr marL="0" indent="0">
              <a:buNone/>
            </a:pPr>
            <a:r>
              <a:rPr lang="en-US" sz="1900" dirty="0">
                <a:solidFill>
                  <a:srgbClr val="FFFFFF"/>
                </a:solidFill>
                <a:latin typeface="Calibri" pitchFamily="34" charset="0"/>
                <a:ea typeface="Calibri" pitchFamily="34" charset="-122"/>
                <a:cs typeface="Calibri" pitchFamily="34" charset="-120"/>
              </a:rPr>
              <a:t>High operational cost</a:t>
            </a:r>
            <a:endParaRPr lang="en-US" sz="1900" dirty="0"/>
          </a:p>
        </p:txBody>
      </p:sp>
      <p:pic>
        <p:nvPicPr>
          <p:cNvPr id="28" name="Image 11" descr="preencoded.png"/>
          <p:cNvPicPr>
            <a:picLocks noChangeAspect="1"/>
          </p:cNvPicPr>
          <p:nvPr/>
        </p:nvPicPr>
        <p:blipFill>
          <a:blip r:embed="rId6"/>
          <a:stretch>
            <a:fillRect/>
          </a:stretch>
        </p:blipFill>
        <p:spPr>
          <a:xfrm>
            <a:off x="6656832" y="5468112"/>
            <a:ext cx="384048" cy="384048"/>
          </a:xfrm>
          <a:prstGeom prst="rect">
            <a:avLst/>
          </a:prstGeom>
        </p:spPr>
      </p:pic>
      <p:sp>
        <p:nvSpPr>
          <p:cNvPr id="29" name="Text 15"/>
          <p:cNvSpPr txBox="1"/>
          <p:nvPr/>
        </p:nvSpPr>
        <p:spPr>
          <a:xfrm>
            <a:off x="7251192" y="5394960"/>
            <a:ext cx="4297680" cy="530352"/>
          </a:xfrm>
          <a:prstGeom prst="rect">
            <a:avLst/>
          </a:prstGeom>
          <a:noFill/>
          <a:ln/>
        </p:spPr>
        <p:txBody>
          <a:bodyPr wrap="square" lIns="0" tIns="0" rIns="0" bIns="0" rtlCol="0" anchor="ctr"/>
          <a:lstStyle/>
          <a:p>
            <a:pPr marL="0" indent="0">
              <a:buNone/>
            </a:pPr>
            <a:r>
              <a:rPr lang="en-US" sz="1900" dirty="0">
                <a:solidFill>
                  <a:srgbClr val="FFFFFF"/>
                </a:solidFill>
                <a:latin typeface="Calibri" pitchFamily="34" charset="0"/>
                <a:ea typeface="Calibri" pitchFamily="34" charset="-122"/>
                <a:cs typeface="Calibri" pitchFamily="34" charset="-120"/>
              </a:rPr>
              <a:t>Regular updates &amp; testing</a:t>
            </a:r>
            <a:endParaRPr lang="en-US" sz="1900" dirty="0"/>
          </a:p>
        </p:txBody>
      </p:sp>
      <p:sp>
        <p:nvSpPr>
          <p:cNvPr id="30" name="Shape 16"/>
          <p:cNvSpPr/>
          <p:nvPr/>
        </p:nvSpPr>
        <p:spPr>
          <a:xfrm>
            <a:off x="5742432" y="3520440"/>
            <a:ext cx="694944" cy="694944"/>
          </a:xfrm>
          <a:prstGeom prst="ellipse">
            <a:avLst/>
          </a:prstGeom>
          <a:solidFill>
            <a:srgbClr val="071428"/>
          </a:solidFill>
          <a:ln w="25400">
            <a:solidFill>
              <a:srgbClr val="22D3EE"/>
            </a:solidFill>
            <a:prstDash val="solid"/>
          </a:ln>
        </p:spPr>
      </p:sp>
      <p:pic>
        <p:nvPicPr>
          <p:cNvPr id="31" name="Image 12" descr="preencoded.png"/>
          <p:cNvPicPr>
            <a:picLocks noChangeAspect="1"/>
          </p:cNvPicPr>
          <p:nvPr/>
        </p:nvPicPr>
        <p:blipFill>
          <a:blip r:embed="rId7"/>
          <a:stretch>
            <a:fillRect/>
          </a:stretch>
        </p:blipFill>
        <p:spPr>
          <a:xfrm>
            <a:off x="5916168" y="3694176"/>
            <a:ext cx="347472" cy="347472"/>
          </a:xfrm>
          <a:prstGeom prst="rect">
            <a:avLst/>
          </a:prstGeom>
        </p:spPr>
      </p:pic>
      <p:sp>
        <p:nvSpPr>
          <p:cNvPr id="32" name="Slide Number Placeholder 0"/>
          <p:cNvSpPr>
            <a:spLocks noGrp="1"/>
          </p:cNvSpPr>
          <p:nvPr>
            <p:ph type="sldNum" sz="quarter" idx="4294967295"/>
          </p:nvPr>
        </p:nvSpPr>
        <p:spPr>
          <a:xfrm>
            <a:off x="11064240" y="6473952"/>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B3D9"/>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lide chip"/>
          <p:cNvSpPr txBox="1"/>
          <p:nvPr/>
        </p:nvSpPr>
        <p:spPr>
          <a:xfrm>
            <a:off x="457200" y="274320"/>
            <a:ext cx="640080" cy="640080"/>
          </a:xfrm>
          <a:prstGeom prst="roundRect">
            <a:avLst>
              <a:gd name="adj" fmla="val 14286"/>
            </a:avLst>
          </a:prstGeom>
          <a:solidFill>
            <a:srgbClr val="22D3EE"/>
          </a:solidFill>
          <a:ln/>
        </p:spPr>
        <p:txBody>
          <a:bodyPr wrap="square" lIns="0" tIns="0" rIns="0" bIns="0" rtlCol="0" anchor="ctr"/>
          <a:lstStyle/>
          <a:p>
            <a:pPr marL="0" indent="0" algn="ctr">
              <a:buNone/>
            </a:pPr>
            <a:r>
              <a:rPr lang="en-US" sz="2200" b="1" dirty="0">
                <a:solidFill>
                  <a:srgbClr val="071428"/>
                </a:solidFill>
              </a:rPr>
              <a:t>13</a:t>
            </a:r>
            <a:endParaRPr lang="en-US" sz="2200" dirty="0"/>
          </a:p>
        </p:txBody>
      </p:sp>
      <p:sp>
        <p:nvSpPr>
          <p:cNvPr id="3" name="Text 0"/>
          <p:cNvSpPr>
            <a:spLocks noGrp="1"/>
          </p:cNvSpPr>
          <p:nvPr>
            <p:ph type="title" idx="100" hasCustomPrompt="1"/>
          </p:nvPr>
        </p:nvSpPr>
        <p:spPr>
          <a:xfrm>
            <a:off x="1280160" y="256032"/>
            <a:ext cx="10424160" cy="685800"/>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Real-World Applications</a:t>
            </a:r>
            <a:endParaRPr lang="en-US" sz="3000" dirty="0"/>
          </a:p>
        </p:txBody>
      </p:sp>
      <p:sp>
        <p:nvSpPr>
          <p:cNvPr id="4" name="Shape 2"/>
          <p:cNvSpPr/>
          <p:nvPr/>
        </p:nvSpPr>
        <p:spPr>
          <a:xfrm>
            <a:off x="457200" y="1371600"/>
            <a:ext cx="2103120" cy="4754880"/>
          </a:xfrm>
          <a:prstGeom prst="roundRect">
            <a:avLst>
              <a:gd name="adj" fmla="val 5217"/>
            </a:avLst>
          </a:prstGeom>
          <a:solidFill>
            <a:srgbClr val="0E2748"/>
          </a:solidFill>
          <a:ln w="19050">
            <a:solidFill>
              <a:srgbClr val="A78BFA"/>
            </a:solidFill>
            <a:prstDash val="solid"/>
          </a:ln>
        </p:spPr>
      </p:sp>
      <p:sp>
        <p:nvSpPr>
          <p:cNvPr id="5" name="Shape 3"/>
          <p:cNvSpPr/>
          <p:nvPr/>
        </p:nvSpPr>
        <p:spPr>
          <a:xfrm>
            <a:off x="914400" y="1645920"/>
            <a:ext cx="1188720" cy="1188720"/>
          </a:xfrm>
          <a:prstGeom prst="ellipse">
            <a:avLst/>
          </a:prstGeom>
          <a:solidFill>
            <a:srgbClr val="0A1F3C"/>
          </a:solidFill>
          <a:ln w="22225">
            <a:solidFill>
              <a:srgbClr val="A78BFA"/>
            </a:solidFill>
            <a:prstDash val="solid"/>
          </a:ln>
        </p:spPr>
      </p:sp>
      <p:pic>
        <p:nvPicPr>
          <p:cNvPr id="6" name="Image 0" descr="preencoded.png"/>
          <p:cNvPicPr>
            <a:picLocks noChangeAspect="1"/>
          </p:cNvPicPr>
          <p:nvPr/>
        </p:nvPicPr>
        <p:blipFill>
          <a:blip r:embed="rId3"/>
          <a:stretch>
            <a:fillRect/>
          </a:stretch>
        </p:blipFill>
        <p:spPr>
          <a:xfrm>
            <a:off x="1234440" y="1965960"/>
            <a:ext cx="548640" cy="548640"/>
          </a:xfrm>
          <a:prstGeom prst="rect">
            <a:avLst/>
          </a:prstGeom>
        </p:spPr>
      </p:pic>
      <p:sp>
        <p:nvSpPr>
          <p:cNvPr id="7" name="Text 4"/>
          <p:cNvSpPr txBox="1"/>
          <p:nvPr/>
        </p:nvSpPr>
        <p:spPr>
          <a:xfrm>
            <a:off x="548640" y="3108960"/>
            <a:ext cx="1920240" cy="822960"/>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Smart healthcare</a:t>
            </a:r>
            <a:endParaRPr lang="en-US" sz="1900" dirty="0"/>
          </a:p>
        </p:txBody>
      </p:sp>
      <p:sp>
        <p:nvSpPr>
          <p:cNvPr id="8" name="Text 5"/>
          <p:cNvSpPr txBox="1"/>
          <p:nvPr/>
        </p:nvSpPr>
        <p:spPr>
          <a:xfrm>
            <a:off x="548640" y="3977640"/>
            <a:ext cx="1920240" cy="548640"/>
          </a:xfrm>
          <a:prstGeom prst="rect">
            <a:avLst/>
          </a:prstGeom>
          <a:noFill/>
          <a:ln/>
        </p:spPr>
        <p:txBody>
          <a:bodyPr wrap="square" lIns="0" tIns="0" rIns="0" bIns="0" rtlCol="0" anchor="ctr"/>
          <a:lstStyle/>
          <a:p>
            <a:pPr marL="0" indent="0" algn="ctr">
              <a:buNone/>
            </a:pPr>
            <a:r>
              <a:rPr lang="en-US" sz="1400" dirty="0">
                <a:solidFill>
                  <a:srgbClr val="BFD7EE"/>
                </a:solidFill>
                <a:latin typeface="Calibri" pitchFamily="34" charset="0"/>
                <a:ea typeface="Calibri" pitchFamily="34" charset="-122"/>
                <a:cs typeface="Calibri" pitchFamily="34" charset="-120"/>
              </a:rPr>
              <a:t>Remote monitoring</a:t>
            </a:r>
            <a:endParaRPr lang="en-US" sz="1400" dirty="0"/>
          </a:p>
        </p:txBody>
      </p:sp>
      <p:sp>
        <p:nvSpPr>
          <p:cNvPr id="9" name="Text 6"/>
          <p:cNvSpPr txBox="1"/>
          <p:nvPr/>
        </p:nvSpPr>
        <p:spPr>
          <a:xfrm>
            <a:off x="868680" y="5029200"/>
            <a:ext cx="1280160" cy="457200"/>
          </a:xfrm>
          <a:prstGeom prst="roundRect">
            <a:avLst>
              <a:gd name="adj" fmla="val 20000"/>
            </a:avLst>
          </a:prstGeom>
          <a:solidFill>
            <a:srgbClr val="A78BFA"/>
          </a:solidFill>
          <a:ln/>
        </p:spPr>
        <p:txBody>
          <a:bodyPr wrap="square" lIns="0" tIns="0" rIns="0" bIns="0" rtlCol="0" anchor="ctr"/>
          <a:lstStyle/>
          <a:p>
            <a:pPr marL="0" indent="0" algn="ctr">
              <a:buNone/>
            </a:pPr>
            <a:r>
              <a:rPr lang="en-US" sz="1600" b="1" dirty="0">
                <a:solidFill>
                  <a:srgbClr val="071428"/>
                </a:solidFill>
              </a:rPr>
              <a:t>URLLC</a:t>
            </a:r>
            <a:endParaRPr lang="en-US" sz="1600" dirty="0"/>
          </a:p>
        </p:txBody>
      </p:sp>
      <p:sp>
        <p:nvSpPr>
          <p:cNvPr id="10" name="Shape 7"/>
          <p:cNvSpPr/>
          <p:nvPr/>
        </p:nvSpPr>
        <p:spPr>
          <a:xfrm>
            <a:off x="2743200" y="1371600"/>
            <a:ext cx="2103120" cy="4754880"/>
          </a:xfrm>
          <a:prstGeom prst="roundRect">
            <a:avLst>
              <a:gd name="adj" fmla="val 5217"/>
            </a:avLst>
          </a:prstGeom>
          <a:solidFill>
            <a:srgbClr val="0E2748"/>
          </a:solidFill>
          <a:ln w="19050">
            <a:solidFill>
              <a:srgbClr val="A78BFA"/>
            </a:solidFill>
            <a:prstDash val="solid"/>
          </a:ln>
        </p:spPr>
      </p:sp>
      <p:sp>
        <p:nvSpPr>
          <p:cNvPr id="11" name="Shape 8"/>
          <p:cNvSpPr/>
          <p:nvPr/>
        </p:nvSpPr>
        <p:spPr>
          <a:xfrm>
            <a:off x="3200400" y="1645920"/>
            <a:ext cx="1188720" cy="1188720"/>
          </a:xfrm>
          <a:prstGeom prst="ellipse">
            <a:avLst/>
          </a:prstGeom>
          <a:solidFill>
            <a:srgbClr val="0A1F3C"/>
          </a:solidFill>
          <a:ln w="22225">
            <a:solidFill>
              <a:srgbClr val="A78BFA"/>
            </a:solidFill>
            <a:prstDash val="solid"/>
          </a:ln>
        </p:spPr>
      </p:sp>
      <p:pic>
        <p:nvPicPr>
          <p:cNvPr id="12" name="Image 1" descr="preencoded.png"/>
          <p:cNvPicPr>
            <a:picLocks noChangeAspect="1"/>
          </p:cNvPicPr>
          <p:nvPr/>
        </p:nvPicPr>
        <p:blipFill>
          <a:blip r:embed="rId4"/>
          <a:stretch>
            <a:fillRect/>
          </a:stretch>
        </p:blipFill>
        <p:spPr>
          <a:xfrm>
            <a:off x="3520440" y="1965960"/>
            <a:ext cx="548640" cy="548640"/>
          </a:xfrm>
          <a:prstGeom prst="rect">
            <a:avLst/>
          </a:prstGeom>
        </p:spPr>
      </p:pic>
      <p:sp>
        <p:nvSpPr>
          <p:cNvPr id="13" name="Text 9"/>
          <p:cNvSpPr txBox="1"/>
          <p:nvPr/>
        </p:nvSpPr>
        <p:spPr>
          <a:xfrm>
            <a:off x="2834640" y="3108960"/>
            <a:ext cx="1920240" cy="822960"/>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Smart manufacturing</a:t>
            </a:r>
            <a:endParaRPr lang="en-US" sz="1900" dirty="0"/>
          </a:p>
        </p:txBody>
      </p:sp>
      <p:sp>
        <p:nvSpPr>
          <p:cNvPr id="14" name="Text 10"/>
          <p:cNvSpPr txBox="1"/>
          <p:nvPr/>
        </p:nvSpPr>
        <p:spPr>
          <a:xfrm>
            <a:off x="2834640" y="3977640"/>
            <a:ext cx="1920240" cy="548640"/>
          </a:xfrm>
          <a:prstGeom prst="rect">
            <a:avLst/>
          </a:prstGeom>
          <a:noFill/>
          <a:ln/>
        </p:spPr>
        <p:txBody>
          <a:bodyPr wrap="square" lIns="0" tIns="0" rIns="0" bIns="0" rtlCol="0" anchor="ctr"/>
          <a:lstStyle/>
          <a:p>
            <a:pPr marL="0" indent="0" algn="ctr">
              <a:buNone/>
            </a:pPr>
            <a:r>
              <a:rPr lang="en-US" sz="1400" dirty="0">
                <a:solidFill>
                  <a:srgbClr val="BFD7EE"/>
                </a:solidFill>
                <a:latin typeface="Calibri" pitchFamily="34" charset="0"/>
                <a:ea typeface="Calibri" pitchFamily="34" charset="-122"/>
                <a:cs typeface="Calibri" pitchFamily="34" charset="-120"/>
              </a:rPr>
              <a:t>Connected robots</a:t>
            </a:r>
            <a:endParaRPr lang="en-US" sz="1400" dirty="0"/>
          </a:p>
        </p:txBody>
      </p:sp>
      <p:sp>
        <p:nvSpPr>
          <p:cNvPr id="15" name="Text 11"/>
          <p:cNvSpPr txBox="1"/>
          <p:nvPr/>
        </p:nvSpPr>
        <p:spPr>
          <a:xfrm>
            <a:off x="3154680" y="5029200"/>
            <a:ext cx="1280160" cy="457200"/>
          </a:xfrm>
          <a:prstGeom prst="roundRect">
            <a:avLst>
              <a:gd name="adj" fmla="val 20000"/>
            </a:avLst>
          </a:prstGeom>
          <a:solidFill>
            <a:srgbClr val="A78BFA"/>
          </a:solidFill>
          <a:ln/>
        </p:spPr>
        <p:txBody>
          <a:bodyPr wrap="square" lIns="0" tIns="0" rIns="0" bIns="0" rtlCol="0" anchor="ctr"/>
          <a:lstStyle/>
          <a:p>
            <a:pPr marL="0" indent="0" algn="ctr">
              <a:buNone/>
            </a:pPr>
            <a:r>
              <a:rPr lang="en-US" sz="1600" b="1" dirty="0">
                <a:solidFill>
                  <a:srgbClr val="071428"/>
                </a:solidFill>
              </a:rPr>
              <a:t>URLLC</a:t>
            </a:r>
            <a:endParaRPr lang="en-US" sz="1600" dirty="0"/>
          </a:p>
        </p:txBody>
      </p:sp>
      <p:sp>
        <p:nvSpPr>
          <p:cNvPr id="16" name="Shape 12"/>
          <p:cNvSpPr/>
          <p:nvPr/>
        </p:nvSpPr>
        <p:spPr>
          <a:xfrm>
            <a:off x="5029200" y="1371600"/>
            <a:ext cx="2103120" cy="4754880"/>
          </a:xfrm>
          <a:prstGeom prst="roundRect">
            <a:avLst>
              <a:gd name="adj" fmla="val 5217"/>
            </a:avLst>
          </a:prstGeom>
          <a:solidFill>
            <a:srgbClr val="0E2748"/>
          </a:solidFill>
          <a:ln w="19050">
            <a:solidFill>
              <a:srgbClr val="A78BFA"/>
            </a:solidFill>
            <a:prstDash val="solid"/>
          </a:ln>
        </p:spPr>
      </p:sp>
      <p:sp>
        <p:nvSpPr>
          <p:cNvPr id="17" name="Shape 13"/>
          <p:cNvSpPr/>
          <p:nvPr/>
        </p:nvSpPr>
        <p:spPr>
          <a:xfrm>
            <a:off x="5486400" y="1645920"/>
            <a:ext cx="1188720" cy="1188720"/>
          </a:xfrm>
          <a:prstGeom prst="ellipse">
            <a:avLst/>
          </a:prstGeom>
          <a:solidFill>
            <a:srgbClr val="0A1F3C"/>
          </a:solidFill>
          <a:ln w="22225">
            <a:solidFill>
              <a:srgbClr val="A78BFA"/>
            </a:solidFill>
            <a:prstDash val="solid"/>
          </a:ln>
        </p:spPr>
      </p:sp>
      <p:pic>
        <p:nvPicPr>
          <p:cNvPr id="18" name="Image 2" descr="preencoded.png"/>
          <p:cNvPicPr>
            <a:picLocks noChangeAspect="1"/>
          </p:cNvPicPr>
          <p:nvPr/>
        </p:nvPicPr>
        <p:blipFill>
          <a:blip r:embed="rId5"/>
          <a:stretch>
            <a:fillRect/>
          </a:stretch>
        </p:blipFill>
        <p:spPr>
          <a:xfrm>
            <a:off x="5806440" y="1965960"/>
            <a:ext cx="548640" cy="548640"/>
          </a:xfrm>
          <a:prstGeom prst="rect">
            <a:avLst/>
          </a:prstGeom>
        </p:spPr>
      </p:pic>
      <p:sp>
        <p:nvSpPr>
          <p:cNvPr id="19" name="Text 14"/>
          <p:cNvSpPr txBox="1"/>
          <p:nvPr/>
        </p:nvSpPr>
        <p:spPr>
          <a:xfrm>
            <a:off x="5120640" y="3108960"/>
            <a:ext cx="1920240" cy="822960"/>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Autonomous vehicles</a:t>
            </a:r>
            <a:endParaRPr lang="en-US" sz="1900" dirty="0"/>
          </a:p>
        </p:txBody>
      </p:sp>
      <p:sp>
        <p:nvSpPr>
          <p:cNvPr id="20" name="Text 15"/>
          <p:cNvSpPr txBox="1"/>
          <p:nvPr/>
        </p:nvSpPr>
        <p:spPr>
          <a:xfrm>
            <a:off x="5120640" y="3977640"/>
            <a:ext cx="1920240" cy="548640"/>
          </a:xfrm>
          <a:prstGeom prst="rect">
            <a:avLst/>
          </a:prstGeom>
          <a:noFill/>
          <a:ln/>
        </p:spPr>
        <p:txBody>
          <a:bodyPr wrap="square" lIns="0" tIns="0" rIns="0" bIns="0" rtlCol="0" anchor="ctr"/>
          <a:lstStyle/>
          <a:p>
            <a:pPr marL="0" indent="0" algn="ctr">
              <a:buNone/>
            </a:pPr>
            <a:r>
              <a:rPr lang="en-US" sz="1400" dirty="0">
                <a:solidFill>
                  <a:srgbClr val="BFD7EE"/>
                </a:solidFill>
                <a:latin typeface="Calibri" pitchFamily="34" charset="0"/>
                <a:ea typeface="Calibri" pitchFamily="34" charset="-122"/>
                <a:cs typeface="Calibri" pitchFamily="34" charset="-120"/>
              </a:rPr>
              <a:t>Connected transport</a:t>
            </a:r>
            <a:endParaRPr lang="en-US" sz="1400" dirty="0"/>
          </a:p>
        </p:txBody>
      </p:sp>
      <p:sp>
        <p:nvSpPr>
          <p:cNvPr id="21" name="Text 16"/>
          <p:cNvSpPr txBox="1"/>
          <p:nvPr/>
        </p:nvSpPr>
        <p:spPr>
          <a:xfrm>
            <a:off x="5440680" y="5029200"/>
            <a:ext cx="1280160" cy="457200"/>
          </a:xfrm>
          <a:prstGeom prst="roundRect">
            <a:avLst>
              <a:gd name="adj" fmla="val 20000"/>
            </a:avLst>
          </a:prstGeom>
          <a:solidFill>
            <a:srgbClr val="A78BFA"/>
          </a:solidFill>
          <a:ln/>
        </p:spPr>
        <p:txBody>
          <a:bodyPr wrap="square" lIns="0" tIns="0" rIns="0" bIns="0" rtlCol="0" anchor="ctr"/>
          <a:lstStyle/>
          <a:p>
            <a:pPr marL="0" indent="0" algn="ctr">
              <a:buNone/>
            </a:pPr>
            <a:r>
              <a:rPr lang="en-US" sz="1600" b="1" dirty="0">
                <a:solidFill>
                  <a:srgbClr val="071428"/>
                </a:solidFill>
              </a:rPr>
              <a:t>URLLC</a:t>
            </a:r>
            <a:endParaRPr lang="en-US" sz="1600" dirty="0"/>
          </a:p>
        </p:txBody>
      </p:sp>
      <p:sp>
        <p:nvSpPr>
          <p:cNvPr id="22" name="Shape 17"/>
          <p:cNvSpPr/>
          <p:nvPr/>
        </p:nvSpPr>
        <p:spPr>
          <a:xfrm>
            <a:off x="7315200" y="1371600"/>
            <a:ext cx="2103120" cy="4754880"/>
          </a:xfrm>
          <a:prstGeom prst="roundRect">
            <a:avLst>
              <a:gd name="adj" fmla="val 5217"/>
            </a:avLst>
          </a:prstGeom>
          <a:solidFill>
            <a:srgbClr val="0E2748"/>
          </a:solidFill>
          <a:ln w="19050">
            <a:solidFill>
              <a:srgbClr val="34D399"/>
            </a:solidFill>
            <a:prstDash val="solid"/>
          </a:ln>
        </p:spPr>
      </p:sp>
      <p:sp>
        <p:nvSpPr>
          <p:cNvPr id="23" name="Shape 18"/>
          <p:cNvSpPr/>
          <p:nvPr/>
        </p:nvSpPr>
        <p:spPr>
          <a:xfrm>
            <a:off x="7772400" y="1645920"/>
            <a:ext cx="1188720" cy="1188720"/>
          </a:xfrm>
          <a:prstGeom prst="ellipse">
            <a:avLst/>
          </a:prstGeom>
          <a:solidFill>
            <a:srgbClr val="0A1F3C"/>
          </a:solidFill>
          <a:ln w="22225">
            <a:solidFill>
              <a:srgbClr val="34D399"/>
            </a:solidFill>
            <a:prstDash val="solid"/>
          </a:ln>
        </p:spPr>
      </p:sp>
      <p:pic>
        <p:nvPicPr>
          <p:cNvPr id="24" name="Image 3" descr="preencoded.png"/>
          <p:cNvPicPr>
            <a:picLocks noChangeAspect="1"/>
          </p:cNvPicPr>
          <p:nvPr/>
        </p:nvPicPr>
        <p:blipFill>
          <a:blip r:embed="rId6"/>
          <a:stretch>
            <a:fillRect/>
          </a:stretch>
        </p:blipFill>
        <p:spPr>
          <a:xfrm>
            <a:off x="8092440" y="1965960"/>
            <a:ext cx="548640" cy="548640"/>
          </a:xfrm>
          <a:prstGeom prst="rect">
            <a:avLst/>
          </a:prstGeom>
        </p:spPr>
      </p:pic>
      <p:sp>
        <p:nvSpPr>
          <p:cNvPr id="25" name="Text 19"/>
          <p:cNvSpPr txBox="1"/>
          <p:nvPr/>
        </p:nvSpPr>
        <p:spPr>
          <a:xfrm>
            <a:off x="7406640" y="3108960"/>
            <a:ext cx="1920240" cy="822960"/>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Smart cities</a:t>
            </a:r>
            <a:endParaRPr lang="en-US" sz="1900" dirty="0"/>
          </a:p>
        </p:txBody>
      </p:sp>
      <p:sp>
        <p:nvSpPr>
          <p:cNvPr id="26" name="Text 20"/>
          <p:cNvSpPr txBox="1"/>
          <p:nvPr/>
        </p:nvSpPr>
        <p:spPr>
          <a:xfrm>
            <a:off x="7406640" y="3977640"/>
            <a:ext cx="1920240" cy="548640"/>
          </a:xfrm>
          <a:prstGeom prst="rect">
            <a:avLst/>
          </a:prstGeom>
          <a:noFill/>
          <a:ln/>
        </p:spPr>
        <p:txBody>
          <a:bodyPr wrap="square" lIns="0" tIns="0" rIns="0" bIns="0" rtlCol="0" anchor="ctr"/>
          <a:lstStyle/>
          <a:p>
            <a:pPr marL="0" indent="0" algn="ctr">
              <a:buNone/>
            </a:pPr>
            <a:r>
              <a:rPr lang="en-US" sz="1400" dirty="0">
                <a:solidFill>
                  <a:srgbClr val="BFD7EE"/>
                </a:solidFill>
                <a:latin typeface="Calibri" pitchFamily="34" charset="0"/>
                <a:ea typeface="Calibri" pitchFamily="34" charset="-122"/>
                <a:cs typeface="Calibri" pitchFamily="34" charset="-120"/>
              </a:rPr>
              <a:t>Sensors &amp; cameras</a:t>
            </a:r>
            <a:endParaRPr lang="en-US" sz="1400" dirty="0"/>
          </a:p>
        </p:txBody>
      </p:sp>
      <p:sp>
        <p:nvSpPr>
          <p:cNvPr id="27" name="Text 21"/>
          <p:cNvSpPr txBox="1"/>
          <p:nvPr/>
        </p:nvSpPr>
        <p:spPr>
          <a:xfrm>
            <a:off x="7726680" y="5029200"/>
            <a:ext cx="1280160" cy="457200"/>
          </a:xfrm>
          <a:prstGeom prst="roundRect">
            <a:avLst>
              <a:gd name="adj" fmla="val 20000"/>
            </a:avLst>
          </a:prstGeom>
          <a:solidFill>
            <a:srgbClr val="34D399"/>
          </a:solidFill>
          <a:ln/>
        </p:spPr>
        <p:txBody>
          <a:bodyPr wrap="square" lIns="0" tIns="0" rIns="0" bIns="0" rtlCol="0" anchor="ctr"/>
          <a:lstStyle/>
          <a:p>
            <a:pPr marL="0" indent="0" algn="ctr">
              <a:buNone/>
            </a:pPr>
            <a:r>
              <a:rPr lang="en-US" sz="1600" b="1" dirty="0">
                <a:solidFill>
                  <a:srgbClr val="071428"/>
                </a:solidFill>
              </a:rPr>
              <a:t>mMTC</a:t>
            </a:r>
            <a:endParaRPr lang="en-US" sz="1600" dirty="0"/>
          </a:p>
        </p:txBody>
      </p:sp>
      <p:sp>
        <p:nvSpPr>
          <p:cNvPr id="28" name="Shape 22"/>
          <p:cNvSpPr/>
          <p:nvPr/>
        </p:nvSpPr>
        <p:spPr>
          <a:xfrm>
            <a:off x="9601200" y="1371600"/>
            <a:ext cx="2103120" cy="4754880"/>
          </a:xfrm>
          <a:prstGeom prst="roundRect">
            <a:avLst>
              <a:gd name="adj" fmla="val 5217"/>
            </a:avLst>
          </a:prstGeom>
          <a:solidFill>
            <a:srgbClr val="0E2748"/>
          </a:solidFill>
          <a:ln w="19050">
            <a:solidFill>
              <a:srgbClr val="22D3EE"/>
            </a:solidFill>
            <a:prstDash val="solid"/>
          </a:ln>
        </p:spPr>
      </p:sp>
      <p:sp>
        <p:nvSpPr>
          <p:cNvPr id="29" name="Shape 23"/>
          <p:cNvSpPr/>
          <p:nvPr/>
        </p:nvSpPr>
        <p:spPr>
          <a:xfrm>
            <a:off x="10058400" y="1645920"/>
            <a:ext cx="1188720" cy="1188720"/>
          </a:xfrm>
          <a:prstGeom prst="ellipse">
            <a:avLst/>
          </a:prstGeom>
          <a:solidFill>
            <a:srgbClr val="0A1F3C"/>
          </a:solidFill>
          <a:ln w="22225">
            <a:solidFill>
              <a:srgbClr val="22D3EE"/>
            </a:solidFill>
            <a:prstDash val="solid"/>
          </a:ln>
        </p:spPr>
      </p:sp>
      <p:pic>
        <p:nvPicPr>
          <p:cNvPr id="30" name="Image 4" descr="preencoded.png"/>
          <p:cNvPicPr>
            <a:picLocks noChangeAspect="1"/>
          </p:cNvPicPr>
          <p:nvPr/>
        </p:nvPicPr>
        <p:blipFill>
          <a:blip r:embed="rId7"/>
          <a:stretch>
            <a:fillRect/>
          </a:stretch>
        </p:blipFill>
        <p:spPr>
          <a:xfrm>
            <a:off x="10378440" y="1965960"/>
            <a:ext cx="548640" cy="548640"/>
          </a:xfrm>
          <a:prstGeom prst="rect">
            <a:avLst/>
          </a:prstGeom>
        </p:spPr>
      </p:pic>
      <p:sp>
        <p:nvSpPr>
          <p:cNvPr id="31" name="Text 24"/>
          <p:cNvSpPr txBox="1"/>
          <p:nvPr/>
        </p:nvSpPr>
        <p:spPr>
          <a:xfrm>
            <a:off x="9692640" y="3108960"/>
            <a:ext cx="1920240" cy="822960"/>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Immersive apps</a:t>
            </a:r>
            <a:endParaRPr lang="en-US" sz="1900" dirty="0"/>
          </a:p>
        </p:txBody>
      </p:sp>
      <p:sp>
        <p:nvSpPr>
          <p:cNvPr id="32" name="Text 25"/>
          <p:cNvSpPr txBox="1"/>
          <p:nvPr/>
        </p:nvSpPr>
        <p:spPr>
          <a:xfrm>
            <a:off x="9692640" y="3977640"/>
            <a:ext cx="1920240" cy="548640"/>
          </a:xfrm>
          <a:prstGeom prst="rect">
            <a:avLst/>
          </a:prstGeom>
          <a:noFill/>
          <a:ln/>
        </p:spPr>
        <p:txBody>
          <a:bodyPr wrap="square" lIns="0" tIns="0" rIns="0" bIns="0" rtlCol="0" anchor="ctr"/>
          <a:lstStyle/>
          <a:p>
            <a:pPr marL="0" indent="0" algn="ctr">
              <a:buNone/>
            </a:pPr>
            <a:r>
              <a:rPr lang="en-US" sz="1400" dirty="0">
                <a:solidFill>
                  <a:srgbClr val="BFD7EE"/>
                </a:solidFill>
                <a:latin typeface="Calibri" pitchFamily="34" charset="0"/>
                <a:ea typeface="Calibri" pitchFamily="34" charset="-122"/>
                <a:cs typeface="Calibri" pitchFamily="34" charset="-120"/>
              </a:rPr>
              <a:t>Gaming, VR and AR</a:t>
            </a:r>
            <a:endParaRPr lang="en-US" sz="1400" dirty="0"/>
          </a:p>
        </p:txBody>
      </p:sp>
      <p:sp>
        <p:nvSpPr>
          <p:cNvPr id="33" name="Text 26"/>
          <p:cNvSpPr txBox="1"/>
          <p:nvPr/>
        </p:nvSpPr>
        <p:spPr>
          <a:xfrm>
            <a:off x="10012680" y="5029200"/>
            <a:ext cx="1280160" cy="457200"/>
          </a:xfrm>
          <a:prstGeom prst="roundRect">
            <a:avLst>
              <a:gd name="adj" fmla="val 20000"/>
            </a:avLst>
          </a:prstGeom>
          <a:solidFill>
            <a:srgbClr val="22D3EE"/>
          </a:solidFill>
          <a:ln/>
        </p:spPr>
        <p:txBody>
          <a:bodyPr wrap="square" lIns="0" tIns="0" rIns="0" bIns="0" rtlCol="0" anchor="ctr"/>
          <a:lstStyle/>
          <a:p>
            <a:pPr marL="0" indent="0" algn="ctr">
              <a:buNone/>
            </a:pPr>
            <a:r>
              <a:rPr lang="en-US" sz="1600" b="1" dirty="0">
                <a:solidFill>
                  <a:srgbClr val="071428"/>
                </a:solidFill>
              </a:rPr>
              <a:t>eMBB</a:t>
            </a:r>
            <a:endParaRPr lang="en-US" sz="1600" dirty="0"/>
          </a:p>
        </p:txBody>
      </p:sp>
      <p:sp>
        <p:nvSpPr>
          <p:cNvPr id="34" name="Text 27"/>
          <p:cNvSpPr txBox="1"/>
          <p:nvPr/>
        </p:nvSpPr>
        <p:spPr>
          <a:xfrm>
            <a:off x="457200" y="6172200"/>
            <a:ext cx="3657600" cy="274320"/>
          </a:xfrm>
          <a:prstGeom prst="rect">
            <a:avLst/>
          </a:prstGeom>
          <a:noFill/>
          <a:ln/>
        </p:spPr>
        <p:txBody>
          <a:bodyPr wrap="square" lIns="0" tIns="0" rIns="0" bIns="0" rtlCol="0" anchor="ctr"/>
          <a:lstStyle/>
          <a:p>
            <a:pPr marL="0" indent="0">
              <a:buNone/>
            </a:pPr>
            <a:r>
              <a:rPr lang="en-US" sz="1200" i="1" dirty="0">
                <a:solidFill>
                  <a:srgbClr val="8FB3D9"/>
                </a:solidFill>
                <a:latin typeface="Calibri" pitchFamily="34" charset="0"/>
                <a:ea typeface="Calibri" pitchFamily="34" charset="-122"/>
                <a:cs typeface="Calibri" pitchFamily="34" charset="-120"/>
              </a:rPr>
              <a:t>Tag = typical slice type</a:t>
            </a:r>
            <a:endParaRPr lang="en-US" sz="1200" dirty="0"/>
          </a:p>
        </p:txBody>
      </p:sp>
      <p:sp>
        <p:nvSpPr>
          <p:cNvPr id="35" name="Slide Number Placeholder 0"/>
          <p:cNvSpPr>
            <a:spLocks noGrp="1"/>
          </p:cNvSpPr>
          <p:nvPr>
            <p:ph type="sldNum" sz="quarter" idx="4294967295"/>
          </p:nvPr>
        </p:nvSpPr>
        <p:spPr>
          <a:xfrm>
            <a:off x="11064240" y="6473952"/>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B3D9"/>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lide chip"/>
          <p:cNvSpPr txBox="1"/>
          <p:nvPr/>
        </p:nvSpPr>
        <p:spPr>
          <a:xfrm>
            <a:off x="457200" y="274320"/>
            <a:ext cx="640080" cy="640080"/>
          </a:xfrm>
          <a:prstGeom prst="roundRect">
            <a:avLst>
              <a:gd name="adj" fmla="val 14286"/>
            </a:avLst>
          </a:prstGeom>
          <a:solidFill>
            <a:srgbClr val="22D3EE"/>
          </a:solidFill>
          <a:ln/>
        </p:spPr>
        <p:txBody>
          <a:bodyPr wrap="square" lIns="0" tIns="0" rIns="0" bIns="0" rtlCol="0" anchor="ctr"/>
          <a:lstStyle/>
          <a:p>
            <a:pPr marL="0" indent="0" algn="ctr">
              <a:buNone/>
            </a:pPr>
            <a:r>
              <a:rPr lang="en-US" sz="2200" b="1" dirty="0">
                <a:solidFill>
                  <a:srgbClr val="071428"/>
                </a:solidFill>
              </a:rPr>
              <a:t>14</a:t>
            </a:r>
            <a:endParaRPr lang="en-US" sz="2200" dirty="0"/>
          </a:p>
        </p:txBody>
      </p:sp>
      <p:sp>
        <p:nvSpPr>
          <p:cNvPr id="3" name="Text 0"/>
          <p:cNvSpPr>
            <a:spLocks noGrp="1"/>
          </p:cNvSpPr>
          <p:nvPr>
            <p:ph type="title" idx="100" hasCustomPrompt="1"/>
          </p:nvPr>
        </p:nvSpPr>
        <p:spPr>
          <a:xfrm>
            <a:off x="1280160" y="256032"/>
            <a:ext cx="10424160" cy="685800"/>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Future Scope of Network Slicing</a:t>
            </a:r>
            <a:endParaRPr lang="en-US" sz="3000" dirty="0"/>
          </a:p>
        </p:txBody>
      </p:sp>
      <p:sp>
        <p:nvSpPr>
          <p:cNvPr id="4" name="Shape 2"/>
          <p:cNvSpPr/>
          <p:nvPr/>
        </p:nvSpPr>
        <p:spPr>
          <a:xfrm>
            <a:off x="457200" y="3703320"/>
            <a:ext cx="11247120" cy="0"/>
          </a:xfrm>
          <a:prstGeom prst="line">
            <a:avLst/>
          </a:prstGeom>
          <a:noFill/>
          <a:ln w="50800">
            <a:solidFill>
              <a:srgbClr val="22D3EE"/>
            </a:solidFill>
            <a:prstDash val="solid"/>
            <a:tailEnd type="triangle"/>
          </a:ln>
        </p:spPr>
      </p:sp>
      <p:sp>
        <p:nvSpPr>
          <p:cNvPr id="5" name="Text 3"/>
          <p:cNvSpPr txBox="1"/>
          <p:nvPr/>
        </p:nvSpPr>
        <p:spPr>
          <a:xfrm>
            <a:off x="457200" y="3840480"/>
            <a:ext cx="1371600" cy="320040"/>
          </a:xfrm>
          <a:prstGeom prst="rect">
            <a:avLst/>
          </a:prstGeom>
          <a:noFill/>
          <a:ln/>
        </p:spPr>
        <p:txBody>
          <a:bodyPr wrap="square" lIns="0" tIns="0" rIns="0" bIns="0" rtlCol="0" anchor="ctr"/>
          <a:lstStyle/>
          <a:p>
            <a:pPr marL="0" indent="0">
              <a:buNone/>
            </a:pPr>
            <a:r>
              <a:rPr lang="en-US" sz="1400" b="1" dirty="0">
                <a:solidFill>
                  <a:srgbClr val="22D3EE"/>
                </a:solidFill>
                <a:latin typeface="Calibri" pitchFamily="34" charset="0"/>
                <a:ea typeface="Calibri" pitchFamily="34" charset="-122"/>
                <a:cs typeface="Calibri" pitchFamily="34" charset="-120"/>
              </a:rPr>
              <a:t>5G today</a:t>
            </a:r>
            <a:endParaRPr lang="en-US" sz="1400" dirty="0"/>
          </a:p>
        </p:txBody>
      </p:sp>
      <p:sp>
        <p:nvSpPr>
          <p:cNvPr id="6" name="Text 4"/>
          <p:cNvSpPr txBox="1"/>
          <p:nvPr/>
        </p:nvSpPr>
        <p:spPr>
          <a:xfrm>
            <a:off x="10332720" y="3840480"/>
            <a:ext cx="1371600" cy="320040"/>
          </a:xfrm>
          <a:prstGeom prst="rect">
            <a:avLst/>
          </a:prstGeom>
          <a:noFill/>
          <a:ln/>
        </p:spPr>
        <p:txBody>
          <a:bodyPr wrap="square" lIns="0" tIns="0" rIns="0" bIns="0" rtlCol="0" anchor="ctr"/>
          <a:lstStyle/>
          <a:p>
            <a:pPr marL="0" indent="0" algn="r">
              <a:buNone/>
            </a:pPr>
            <a:r>
              <a:rPr lang="en-US" sz="1400" b="1" dirty="0">
                <a:solidFill>
                  <a:srgbClr val="A78BFA"/>
                </a:solidFill>
                <a:latin typeface="Calibri" pitchFamily="34" charset="0"/>
                <a:ea typeface="Calibri" pitchFamily="34" charset="-122"/>
                <a:cs typeface="Calibri" pitchFamily="34" charset="-120"/>
              </a:rPr>
              <a:t>6G era</a:t>
            </a:r>
            <a:endParaRPr lang="en-US" sz="1400" dirty="0"/>
          </a:p>
        </p:txBody>
      </p:sp>
      <p:sp>
        <p:nvSpPr>
          <p:cNvPr id="7" name="Shape 5"/>
          <p:cNvSpPr/>
          <p:nvPr/>
        </p:nvSpPr>
        <p:spPr>
          <a:xfrm>
            <a:off x="1737360" y="2926080"/>
            <a:ext cx="0" cy="777240"/>
          </a:xfrm>
          <a:prstGeom prst="line">
            <a:avLst/>
          </a:prstGeom>
          <a:noFill/>
          <a:ln w="25400">
            <a:solidFill>
              <a:srgbClr val="22D3EE"/>
            </a:solidFill>
            <a:prstDash val="solid"/>
          </a:ln>
        </p:spPr>
      </p:sp>
      <p:sp>
        <p:nvSpPr>
          <p:cNvPr id="8" name="Shape 6"/>
          <p:cNvSpPr/>
          <p:nvPr/>
        </p:nvSpPr>
        <p:spPr>
          <a:xfrm>
            <a:off x="1581912" y="3547872"/>
            <a:ext cx="310896" cy="310896"/>
          </a:xfrm>
          <a:prstGeom prst="ellipse">
            <a:avLst/>
          </a:prstGeom>
          <a:solidFill>
            <a:srgbClr val="22D3EE"/>
          </a:solidFill>
          <a:ln w="12700">
            <a:solidFill>
              <a:srgbClr val="22D3EE"/>
            </a:solidFill>
            <a:prstDash val="solid"/>
          </a:ln>
        </p:spPr>
      </p:sp>
      <p:sp>
        <p:nvSpPr>
          <p:cNvPr id="9" name="Shape 7"/>
          <p:cNvSpPr/>
          <p:nvPr/>
        </p:nvSpPr>
        <p:spPr>
          <a:xfrm>
            <a:off x="457200" y="1371600"/>
            <a:ext cx="2560320" cy="1554480"/>
          </a:xfrm>
          <a:prstGeom prst="roundRect">
            <a:avLst>
              <a:gd name="adj" fmla="val 7059"/>
            </a:avLst>
          </a:prstGeom>
          <a:solidFill>
            <a:srgbClr val="0E2748"/>
          </a:solidFill>
          <a:ln w="19050">
            <a:solidFill>
              <a:srgbClr val="22D3EE"/>
            </a:solidFill>
            <a:prstDash val="solid"/>
          </a:ln>
        </p:spPr>
      </p:sp>
      <p:pic>
        <p:nvPicPr>
          <p:cNvPr id="10" name="Image 0" descr="preencoded.png"/>
          <p:cNvPicPr>
            <a:picLocks noChangeAspect="1"/>
          </p:cNvPicPr>
          <p:nvPr/>
        </p:nvPicPr>
        <p:blipFill>
          <a:blip r:embed="rId3"/>
          <a:stretch>
            <a:fillRect/>
          </a:stretch>
        </p:blipFill>
        <p:spPr>
          <a:xfrm>
            <a:off x="1508760" y="1554480"/>
            <a:ext cx="457200" cy="457200"/>
          </a:xfrm>
          <a:prstGeom prst="rect">
            <a:avLst/>
          </a:prstGeom>
        </p:spPr>
      </p:pic>
      <p:sp>
        <p:nvSpPr>
          <p:cNvPr id="11" name="Text 8"/>
          <p:cNvSpPr txBox="1"/>
          <p:nvPr/>
        </p:nvSpPr>
        <p:spPr>
          <a:xfrm>
            <a:off x="548640" y="2103120"/>
            <a:ext cx="2377440" cy="7315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AI-based orchestration</a:t>
            </a:r>
            <a:endParaRPr lang="en-US" sz="1600" dirty="0"/>
          </a:p>
        </p:txBody>
      </p:sp>
      <p:sp>
        <p:nvSpPr>
          <p:cNvPr id="12" name="Shape 9"/>
          <p:cNvSpPr/>
          <p:nvPr/>
        </p:nvSpPr>
        <p:spPr>
          <a:xfrm>
            <a:off x="3474720" y="3703320"/>
            <a:ext cx="0" cy="777240"/>
          </a:xfrm>
          <a:prstGeom prst="line">
            <a:avLst/>
          </a:prstGeom>
          <a:noFill/>
          <a:ln w="25400">
            <a:solidFill>
              <a:srgbClr val="3B82F6"/>
            </a:solidFill>
            <a:prstDash val="solid"/>
          </a:ln>
        </p:spPr>
      </p:sp>
      <p:sp>
        <p:nvSpPr>
          <p:cNvPr id="13" name="Shape 10"/>
          <p:cNvSpPr/>
          <p:nvPr/>
        </p:nvSpPr>
        <p:spPr>
          <a:xfrm>
            <a:off x="3319272" y="3547872"/>
            <a:ext cx="310896" cy="310896"/>
          </a:xfrm>
          <a:prstGeom prst="ellipse">
            <a:avLst/>
          </a:prstGeom>
          <a:solidFill>
            <a:srgbClr val="3B82F6"/>
          </a:solidFill>
          <a:ln w="12700">
            <a:solidFill>
              <a:srgbClr val="3B82F6"/>
            </a:solidFill>
            <a:prstDash val="solid"/>
          </a:ln>
        </p:spPr>
      </p:sp>
      <p:sp>
        <p:nvSpPr>
          <p:cNvPr id="14" name="Shape 11"/>
          <p:cNvSpPr/>
          <p:nvPr/>
        </p:nvSpPr>
        <p:spPr>
          <a:xfrm>
            <a:off x="2194560" y="4343400"/>
            <a:ext cx="2560320" cy="1554480"/>
          </a:xfrm>
          <a:prstGeom prst="roundRect">
            <a:avLst>
              <a:gd name="adj" fmla="val 7059"/>
            </a:avLst>
          </a:prstGeom>
          <a:solidFill>
            <a:srgbClr val="0E2748"/>
          </a:solidFill>
          <a:ln w="19050">
            <a:solidFill>
              <a:srgbClr val="3B82F6"/>
            </a:solidFill>
            <a:prstDash val="solid"/>
          </a:ln>
        </p:spPr>
      </p:sp>
      <p:pic>
        <p:nvPicPr>
          <p:cNvPr id="15" name="Image 1" descr="preencoded.png"/>
          <p:cNvPicPr>
            <a:picLocks noChangeAspect="1"/>
          </p:cNvPicPr>
          <p:nvPr/>
        </p:nvPicPr>
        <p:blipFill>
          <a:blip r:embed="rId4"/>
          <a:stretch>
            <a:fillRect/>
          </a:stretch>
        </p:blipFill>
        <p:spPr>
          <a:xfrm>
            <a:off x="3246120" y="4526280"/>
            <a:ext cx="457200" cy="457200"/>
          </a:xfrm>
          <a:prstGeom prst="rect">
            <a:avLst/>
          </a:prstGeom>
        </p:spPr>
      </p:pic>
      <p:sp>
        <p:nvSpPr>
          <p:cNvPr id="16" name="Text 12"/>
          <p:cNvSpPr txBox="1"/>
          <p:nvPr/>
        </p:nvSpPr>
        <p:spPr>
          <a:xfrm>
            <a:off x="2286000" y="5074920"/>
            <a:ext cx="2377440" cy="7315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Predictive traffic management</a:t>
            </a:r>
            <a:endParaRPr lang="en-US" sz="1600" dirty="0"/>
          </a:p>
        </p:txBody>
      </p:sp>
      <p:sp>
        <p:nvSpPr>
          <p:cNvPr id="17" name="Shape 13"/>
          <p:cNvSpPr/>
          <p:nvPr/>
        </p:nvSpPr>
        <p:spPr>
          <a:xfrm>
            <a:off x="5212080" y="2926080"/>
            <a:ext cx="0" cy="777240"/>
          </a:xfrm>
          <a:prstGeom prst="line">
            <a:avLst/>
          </a:prstGeom>
          <a:noFill/>
          <a:ln w="25400">
            <a:solidFill>
              <a:srgbClr val="A78BFA"/>
            </a:solidFill>
            <a:prstDash val="solid"/>
          </a:ln>
        </p:spPr>
      </p:sp>
      <p:sp>
        <p:nvSpPr>
          <p:cNvPr id="18" name="Shape 14"/>
          <p:cNvSpPr/>
          <p:nvPr/>
        </p:nvSpPr>
        <p:spPr>
          <a:xfrm>
            <a:off x="5056632" y="3547872"/>
            <a:ext cx="310896" cy="310896"/>
          </a:xfrm>
          <a:prstGeom prst="ellipse">
            <a:avLst/>
          </a:prstGeom>
          <a:solidFill>
            <a:srgbClr val="A78BFA"/>
          </a:solidFill>
          <a:ln w="12700">
            <a:solidFill>
              <a:srgbClr val="A78BFA"/>
            </a:solidFill>
            <a:prstDash val="solid"/>
          </a:ln>
        </p:spPr>
      </p:sp>
      <p:sp>
        <p:nvSpPr>
          <p:cNvPr id="19" name="Shape 15"/>
          <p:cNvSpPr/>
          <p:nvPr/>
        </p:nvSpPr>
        <p:spPr>
          <a:xfrm>
            <a:off x="3931920" y="1371600"/>
            <a:ext cx="2560320" cy="1554480"/>
          </a:xfrm>
          <a:prstGeom prst="roundRect">
            <a:avLst>
              <a:gd name="adj" fmla="val 7059"/>
            </a:avLst>
          </a:prstGeom>
          <a:solidFill>
            <a:srgbClr val="0E2748"/>
          </a:solidFill>
          <a:ln w="19050">
            <a:solidFill>
              <a:srgbClr val="A78BFA"/>
            </a:solidFill>
            <a:prstDash val="solid"/>
          </a:ln>
        </p:spPr>
      </p:sp>
      <p:pic>
        <p:nvPicPr>
          <p:cNvPr id="20" name="Image 2" descr="preencoded.png"/>
          <p:cNvPicPr>
            <a:picLocks noChangeAspect="1"/>
          </p:cNvPicPr>
          <p:nvPr/>
        </p:nvPicPr>
        <p:blipFill>
          <a:blip r:embed="rId5"/>
          <a:stretch>
            <a:fillRect/>
          </a:stretch>
        </p:blipFill>
        <p:spPr>
          <a:xfrm>
            <a:off x="4983480" y="1554480"/>
            <a:ext cx="457200" cy="457200"/>
          </a:xfrm>
          <a:prstGeom prst="rect">
            <a:avLst/>
          </a:prstGeom>
        </p:spPr>
      </p:pic>
      <p:sp>
        <p:nvSpPr>
          <p:cNvPr id="21" name="Text 16"/>
          <p:cNvSpPr txBox="1"/>
          <p:nvPr/>
        </p:nvSpPr>
        <p:spPr>
          <a:xfrm>
            <a:off x="4023360" y="2103120"/>
            <a:ext cx="2377440" cy="7315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Autonomous optimization</a:t>
            </a:r>
            <a:endParaRPr lang="en-US" sz="1600" dirty="0"/>
          </a:p>
        </p:txBody>
      </p:sp>
      <p:sp>
        <p:nvSpPr>
          <p:cNvPr id="22" name="Shape 17"/>
          <p:cNvSpPr/>
          <p:nvPr/>
        </p:nvSpPr>
        <p:spPr>
          <a:xfrm>
            <a:off x="6949440" y="3703320"/>
            <a:ext cx="0" cy="777240"/>
          </a:xfrm>
          <a:prstGeom prst="line">
            <a:avLst/>
          </a:prstGeom>
          <a:noFill/>
          <a:ln w="25400">
            <a:solidFill>
              <a:srgbClr val="34D399"/>
            </a:solidFill>
            <a:prstDash val="solid"/>
          </a:ln>
        </p:spPr>
      </p:sp>
      <p:sp>
        <p:nvSpPr>
          <p:cNvPr id="23" name="Shape 18"/>
          <p:cNvSpPr/>
          <p:nvPr/>
        </p:nvSpPr>
        <p:spPr>
          <a:xfrm>
            <a:off x="6793992" y="3547872"/>
            <a:ext cx="310896" cy="310896"/>
          </a:xfrm>
          <a:prstGeom prst="ellipse">
            <a:avLst/>
          </a:prstGeom>
          <a:solidFill>
            <a:srgbClr val="34D399"/>
          </a:solidFill>
          <a:ln w="12700">
            <a:solidFill>
              <a:srgbClr val="34D399"/>
            </a:solidFill>
            <a:prstDash val="solid"/>
          </a:ln>
        </p:spPr>
      </p:sp>
      <p:sp>
        <p:nvSpPr>
          <p:cNvPr id="24" name="Shape 19"/>
          <p:cNvSpPr/>
          <p:nvPr/>
        </p:nvSpPr>
        <p:spPr>
          <a:xfrm>
            <a:off x="5669280" y="4343400"/>
            <a:ext cx="2560320" cy="1554480"/>
          </a:xfrm>
          <a:prstGeom prst="roundRect">
            <a:avLst>
              <a:gd name="adj" fmla="val 7059"/>
            </a:avLst>
          </a:prstGeom>
          <a:solidFill>
            <a:srgbClr val="0E2748"/>
          </a:solidFill>
          <a:ln w="19050">
            <a:solidFill>
              <a:srgbClr val="34D399"/>
            </a:solidFill>
            <a:prstDash val="solid"/>
          </a:ln>
        </p:spPr>
      </p:sp>
      <p:pic>
        <p:nvPicPr>
          <p:cNvPr id="25" name="Image 3" descr="preencoded.png"/>
          <p:cNvPicPr>
            <a:picLocks noChangeAspect="1"/>
          </p:cNvPicPr>
          <p:nvPr/>
        </p:nvPicPr>
        <p:blipFill>
          <a:blip r:embed="rId6"/>
          <a:stretch>
            <a:fillRect/>
          </a:stretch>
        </p:blipFill>
        <p:spPr>
          <a:xfrm>
            <a:off x="6720840" y="4526280"/>
            <a:ext cx="457200" cy="457200"/>
          </a:xfrm>
          <a:prstGeom prst="rect">
            <a:avLst/>
          </a:prstGeom>
        </p:spPr>
      </p:pic>
      <p:sp>
        <p:nvSpPr>
          <p:cNvPr id="26" name="Text 20"/>
          <p:cNvSpPr txBox="1"/>
          <p:nvPr/>
        </p:nvSpPr>
        <p:spPr>
          <a:xfrm>
            <a:off x="5760720" y="5074920"/>
            <a:ext cx="2377440" cy="7315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Satellite &amp; aerial integration</a:t>
            </a:r>
            <a:endParaRPr lang="en-US" sz="1600" dirty="0"/>
          </a:p>
        </p:txBody>
      </p:sp>
      <p:sp>
        <p:nvSpPr>
          <p:cNvPr id="27" name="Shape 21"/>
          <p:cNvSpPr/>
          <p:nvPr/>
        </p:nvSpPr>
        <p:spPr>
          <a:xfrm>
            <a:off x="8686800" y="2926080"/>
            <a:ext cx="0" cy="777240"/>
          </a:xfrm>
          <a:prstGeom prst="line">
            <a:avLst/>
          </a:prstGeom>
          <a:noFill/>
          <a:ln w="25400">
            <a:solidFill>
              <a:srgbClr val="FBBF24"/>
            </a:solidFill>
            <a:prstDash val="solid"/>
          </a:ln>
        </p:spPr>
      </p:sp>
      <p:sp>
        <p:nvSpPr>
          <p:cNvPr id="28" name="Shape 22"/>
          <p:cNvSpPr/>
          <p:nvPr/>
        </p:nvSpPr>
        <p:spPr>
          <a:xfrm>
            <a:off x="8531352" y="3547872"/>
            <a:ext cx="310896" cy="310896"/>
          </a:xfrm>
          <a:prstGeom prst="ellipse">
            <a:avLst/>
          </a:prstGeom>
          <a:solidFill>
            <a:srgbClr val="FBBF24"/>
          </a:solidFill>
          <a:ln w="12700">
            <a:solidFill>
              <a:srgbClr val="FBBF24"/>
            </a:solidFill>
            <a:prstDash val="solid"/>
          </a:ln>
        </p:spPr>
      </p:sp>
      <p:sp>
        <p:nvSpPr>
          <p:cNvPr id="29" name="Shape 23"/>
          <p:cNvSpPr/>
          <p:nvPr/>
        </p:nvSpPr>
        <p:spPr>
          <a:xfrm>
            <a:off x="7406640" y="1371600"/>
            <a:ext cx="2560320" cy="1554480"/>
          </a:xfrm>
          <a:prstGeom prst="roundRect">
            <a:avLst>
              <a:gd name="adj" fmla="val 7059"/>
            </a:avLst>
          </a:prstGeom>
          <a:solidFill>
            <a:srgbClr val="0E2748"/>
          </a:solidFill>
          <a:ln w="19050">
            <a:solidFill>
              <a:srgbClr val="FBBF24"/>
            </a:solidFill>
            <a:prstDash val="solid"/>
          </a:ln>
        </p:spPr>
      </p:sp>
      <p:pic>
        <p:nvPicPr>
          <p:cNvPr id="30" name="Image 4" descr="preencoded.png"/>
          <p:cNvPicPr>
            <a:picLocks noChangeAspect="1"/>
          </p:cNvPicPr>
          <p:nvPr/>
        </p:nvPicPr>
        <p:blipFill>
          <a:blip r:embed="rId7"/>
          <a:stretch>
            <a:fillRect/>
          </a:stretch>
        </p:blipFill>
        <p:spPr>
          <a:xfrm>
            <a:off x="8458200" y="1554480"/>
            <a:ext cx="457200" cy="457200"/>
          </a:xfrm>
          <a:prstGeom prst="rect">
            <a:avLst/>
          </a:prstGeom>
        </p:spPr>
      </p:pic>
      <p:sp>
        <p:nvSpPr>
          <p:cNvPr id="31" name="Text 24"/>
          <p:cNvSpPr txBox="1"/>
          <p:nvPr/>
        </p:nvSpPr>
        <p:spPr>
          <a:xfrm>
            <a:off x="7498080" y="2103120"/>
            <a:ext cx="2377440" cy="7315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Energy &amp; compute efficiency</a:t>
            </a:r>
            <a:endParaRPr lang="en-US" sz="1600" dirty="0"/>
          </a:p>
        </p:txBody>
      </p:sp>
      <p:sp>
        <p:nvSpPr>
          <p:cNvPr id="32" name="Shape 25"/>
          <p:cNvSpPr/>
          <p:nvPr/>
        </p:nvSpPr>
        <p:spPr>
          <a:xfrm>
            <a:off x="10424160" y="3703320"/>
            <a:ext cx="0" cy="777240"/>
          </a:xfrm>
          <a:prstGeom prst="line">
            <a:avLst/>
          </a:prstGeom>
          <a:noFill/>
          <a:ln w="25400">
            <a:solidFill>
              <a:srgbClr val="F87171"/>
            </a:solidFill>
            <a:prstDash val="solid"/>
          </a:ln>
        </p:spPr>
      </p:sp>
      <p:sp>
        <p:nvSpPr>
          <p:cNvPr id="33" name="Shape 26"/>
          <p:cNvSpPr/>
          <p:nvPr/>
        </p:nvSpPr>
        <p:spPr>
          <a:xfrm>
            <a:off x="10268712" y="3547872"/>
            <a:ext cx="310896" cy="310896"/>
          </a:xfrm>
          <a:prstGeom prst="ellipse">
            <a:avLst/>
          </a:prstGeom>
          <a:solidFill>
            <a:srgbClr val="F87171"/>
          </a:solidFill>
          <a:ln w="12700">
            <a:solidFill>
              <a:srgbClr val="F87171"/>
            </a:solidFill>
            <a:prstDash val="solid"/>
          </a:ln>
        </p:spPr>
      </p:sp>
      <p:sp>
        <p:nvSpPr>
          <p:cNvPr id="34" name="Shape 27"/>
          <p:cNvSpPr/>
          <p:nvPr/>
        </p:nvSpPr>
        <p:spPr>
          <a:xfrm>
            <a:off x="9144000" y="4343400"/>
            <a:ext cx="2560320" cy="1554480"/>
          </a:xfrm>
          <a:prstGeom prst="roundRect">
            <a:avLst>
              <a:gd name="adj" fmla="val 7059"/>
            </a:avLst>
          </a:prstGeom>
          <a:solidFill>
            <a:srgbClr val="0E2748"/>
          </a:solidFill>
          <a:ln w="19050">
            <a:solidFill>
              <a:srgbClr val="F87171"/>
            </a:solidFill>
            <a:prstDash val="solid"/>
          </a:ln>
        </p:spPr>
      </p:sp>
      <p:pic>
        <p:nvPicPr>
          <p:cNvPr id="35" name="Image 5" descr="preencoded.png"/>
          <p:cNvPicPr>
            <a:picLocks noChangeAspect="1"/>
          </p:cNvPicPr>
          <p:nvPr/>
        </p:nvPicPr>
        <p:blipFill>
          <a:blip r:embed="rId8"/>
          <a:stretch>
            <a:fillRect/>
          </a:stretch>
        </p:blipFill>
        <p:spPr>
          <a:xfrm>
            <a:off x="10195560" y="4526280"/>
            <a:ext cx="457200" cy="457200"/>
          </a:xfrm>
          <a:prstGeom prst="rect">
            <a:avLst/>
          </a:prstGeom>
        </p:spPr>
      </p:pic>
      <p:sp>
        <p:nvSpPr>
          <p:cNvPr id="36" name="Text 28"/>
          <p:cNvSpPr txBox="1"/>
          <p:nvPr/>
        </p:nvSpPr>
        <p:spPr>
          <a:xfrm>
            <a:off x="9235440" y="5074920"/>
            <a:ext cx="2377440" cy="7315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New customized services</a:t>
            </a:r>
            <a:endParaRPr lang="en-US" sz="1600" dirty="0"/>
          </a:p>
        </p:txBody>
      </p:sp>
      <p:sp>
        <p:nvSpPr>
          <p:cNvPr id="37" name="Slide Number Placeholder 0"/>
          <p:cNvSpPr>
            <a:spLocks noGrp="1"/>
          </p:cNvSpPr>
          <p:nvPr>
            <p:ph type="sldNum" sz="quarter" idx="4294967295"/>
          </p:nvPr>
        </p:nvSpPr>
        <p:spPr>
          <a:xfrm>
            <a:off x="11064240" y="6473952"/>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B3D9"/>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lide chip"/>
          <p:cNvSpPr txBox="1"/>
          <p:nvPr/>
        </p:nvSpPr>
        <p:spPr>
          <a:xfrm>
            <a:off x="457200" y="274320"/>
            <a:ext cx="640080" cy="640080"/>
          </a:xfrm>
          <a:prstGeom prst="roundRect">
            <a:avLst>
              <a:gd name="adj" fmla="val 14286"/>
            </a:avLst>
          </a:prstGeom>
          <a:solidFill>
            <a:srgbClr val="22D3EE"/>
          </a:solidFill>
          <a:ln/>
        </p:spPr>
        <p:txBody>
          <a:bodyPr wrap="square" lIns="0" tIns="0" rIns="0" bIns="0" rtlCol="0" anchor="ctr"/>
          <a:lstStyle/>
          <a:p>
            <a:pPr marL="0" indent="0" algn="ctr">
              <a:buNone/>
            </a:pPr>
            <a:r>
              <a:rPr lang="en-US" sz="2200" b="1" dirty="0">
                <a:solidFill>
                  <a:srgbClr val="071428"/>
                </a:solidFill>
              </a:rPr>
              <a:t>15</a:t>
            </a:r>
            <a:endParaRPr lang="en-US" sz="2200" dirty="0"/>
          </a:p>
        </p:txBody>
      </p:sp>
      <p:sp>
        <p:nvSpPr>
          <p:cNvPr id="3" name="Text 0"/>
          <p:cNvSpPr>
            <a:spLocks noGrp="1"/>
          </p:cNvSpPr>
          <p:nvPr>
            <p:ph type="title" idx="100" hasCustomPrompt="1"/>
          </p:nvPr>
        </p:nvSpPr>
        <p:spPr>
          <a:xfrm>
            <a:off x="1280160" y="256032"/>
            <a:ext cx="10424160" cy="685800"/>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Conclusion</a:t>
            </a:r>
            <a:endParaRPr lang="en-US" sz="3000" dirty="0"/>
          </a:p>
        </p:txBody>
      </p:sp>
      <p:sp>
        <p:nvSpPr>
          <p:cNvPr id="4" name="Shape 2"/>
          <p:cNvSpPr/>
          <p:nvPr/>
        </p:nvSpPr>
        <p:spPr>
          <a:xfrm>
            <a:off x="457200" y="1371600"/>
            <a:ext cx="6400800" cy="1051560"/>
          </a:xfrm>
          <a:prstGeom prst="roundRect">
            <a:avLst>
              <a:gd name="adj" fmla="val 10435"/>
            </a:avLst>
          </a:prstGeom>
          <a:solidFill>
            <a:srgbClr val="0E2748"/>
          </a:solidFill>
          <a:ln w="19050">
            <a:solidFill>
              <a:srgbClr val="22D3EE"/>
            </a:solidFill>
            <a:prstDash val="solid"/>
          </a:ln>
        </p:spPr>
      </p:sp>
      <p:sp>
        <p:nvSpPr>
          <p:cNvPr id="5" name="Shape 3"/>
          <p:cNvSpPr/>
          <p:nvPr/>
        </p:nvSpPr>
        <p:spPr>
          <a:xfrm>
            <a:off x="685800" y="1536192"/>
            <a:ext cx="731520" cy="731520"/>
          </a:xfrm>
          <a:prstGeom prst="ellipse">
            <a:avLst/>
          </a:prstGeom>
          <a:solidFill>
            <a:srgbClr val="0A1F3C"/>
          </a:solidFill>
          <a:ln w="19050">
            <a:solidFill>
              <a:srgbClr val="22D3EE"/>
            </a:solidFill>
            <a:prstDash val="solid"/>
          </a:ln>
        </p:spPr>
      </p:sp>
      <p:pic>
        <p:nvPicPr>
          <p:cNvPr id="6" name="Image 0" descr="preencoded.png"/>
          <p:cNvPicPr>
            <a:picLocks noChangeAspect="1"/>
          </p:cNvPicPr>
          <p:nvPr/>
        </p:nvPicPr>
        <p:blipFill>
          <a:blip r:embed="rId3"/>
          <a:stretch>
            <a:fillRect/>
          </a:stretch>
        </p:blipFill>
        <p:spPr>
          <a:xfrm>
            <a:off x="896112" y="1737360"/>
            <a:ext cx="320040" cy="320040"/>
          </a:xfrm>
          <a:prstGeom prst="rect">
            <a:avLst/>
          </a:prstGeom>
        </p:spPr>
      </p:pic>
      <p:sp>
        <p:nvSpPr>
          <p:cNvPr id="7" name="Text 4"/>
          <p:cNvSpPr txBox="1"/>
          <p:nvPr/>
        </p:nvSpPr>
        <p:spPr>
          <a:xfrm>
            <a:off x="1645920" y="1371600"/>
            <a:ext cx="5120640" cy="105156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One network, many slices</a:t>
            </a:r>
            <a:endParaRPr lang="en-US" sz="1900" dirty="0"/>
          </a:p>
        </p:txBody>
      </p:sp>
      <p:sp>
        <p:nvSpPr>
          <p:cNvPr id="8" name="Shape 5"/>
          <p:cNvSpPr/>
          <p:nvPr/>
        </p:nvSpPr>
        <p:spPr>
          <a:xfrm>
            <a:off x="457200" y="2560320"/>
            <a:ext cx="6400800" cy="1051560"/>
          </a:xfrm>
          <a:prstGeom prst="roundRect">
            <a:avLst>
              <a:gd name="adj" fmla="val 10435"/>
            </a:avLst>
          </a:prstGeom>
          <a:solidFill>
            <a:srgbClr val="0E2748"/>
          </a:solidFill>
          <a:ln w="19050">
            <a:solidFill>
              <a:srgbClr val="A78BFA"/>
            </a:solidFill>
            <a:prstDash val="solid"/>
          </a:ln>
        </p:spPr>
      </p:sp>
      <p:sp>
        <p:nvSpPr>
          <p:cNvPr id="9" name="Shape 6"/>
          <p:cNvSpPr/>
          <p:nvPr/>
        </p:nvSpPr>
        <p:spPr>
          <a:xfrm>
            <a:off x="685800" y="2724912"/>
            <a:ext cx="731520" cy="731520"/>
          </a:xfrm>
          <a:prstGeom prst="ellipse">
            <a:avLst/>
          </a:prstGeom>
          <a:solidFill>
            <a:srgbClr val="0A1F3C"/>
          </a:solidFill>
          <a:ln w="19050">
            <a:solidFill>
              <a:srgbClr val="A78BFA"/>
            </a:solidFill>
            <a:prstDash val="solid"/>
          </a:ln>
        </p:spPr>
      </p:sp>
      <p:pic>
        <p:nvPicPr>
          <p:cNvPr id="10" name="Image 1" descr="preencoded.png"/>
          <p:cNvPicPr>
            <a:picLocks noChangeAspect="1"/>
          </p:cNvPicPr>
          <p:nvPr/>
        </p:nvPicPr>
        <p:blipFill>
          <a:blip r:embed="rId4"/>
          <a:stretch>
            <a:fillRect/>
          </a:stretch>
        </p:blipFill>
        <p:spPr>
          <a:xfrm>
            <a:off x="896112" y="2926080"/>
            <a:ext cx="320040" cy="320040"/>
          </a:xfrm>
          <a:prstGeom prst="rect">
            <a:avLst/>
          </a:prstGeom>
        </p:spPr>
      </p:pic>
      <p:sp>
        <p:nvSpPr>
          <p:cNvPr id="11" name="Text 7"/>
          <p:cNvSpPr txBox="1"/>
          <p:nvPr/>
        </p:nvSpPr>
        <p:spPr>
          <a:xfrm>
            <a:off x="1645920" y="2560320"/>
            <a:ext cx="5120640" cy="105156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eMBB, URLLC and mMTC serve different needs</a:t>
            </a:r>
            <a:endParaRPr lang="en-US" sz="1900" dirty="0"/>
          </a:p>
        </p:txBody>
      </p:sp>
      <p:sp>
        <p:nvSpPr>
          <p:cNvPr id="12" name="Shape 8"/>
          <p:cNvSpPr/>
          <p:nvPr/>
        </p:nvSpPr>
        <p:spPr>
          <a:xfrm>
            <a:off x="457200" y="3749040"/>
            <a:ext cx="6400800" cy="1051560"/>
          </a:xfrm>
          <a:prstGeom prst="roundRect">
            <a:avLst>
              <a:gd name="adj" fmla="val 10435"/>
            </a:avLst>
          </a:prstGeom>
          <a:solidFill>
            <a:srgbClr val="0E2748"/>
          </a:solidFill>
          <a:ln w="19050">
            <a:solidFill>
              <a:srgbClr val="34D399"/>
            </a:solidFill>
            <a:prstDash val="solid"/>
          </a:ln>
        </p:spPr>
      </p:sp>
      <p:sp>
        <p:nvSpPr>
          <p:cNvPr id="13" name="Shape 9"/>
          <p:cNvSpPr/>
          <p:nvPr/>
        </p:nvSpPr>
        <p:spPr>
          <a:xfrm>
            <a:off x="685800" y="3913632"/>
            <a:ext cx="731520" cy="731520"/>
          </a:xfrm>
          <a:prstGeom prst="ellipse">
            <a:avLst/>
          </a:prstGeom>
          <a:solidFill>
            <a:srgbClr val="0A1F3C"/>
          </a:solidFill>
          <a:ln w="19050">
            <a:solidFill>
              <a:srgbClr val="34D399"/>
            </a:solidFill>
            <a:prstDash val="solid"/>
          </a:ln>
        </p:spPr>
      </p:sp>
      <p:pic>
        <p:nvPicPr>
          <p:cNvPr id="14" name="Image 2" descr="preencoded.png"/>
          <p:cNvPicPr>
            <a:picLocks noChangeAspect="1"/>
          </p:cNvPicPr>
          <p:nvPr/>
        </p:nvPicPr>
        <p:blipFill>
          <a:blip r:embed="rId5"/>
          <a:stretch>
            <a:fillRect/>
          </a:stretch>
        </p:blipFill>
        <p:spPr>
          <a:xfrm>
            <a:off x="896112" y="4114800"/>
            <a:ext cx="320040" cy="320040"/>
          </a:xfrm>
          <a:prstGeom prst="rect">
            <a:avLst/>
          </a:prstGeom>
        </p:spPr>
      </p:pic>
      <p:sp>
        <p:nvSpPr>
          <p:cNvPr id="15" name="Text 10"/>
          <p:cNvSpPr txBox="1"/>
          <p:nvPr/>
        </p:nvSpPr>
        <p:spPr>
          <a:xfrm>
            <a:off x="1645920" y="3749040"/>
            <a:ext cx="5120640" cy="105156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Security and isolation remain key</a:t>
            </a:r>
            <a:endParaRPr lang="en-US" sz="1900" dirty="0"/>
          </a:p>
        </p:txBody>
      </p:sp>
      <p:sp>
        <p:nvSpPr>
          <p:cNvPr id="16" name="Shape 11"/>
          <p:cNvSpPr/>
          <p:nvPr/>
        </p:nvSpPr>
        <p:spPr>
          <a:xfrm>
            <a:off x="457200" y="4937760"/>
            <a:ext cx="6400800" cy="1051560"/>
          </a:xfrm>
          <a:prstGeom prst="roundRect">
            <a:avLst>
              <a:gd name="adj" fmla="val 10435"/>
            </a:avLst>
          </a:prstGeom>
          <a:solidFill>
            <a:srgbClr val="0E2748"/>
          </a:solidFill>
          <a:ln w="19050">
            <a:solidFill>
              <a:srgbClr val="FBBF24"/>
            </a:solidFill>
            <a:prstDash val="solid"/>
          </a:ln>
        </p:spPr>
      </p:sp>
      <p:sp>
        <p:nvSpPr>
          <p:cNvPr id="17" name="Shape 12"/>
          <p:cNvSpPr/>
          <p:nvPr/>
        </p:nvSpPr>
        <p:spPr>
          <a:xfrm>
            <a:off x="685800" y="5102352"/>
            <a:ext cx="731520" cy="731520"/>
          </a:xfrm>
          <a:prstGeom prst="ellipse">
            <a:avLst/>
          </a:prstGeom>
          <a:solidFill>
            <a:srgbClr val="0A1F3C"/>
          </a:solidFill>
          <a:ln w="19050">
            <a:solidFill>
              <a:srgbClr val="FBBF24"/>
            </a:solidFill>
            <a:prstDash val="solid"/>
          </a:ln>
        </p:spPr>
      </p:sp>
      <p:pic>
        <p:nvPicPr>
          <p:cNvPr id="18" name="Image 3" descr="preencoded.png"/>
          <p:cNvPicPr>
            <a:picLocks noChangeAspect="1"/>
          </p:cNvPicPr>
          <p:nvPr/>
        </p:nvPicPr>
        <p:blipFill>
          <a:blip r:embed="rId6"/>
          <a:stretch>
            <a:fillRect/>
          </a:stretch>
        </p:blipFill>
        <p:spPr>
          <a:xfrm>
            <a:off x="896112" y="5303520"/>
            <a:ext cx="320040" cy="320040"/>
          </a:xfrm>
          <a:prstGeom prst="rect">
            <a:avLst/>
          </a:prstGeom>
        </p:spPr>
      </p:pic>
      <p:sp>
        <p:nvSpPr>
          <p:cNvPr id="19" name="Text 13"/>
          <p:cNvSpPr txBox="1"/>
          <p:nvPr/>
        </p:nvSpPr>
        <p:spPr>
          <a:xfrm>
            <a:off x="1645920" y="4937760"/>
            <a:ext cx="5120640" cy="105156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6G adds AI-driven, adaptive slicing</a:t>
            </a:r>
            <a:endParaRPr lang="en-US" sz="1900" dirty="0"/>
          </a:p>
        </p:txBody>
      </p:sp>
      <p:sp>
        <p:nvSpPr>
          <p:cNvPr id="20" name="Shape 14"/>
          <p:cNvSpPr/>
          <p:nvPr/>
        </p:nvSpPr>
        <p:spPr>
          <a:xfrm>
            <a:off x="7315200" y="1371600"/>
            <a:ext cx="4389120" cy="4572000"/>
          </a:xfrm>
          <a:prstGeom prst="roundRect">
            <a:avLst>
              <a:gd name="adj" fmla="val 4167"/>
            </a:avLst>
          </a:prstGeom>
          <a:solidFill>
            <a:srgbClr val="0A1F3C"/>
          </a:solidFill>
          <a:ln w="28575">
            <a:solidFill>
              <a:srgbClr val="22D3EE"/>
            </a:solidFill>
            <a:prstDash val="solid"/>
          </a:ln>
        </p:spPr>
      </p:sp>
      <p:pic>
        <p:nvPicPr>
          <p:cNvPr id="21" name="Image 4" descr="preencoded.png"/>
          <p:cNvPicPr>
            <a:picLocks noChangeAspect="1"/>
          </p:cNvPicPr>
          <p:nvPr/>
        </p:nvPicPr>
        <p:blipFill>
          <a:blip r:embed="rId3"/>
          <a:stretch>
            <a:fillRect/>
          </a:stretch>
        </p:blipFill>
        <p:spPr>
          <a:xfrm>
            <a:off x="9052560" y="1737360"/>
            <a:ext cx="914400" cy="914400"/>
          </a:xfrm>
          <a:prstGeom prst="rect">
            <a:avLst/>
          </a:prstGeom>
        </p:spPr>
      </p:pic>
      <p:sp>
        <p:nvSpPr>
          <p:cNvPr id="22" name="Text 15"/>
          <p:cNvSpPr txBox="1"/>
          <p:nvPr/>
        </p:nvSpPr>
        <p:spPr>
          <a:xfrm>
            <a:off x="7498080" y="2926080"/>
            <a:ext cx="4023360" cy="457200"/>
          </a:xfrm>
          <a:prstGeom prst="rect">
            <a:avLst/>
          </a:prstGeom>
          <a:noFill/>
          <a:ln/>
        </p:spPr>
        <p:txBody>
          <a:bodyPr wrap="square" lIns="0" tIns="0" rIns="0" bIns="0" rtlCol="0" anchor="ctr"/>
          <a:lstStyle/>
          <a:p>
            <a:pPr marL="0" indent="0" algn="ctr">
              <a:buNone/>
            </a:pPr>
            <a:r>
              <a:rPr lang="en-US" sz="2000" b="1" dirty="0">
                <a:solidFill>
                  <a:srgbClr val="FBBF24"/>
                </a:solidFill>
                <a:latin typeface="Calibri" pitchFamily="34" charset="0"/>
                <a:ea typeface="Calibri" pitchFamily="34" charset="-122"/>
                <a:cs typeface="Calibri" pitchFamily="34" charset="-120"/>
              </a:rPr>
              <a:t>KEY TAKEAWAY</a:t>
            </a:r>
            <a:endParaRPr lang="en-US" sz="2000" dirty="0"/>
          </a:p>
        </p:txBody>
      </p:sp>
      <p:sp>
        <p:nvSpPr>
          <p:cNvPr id="23" name="Text 16"/>
          <p:cNvSpPr txBox="1"/>
          <p:nvPr/>
        </p:nvSpPr>
        <p:spPr>
          <a:xfrm>
            <a:off x="7589520" y="3474720"/>
            <a:ext cx="3840480" cy="219456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One physical network delivers many </a:t>
            </a:r>
            <a:r>
              <a:rPr lang="en-US" sz="2400" b="1" dirty="0">
                <a:solidFill>
                  <a:srgbClr val="22D3EE"/>
                </a:solidFill>
                <a:latin typeface="Calibri" pitchFamily="34" charset="0"/>
                <a:ea typeface="Calibri" pitchFamily="34" charset="-122"/>
                <a:cs typeface="Calibri" pitchFamily="34" charset="-120"/>
              </a:rPr>
              <a:t>customized virtual networks</a:t>
            </a:r>
            <a:endParaRPr lang="en-US" sz="2400" dirty="0"/>
          </a:p>
        </p:txBody>
      </p:sp>
      <p:sp>
        <p:nvSpPr>
          <p:cNvPr id="25" name="Slide Number Placeholder 0"/>
          <p:cNvSpPr>
            <a:spLocks noGrp="1"/>
          </p:cNvSpPr>
          <p:nvPr>
            <p:ph type="sldNum" sz="quarter" idx="4294967295"/>
          </p:nvPr>
        </p:nvSpPr>
        <p:spPr>
          <a:xfrm>
            <a:off x="11064240" y="6473952"/>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B3D9"/>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1344168" y="2834640"/>
            <a:ext cx="9509760" cy="1737360"/>
          </a:xfrm>
          <a:prstGeom prst="roundRect">
            <a:avLst>
              <a:gd name="adj" fmla="val 10526"/>
            </a:avLst>
          </a:prstGeom>
          <a:solidFill>
            <a:srgbClr val="0A1F3C"/>
          </a:solidFill>
          <a:ln w="28575">
            <a:solidFill>
              <a:srgbClr val="22D3EE"/>
            </a:solidFill>
            <a:prstDash val="solid"/>
          </a:ln>
        </p:spPr>
      </p:sp>
      <p:sp>
        <p:nvSpPr>
          <p:cNvPr id="3" name="Text 1"/>
          <p:cNvSpPr txBox="1"/>
          <p:nvPr/>
        </p:nvSpPr>
        <p:spPr>
          <a:xfrm>
            <a:off x="2194560" y="2926080"/>
            <a:ext cx="7772400" cy="1005840"/>
          </a:xfrm>
          <a:prstGeom prst="rect">
            <a:avLst/>
          </a:prstGeom>
          <a:noFill/>
          <a:ln/>
        </p:spPr>
        <p:txBody>
          <a:bodyPr wrap="square" lIns="0" tIns="0" rIns="0" bIns="0" rtlCol="0" anchor="ctr"/>
          <a:lstStyle/>
          <a:p>
            <a:pPr marL="0" indent="0" algn="ctr">
              <a:buNone/>
            </a:pPr>
            <a:r>
              <a:rPr lang="en-US" sz="5400" b="1" dirty="0">
                <a:solidFill>
                  <a:srgbClr val="FFFFFF"/>
                </a:solidFill>
                <a:latin typeface="Calibri" pitchFamily="34" charset="0"/>
                <a:ea typeface="Calibri" pitchFamily="34" charset="-122"/>
                <a:cs typeface="Calibri" pitchFamily="34" charset="-120"/>
              </a:rPr>
              <a:t>THANK </a:t>
            </a:r>
            <a:r>
              <a:rPr lang="en-US" sz="5400" b="1" dirty="0">
                <a:solidFill>
                  <a:srgbClr val="22D3EE"/>
                </a:solidFill>
                <a:latin typeface="Calibri" pitchFamily="34" charset="0"/>
                <a:ea typeface="Calibri" pitchFamily="34" charset="-122"/>
                <a:cs typeface="Calibri" pitchFamily="34" charset="-120"/>
              </a:rPr>
              <a:t>YOU</a:t>
            </a:r>
            <a:endParaRPr lang="en-US" sz="5400" dirty="0"/>
          </a:p>
        </p:txBody>
      </p:sp>
      <p:sp>
        <p:nvSpPr>
          <p:cNvPr id="4" name="Text 2"/>
          <p:cNvSpPr txBox="1"/>
          <p:nvPr/>
        </p:nvSpPr>
        <p:spPr>
          <a:xfrm>
            <a:off x="2194560" y="3931920"/>
            <a:ext cx="7772400" cy="502920"/>
          </a:xfrm>
          <a:prstGeom prst="rect">
            <a:avLst/>
          </a:prstGeom>
          <a:noFill/>
          <a:ln/>
        </p:spPr>
        <p:txBody>
          <a:bodyPr wrap="square" lIns="0" tIns="0" rIns="0" bIns="0" rtlCol="0" anchor="ctr"/>
          <a:lstStyle/>
          <a:p>
            <a:pPr marL="0" indent="0" algn="ctr">
              <a:buNone/>
            </a:pPr>
            <a:r>
              <a:rPr lang="en-US" sz="2400" dirty="0">
                <a:solidFill>
                  <a:srgbClr val="BFD7EE"/>
                </a:solidFill>
                <a:latin typeface="Calibri" pitchFamily="34" charset="0"/>
                <a:ea typeface="Calibri" pitchFamily="34" charset="-122"/>
                <a:cs typeface="Calibri" pitchFamily="34" charset="-120"/>
              </a:rPr>
              <a:t>Questions?</a:t>
            </a:r>
            <a:endParaRPr lang="en-US" sz="2400" dirty="0"/>
          </a:p>
        </p:txBody>
      </p:sp>
      <p:pic>
        <p:nvPicPr>
          <p:cNvPr id="5" name="Image 0" descr="preencoded.png"/>
          <p:cNvPicPr>
            <a:picLocks noChangeAspect="1"/>
          </p:cNvPicPr>
          <p:nvPr/>
        </p:nvPicPr>
        <p:blipFill>
          <a:blip r:embed="rId3"/>
          <a:stretch>
            <a:fillRect/>
          </a:stretch>
        </p:blipFill>
        <p:spPr>
          <a:xfrm>
            <a:off x="1691640" y="3429000"/>
            <a:ext cx="640080" cy="640080"/>
          </a:xfrm>
          <a:prstGeom prst="rect">
            <a:avLst/>
          </a:prstGeom>
        </p:spPr>
      </p:pic>
      <p:pic>
        <p:nvPicPr>
          <p:cNvPr id="6" name="Image 1" descr="preencoded.png"/>
          <p:cNvPicPr>
            <a:picLocks noChangeAspect="1"/>
          </p:cNvPicPr>
          <p:nvPr/>
        </p:nvPicPr>
        <p:blipFill>
          <a:blip r:embed="rId3"/>
          <a:stretch>
            <a:fillRect/>
          </a:stretch>
        </p:blipFill>
        <p:spPr>
          <a:xfrm>
            <a:off x="9875520" y="3429000"/>
            <a:ext cx="640080" cy="640080"/>
          </a:xfrm>
          <a:prstGeom prst="rect">
            <a:avLst/>
          </a:prstGeom>
        </p:spPr>
      </p:pic>
      <p:sp>
        <p:nvSpPr>
          <p:cNvPr id="7" name="Text 3"/>
          <p:cNvSpPr txBox="1"/>
          <p:nvPr/>
        </p:nvSpPr>
        <p:spPr>
          <a:xfrm>
            <a:off x="2926080" y="5120640"/>
            <a:ext cx="1920240" cy="548640"/>
          </a:xfrm>
          <a:prstGeom prst="roundRect">
            <a:avLst>
              <a:gd name="adj" fmla="val 20000"/>
            </a:avLst>
          </a:prstGeom>
          <a:solidFill>
            <a:srgbClr val="22D3EE"/>
          </a:solidFill>
          <a:ln/>
        </p:spPr>
        <p:txBody>
          <a:bodyPr wrap="square" lIns="0" tIns="0" rIns="0" bIns="0" rtlCol="0" anchor="ctr"/>
          <a:lstStyle/>
          <a:p>
            <a:pPr marL="0" indent="0" algn="ctr">
              <a:buNone/>
            </a:pPr>
            <a:r>
              <a:rPr lang="en-US" sz="1800" b="1" dirty="0">
                <a:solidFill>
                  <a:srgbClr val="071428"/>
                </a:solidFill>
              </a:rPr>
              <a:t>eMBB</a:t>
            </a:r>
            <a:endParaRPr lang="en-US" sz="1800" dirty="0"/>
          </a:p>
        </p:txBody>
      </p:sp>
      <p:sp>
        <p:nvSpPr>
          <p:cNvPr id="8" name="Text 4"/>
          <p:cNvSpPr txBox="1"/>
          <p:nvPr/>
        </p:nvSpPr>
        <p:spPr>
          <a:xfrm>
            <a:off x="5074920" y="5120640"/>
            <a:ext cx="1920240" cy="548640"/>
          </a:xfrm>
          <a:prstGeom prst="roundRect">
            <a:avLst>
              <a:gd name="adj" fmla="val 20000"/>
            </a:avLst>
          </a:prstGeom>
          <a:solidFill>
            <a:srgbClr val="A78BFA"/>
          </a:solidFill>
          <a:ln/>
        </p:spPr>
        <p:txBody>
          <a:bodyPr wrap="square" lIns="0" tIns="0" rIns="0" bIns="0" rtlCol="0" anchor="ctr"/>
          <a:lstStyle/>
          <a:p>
            <a:pPr marL="0" indent="0" algn="ctr">
              <a:buNone/>
            </a:pPr>
            <a:r>
              <a:rPr lang="en-US" sz="1800" b="1" dirty="0">
                <a:solidFill>
                  <a:srgbClr val="071428"/>
                </a:solidFill>
              </a:rPr>
              <a:t>URLLC</a:t>
            </a:r>
            <a:endParaRPr lang="en-US" sz="1800" dirty="0"/>
          </a:p>
        </p:txBody>
      </p:sp>
      <p:sp>
        <p:nvSpPr>
          <p:cNvPr id="9" name="Text 5"/>
          <p:cNvSpPr txBox="1"/>
          <p:nvPr/>
        </p:nvSpPr>
        <p:spPr>
          <a:xfrm>
            <a:off x="7223760" y="5120640"/>
            <a:ext cx="1920240" cy="548640"/>
          </a:xfrm>
          <a:prstGeom prst="roundRect">
            <a:avLst>
              <a:gd name="adj" fmla="val 20000"/>
            </a:avLst>
          </a:prstGeom>
          <a:solidFill>
            <a:srgbClr val="34D399"/>
          </a:solidFill>
          <a:ln/>
        </p:spPr>
        <p:txBody>
          <a:bodyPr wrap="square" lIns="0" tIns="0" rIns="0" bIns="0" rtlCol="0" anchor="ctr"/>
          <a:lstStyle/>
          <a:p>
            <a:pPr marL="0" indent="0" algn="ctr">
              <a:buNone/>
            </a:pPr>
            <a:r>
              <a:rPr lang="en-US" sz="1800" b="1" dirty="0">
                <a:solidFill>
                  <a:srgbClr val="071428"/>
                </a:solidFill>
              </a:rPr>
              <a:t>mMTC</a:t>
            </a:r>
            <a:endParaRPr lang="en-US" sz="1800" dirty="0"/>
          </a:p>
        </p:txBody>
      </p:sp>
    </p:spTree>
  </p:cSld>
  <p:clrMapOvr>
    <a:masterClrMapping/>
  </p:clrMapOvr>
</p:sld>
</file>

<file path=ppt/theme/theme1.xml><?xml version="1.0" encoding="utf-8"?>
<a:theme xmlns:a="http://schemas.openxmlformats.org/drawingml/2006/main" name="Sanjivani Network Slicing">
  <a:themeElements>
    <a:clrScheme name="Sanjivani Network Slicing">
      <a:dk1>
        <a:srgbClr val="071428"/>
      </a:dk1>
      <a:lt1>
        <a:srgbClr val="FFFFFF"/>
      </a:lt1>
      <a:dk2>
        <a:srgbClr val="0E2748"/>
      </a:dk2>
      <a:lt2>
        <a:srgbClr val="BFD7EE"/>
      </a:lt2>
      <a:accent1>
        <a:srgbClr val="22D3EE"/>
      </a:accent1>
      <a:accent2>
        <a:srgbClr val="3B82F6"/>
      </a:accent2>
      <a:accent3>
        <a:srgbClr val="34D399"/>
      </a:accent3>
      <a:accent4>
        <a:srgbClr val="FBBF24"/>
      </a:accent4>
      <a:accent5>
        <a:srgbClr val="F87171"/>
      </a:accent5>
      <a:accent6>
        <a:srgbClr val="A78BFA"/>
      </a:accent6>
      <a:hlink>
        <a:srgbClr val="22D3EE"/>
      </a:hlink>
      <a:folHlink>
        <a:srgbClr val="A78BFA"/>
      </a:folHlink>
    </a:clrScheme>
    <a:fontScheme name="Sanjivani Network Slicing">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156</TotalTime>
  <Words>1066</Words>
  <Application>Microsoft Office PowerPoint</Application>
  <PresentationFormat>Widescreen</PresentationFormat>
  <Paragraphs>271</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Sanjivani Network Slicing</vt:lpstr>
      <vt:lpstr>PowerPoint Presentation</vt:lpstr>
      <vt:lpstr>What is Network Slicing?</vt:lpstr>
      <vt:lpstr>Why Do We Need Network Slicing?</vt:lpstr>
      <vt:lpstr>How Network Slicing Works</vt:lpstr>
      <vt:lpstr>Network Slicing Architecture</vt:lpstr>
      <vt:lpstr>Types of Network Slices in 5G</vt:lpstr>
      <vt:lpstr>What Each Slice Needs</vt:lpstr>
      <vt:lpstr>Network Slicing in 5G: End to End</vt:lpstr>
      <vt:lpstr>Network Slicing in 6G</vt:lpstr>
      <vt:lpstr>5G vs 6G Network Slicing</vt:lpstr>
      <vt:lpstr>Advantages of Network Slicing</vt:lpstr>
      <vt:lpstr>Challenges &amp; Security</vt:lpstr>
      <vt:lpstr>Real-World Applications</vt:lpstr>
      <vt:lpstr>Future Scope of Network Slicing</vt:lpstr>
      <vt:lpstr>Conclusion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Network Slicing in 5G and 6G</dc:title>
  <dc:subject>PptxGenJS Presentation</dc:subject>
  <dc:creator>Computer Engineering, Sanjivani College of Engineering</dc:creator>
  <cp:lastModifiedBy>Prathamesh Desai</cp:lastModifiedBy>
  <cp:revision>6</cp:revision>
  <dcterms:created xsi:type="dcterms:W3CDTF">2026-10-13T04:58:37Z</dcterms:created>
  <dcterms:modified xsi:type="dcterms:W3CDTF">2026-10-15T18:43:16Z</dcterms:modified>
</cp:coreProperties>
</file>